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75" r:id="rId3"/>
    <p:sldId id="274" r:id="rId4"/>
    <p:sldId id="257" r:id="rId5"/>
    <p:sldId id="281" r:id="rId6"/>
    <p:sldId id="277" r:id="rId7"/>
    <p:sldId id="285" r:id="rId8"/>
    <p:sldId id="276" r:id="rId9"/>
    <p:sldId id="282" r:id="rId10"/>
    <p:sldId id="283" r:id="rId11"/>
    <p:sldId id="284" r:id="rId12"/>
    <p:sldId id="258" r:id="rId13"/>
    <p:sldId id="279" r:id="rId14"/>
    <p:sldId id="280" r:id="rId15"/>
    <p:sldId id="286" r:id="rId16"/>
    <p:sldId id="272" r:id="rId17"/>
    <p:sldId id="270" r:id="rId18"/>
    <p:sldId id="273" r:id="rId19"/>
    <p:sldId id="271" r:id="rId20"/>
    <p:sldId id="278"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0000"/>
    <a:srgbClr val="FCB5B6"/>
    <a:srgbClr val="FEA5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655"/>
    <p:restoredTop sz="73957"/>
  </p:normalViewPr>
  <p:slideViewPr>
    <p:cSldViewPr snapToGrid="0">
      <p:cViewPr>
        <p:scale>
          <a:sx n="49" d="100"/>
          <a:sy n="49" d="100"/>
        </p:scale>
        <p:origin x="2904" y="1008"/>
      </p:cViewPr>
      <p:guideLst/>
    </p:cSldViewPr>
  </p:slideViewPr>
  <p:notesTextViewPr>
    <p:cViewPr>
      <p:scale>
        <a:sx n="110" d="100"/>
        <a:sy n="11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58968F-3300-7A4E-AFF4-ACB88C60EFE5}" type="datetimeFigureOut">
              <a:rPr kumimoji="1" lang="zh-CN" altLang="en-US" smtClean="0"/>
              <a:t>2026/5/6</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4A37DF-3F3B-E649-8A1A-F4B332B15B36}" type="slidenum">
              <a:rPr kumimoji="1" lang="zh-CN" altLang="en-US" smtClean="0"/>
              <a:t>‹#›</a:t>
            </a:fld>
            <a:endParaRPr kumimoji="1" lang="zh-CN" altLang="en-US"/>
          </a:p>
        </p:txBody>
      </p:sp>
    </p:spTree>
    <p:extLst>
      <p:ext uri="{BB962C8B-B14F-4D97-AF65-F5344CB8AC3E}">
        <p14:creationId xmlns:p14="http://schemas.microsoft.com/office/powerpoint/2010/main" val="20036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kern="100" dirty="0">
                <a:effectLst/>
                <a:latin typeface="Arial" panose="020B0604020202020204" pitchFamily="34" charset="0"/>
                <a:ea typeface="DengXian" panose="02010600030101010101" pitchFamily="2" charset="-122"/>
                <a:cs typeface="Times New Roman" panose="02020603050405020304" pitchFamily="18" charset="0"/>
              </a:rPr>
              <a:t>Hello, everyone! I’m Chao Jin </a:t>
            </a:r>
            <a:r>
              <a:rPr lang="en" altLang="zh-CN" sz="1200" b="0" i="0" u="none" strike="noStrike" kern="1200" dirty="0">
                <a:solidFill>
                  <a:schemeClr val="tx1"/>
                </a:solidFill>
                <a:effectLst/>
                <a:latin typeface="+mn-lt"/>
                <a:ea typeface="+mn-ea"/>
                <a:cs typeface="+mn-cs"/>
              </a:rPr>
              <a:t>from Peking University</a:t>
            </a:r>
            <a:r>
              <a:rPr lang="en-US" altLang="zh-CN" sz="1200" b="0" kern="100" dirty="0">
                <a:effectLst/>
                <a:latin typeface="Arial" panose="020B0604020202020204" pitchFamily="34" charset="0"/>
                <a:ea typeface="DengXian" panose="02010600030101010101" pitchFamily="2" charset="-122"/>
                <a:cs typeface="Times New Roman" panose="02020603050405020304" pitchFamily="18" charset="0"/>
              </a:rPr>
              <a:t>, Today I am going to talk about </a:t>
            </a:r>
            <a:r>
              <a:rPr lang="en-US" altLang="zh-CN" sz="1200" b="0" kern="100" dirty="0" err="1">
                <a:effectLst/>
                <a:latin typeface="Arial" panose="020B0604020202020204" pitchFamily="34" charset="0"/>
                <a:ea typeface="DengXian" panose="02010600030101010101" pitchFamily="2" charset="-122"/>
                <a:cs typeface="Times New Roman" panose="02020603050405020304" pitchFamily="18" charset="0"/>
              </a:rPr>
              <a:t>MegaScale-MoE</a:t>
            </a:r>
            <a:r>
              <a:rPr lang="en-US" altLang="zh-CN" sz="1200" b="0" kern="100" dirty="0">
                <a:effectLst/>
                <a:latin typeface="Arial" panose="020B0604020202020204" pitchFamily="34" charset="0"/>
                <a:ea typeface="DengXian" panose="02010600030101010101" pitchFamily="2" charset="-122"/>
                <a:cs typeface="Times New Roman" panose="02020603050405020304" pitchFamily="18" charset="0"/>
              </a:rPr>
              <a:t>— a large‑scale and </a:t>
            </a:r>
            <a:r>
              <a:rPr lang="en" altLang="zh-CN" sz="1200" b="0" i="0" u="none" strike="noStrike" kern="1200" dirty="0">
                <a:solidFill>
                  <a:schemeClr val="tx1"/>
                </a:solidFill>
                <a:effectLst/>
                <a:latin typeface="+mn-lt"/>
                <a:ea typeface="+mn-ea"/>
                <a:cs typeface="+mn-cs"/>
              </a:rPr>
              <a:t>communication-efficient training </a:t>
            </a:r>
            <a:r>
              <a:rPr lang="en-US" altLang="zh-CN" sz="1200" b="0" kern="100" dirty="0">
                <a:effectLst/>
                <a:latin typeface="Arial" panose="020B0604020202020204" pitchFamily="34" charset="0"/>
                <a:ea typeface="DengXian" panose="02010600030101010101" pitchFamily="2" charset="-122"/>
                <a:cs typeface="Times New Roman" panose="02020603050405020304" pitchFamily="18" charset="0"/>
              </a:rPr>
              <a:t>system for Mixture-of-Experts</a:t>
            </a:r>
            <a:r>
              <a:rPr lang="zh-CN" altLang="en-US" sz="1200" b="0" kern="100" dirty="0">
                <a:effectLst/>
                <a:latin typeface="Arial" panose="020B0604020202020204" pitchFamily="34" charset="0"/>
                <a:ea typeface="DengXian" panose="02010600030101010101" pitchFamily="2" charset="-122"/>
                <a:cs typeface="Times New Roman" panose="02020603050405020304" pitchFamily="18" charset="0"/>
              </a:rPr>
              <a:t> </a:t>
            </a:r>
            <a:r>
              <a:rPr lang="en-US" altLang="zh-CN" sz="1200" b="0" kern="100" dirty="0">
                <a:effectLst/>
                <a:latin typeface="Arial" panose="020B0604020202020204" pitchFamily="34" charset="0"/>
                <a:ea typeface="DengXian" panose="02010600030101010101" pitchFamily="2" charset="-122"/>
                <a:cs typeface="Times New Roman" panose="02020603050405020304" pitchFamily="18" charset="0"/>
              </a:rPr>
              <a:t>based large language models.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kern="100" dirty="0">
                <a:effectLst/>
                <a:latin typeface="Arial" panose="020B0604020202020204" pitchFamily="34" charset="0"/>
                <a:ea typeface="DengXian" panose="02010600030101010101" pitchFamily="2" charset="-122"/>
                <a:cs typeface="Times New Roman" panose="02020603050405020304" pitchFamily="18" charset="0"/>
              </a:rPr>
              <a:t>This project is a collaboration between ByteDance Seed and Peking University.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sz="1200" b="0" kern="100" dirty="0">
              <a:effectLst/>
              <a:latin typeface="Arial" panose="020B0604020202020204" pitchFamily="34" charset="0"/>
              <a:ea typeface="DengXian"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kern="100" dirty="0">
                <a:effectLst/>
                <a:latin typeface="Arial" panose="020B0604020202020204" pitchFamily="34" charset="0"/>
                <a:ea typeface="DengXian" panose="02010600030101010101" pitchFamily="2" charset="-122"/>
                <a:cs typeface="Times New Roman" panose="02020603050405020304" pitchFamily="18" charset="0"/>
              </a:rPr>
              <a:t>[00:20]</a:t>
            </a:r>
            <a:endParaRPr kumimoji="1" lang="zh-CN" altLang="en-US" b="0" dirty="0"/>
          </a:p>
        </p:txBody>
      </p:sp>
      <p:sp>
        <p:nvSpPr>
          <p:cNvPr id="4" name="灯片编号占位符 3"/>
          <p:cNvSpPr>
            <a:spLocks noGrp="1"/>
          </p:cNvSpPr>
          <p:nvPr>
            <p:ph type="sldNum" sz="quarter" idx="5"/>
          </p:nvPr>
        </p:nvSpPr>
        <p:spPr/>
        <p:txBody>
          <a:bodyPr/>
          <a:lstStyle/>
          <a:p>
            <a:fld id="{BF4A37DF-3F3B-E649-8A1A-F4B332B15B36}" type="slidenum">
              <a:rPr kumimoji="1" lang="zh-CN" altLang="en-US" smtClean="0"/>
              <a:t>1</a:t>
            </a:fld>
            <a:endParaRPr kumimoji="1" lang="zh-CN" altLang="en-US"/>
          </a:p>
        </p:txBody>
      </p:sp>
    </p:spTree>
    <p:extLst>
      <p:ext uri="{BB962C8B-B14F-4D97-AF65-F5344CB8AC3E}">
        <p14:creationId xmlns:p14="http://schemas.microsoft.com/office/powerpoint/2010/main" val="29561956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54321-3C91-5280-E8F1-CC6DFC97386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E4B1FDF-0BD9-8DE4-EBAD-5814996E178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5B9420E-E804-0964-0406-AFC80E7C18E7}"/>
              </a:ext>
            </a:extLst>
          </p:cNvPr>
          <p:cNvSpPr>
            <a:spLocks noGrp="1"/>
          </p:cNvSpPr>
          <p:nvPr>
            <p:ph type="body" idx="1"/>
          </p:nvPr>
        </p:nvSpPr>
        <p:spPr/>
        <p:txBody>
          <a:bodyPr/>
          <a:lstStyle/>
          <a:p>
            <a:r>
              <a:rPr lang="en" altLang="zh-CN" dirty="0"/>
              <a:t>Large language models have become a foundational</a:t>
            </a:r>
            <a:r>
              <a:rPr lang="zh-CN" altLang="en-US" dirty="0"/>
              <a:t> </a:t>
            </a:r>
            <a:r>
              <a:rPr lang="en" altLang="zh-CN" dirty="0"/>
              <a:t>technology in artificial intelligence. They have shown strong capabilities in a wide range of applications, such as conversational assistants, code generation, reasoning and agents with tool use. </a:t>
            </a:r>
          </a:p>
          <a:p>
            <a:r>
              <a:rPr lang="en" altLang="zh-CN" dirty="0"/>
              <a:t>At ByteDance, we train large language models to support AI products for billions of users. From a systems perspective, this means training models with hundreds of billions of parameters, over trillions of tokens, on thousands or even tens of thousands of GPUs. [click]</a:t>
            </a:r>
          </a:p>
          <a:p>
            <a:r>
              <a:rPr lang="en" altLang="zh-CN" dirty="0"/>
              <a:t>The reason behind this massive scale is simple: scaling remains one of the most effective ways to improve model capability. Driven by scaling laws, state-of-the-art models continue to grow larger.</a:t>
            </a:r>
          </a:p>
          <a:p>
            <a:endParaRPr lang="en" altLang="zh-CN" dirty="0"/>
          </a:p>
          <a:p>
            <a:r>
              <a:rPr lang="en" altLang="zh-CN" dirty="0"/>
              <a:t>[1:15]</a:t>
            </a:r>
          </a:p>
        </p:txBody>
      </p:sp>
      <p:sp>
        <p:nvSpPr>
          <p:cNvPr id="4" name="灯片编号占位符 3">
            <a:extLst>
              <a:ext uri="{FF2B5EF4-FFF2-40B4-BE49-F238E27FC236}">
                <a16:creationId xmlns:a16="http://schemas.microsoft.com/office/drawing/2014/main" id="{221063F3-7C9E-E1D8-7574-B055BF455CC9}"/>
              </a:ext>
            </a:extLst>
          </p:cNvPr>
          <p:cNvSpPr>
            <a:spLocks noGrp="1"/>
          </p:cNvSpPr>
          <p:nvPr>
            <p:ph type="sldNum" sz="quarter" idx="5"/>
          </p:nvPr>
        </p:nvSpPr>
        <p:spPr/>
        <p:txBody>
          <a:bodyPr/>
          <a:lstStyle/>
          <a:p>
            <a:fld id="{BF4A37DF-3F3B-E649-8A1A-F4B332B15B36}" type="slidenum">
              <a:rPr kumimoji="1" lang="zh-CN" altLang="en-US" smtClean="0"/>
              <a:t>2</a:t>
            </a:fld>
            <a:endParaRPr kumimoji="1" lang="zh-CN" altLang="en-US"/>
          </a:p>
        </p:txBody>
      </p:sp>
    </p:spTree>
    <p:extLst>
      <p:ext uri="{BB962C8B-B14F-4D97-AF65-F5344CB8AC3E}">
        <p14:creationId xmlns:p14="http://schemas.microsoft.com/office/powerpoint/2010/main" val="21367787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dirty="0"/>
              <a:t>However, scaling dense models is extremely expensive. If we simply increase the size of a dense model, the computation cost also grows almost proportionally.</a:t>
            </a:r>
            <a:r>
              <a:rPr lang="zh-CN" altLang="en-US" dirty="0"/>
              <a:t> </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dirty="0"/>
              <a:t>This motivates us to look for a more efficient way to scale model capacity. A promising</a:t>
            </a:r>
            <a:r>
              <a:rPr lang="zh-CN" altLang="en-US" dirty="0"/>
              <a:t> </a:t>
            </a:r>
            <a:r>
              <a:rPr lang="en-US" altLang="zh-CN" dirty="0"/>
              <a:t>and widely adopted</a:t>
            </a:r>
            <a:r>
              <a:rPr lang="en" altLang="zh-CN" dirty="0"/>
              <a:t> solution is Mixture-of-Experts, or </a:t>
            </a:r>
            <a:r>
              <a:rPr lang="en" altLang="zh-CN" dirty="0" err="1"/>
              <a:t>MoE</a:t>
            </a:r>
            <a:r>
              <a:rPr lang="en" altLang="zh-CN" dirty="0"/>
              <a:t>. [click] </a:t>
            </a: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dirty="0"/>
              <a:t>In an </a:t>
            </a:r>
            <a:r>
              <a:rPr lang="en" altLang="zh-CN" dirty="0" err="1"/>
              <a:t>MoE</a:t>
            </a:r>
            <a:r>
              <a:rPr lang="en" altLang="zh-CN" dirty="0"/>
              <a:t> model, each token is not processed by all feed-forward networks. Instead, a router dynamically sends each token to only a small subset of experts, named top-k experts. Because only a few experts are activated for each token, </a:t>
            </a:r>
            <a:r>
              <a:rPr lang="en" altLang="zh-CN" dirty="0" err="1"/>
              <a:t>MoE</a:t>
            </a:r>
            <a:r>
              <a:rPr lang="en" altLang="zh-CN" dirty="0"/>
              <a:t> allows the total number of model parameters to grow much faster than the actual computation per token. In other words, it enables sparse activation and more efficient scaling of model capacity.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dirty="0"/>
              <a:t>[2:15]</a:t>
            </a:r>
          </a:p>
        </p:txBody>
      </p:sp>
      <p:sp>
        <p:nvSpPr>
          <p:cNvPr id="4" name="灯片编号占位符 3"/>
          <p:cNvSpPr>
            <a:spLocks noGrp="1"/>
          </p:cNvSpPr>
          <p:nvPr>
            <p:ph type="sldNum" sz="quarter" idx="5"/>
          </p:nvPr>
        </p:nvSpPr>
        <p:spPr/>
        <p:txBody>
          <a:bodyPr/>
          <a:lstStyle/>
          <a:p>
            <a:fld id="{BF4A37DF-3F3B-E649-8A1A-F4B332B15B36}" type="slidenum">
              <a:rPr kumimoji="1" lang="zh-CN" altLang="en-US" smtClean="0"/>
              <a:t>3</a:t>
            </a:fld>
            <a:endParaRPr kumimoji="1" lang="zh-CN" altLang="en-US"/>
          </a:p>
        </p:txBody>
      </p:sp>
    </p:spTree>
    <p:extLst>
      <p:ext uri="{BB962C8B-B14F-4D97-AF65-F5344CB8AC3E}">
        <p14:creationId xmlns:p14="http://schemas.microsoft.com/office/powerpoint/2010/main" val="32073146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dirty="0" err="1"/>
              <a:t>MoE</a:t>
            </a:r>
            <a:r>
              <a:rPr lang="en" altLang="zh-CN" dirty="0"/>
              <a:t> makes model scaling more compute-efficient, but it also makes training much more communication-intensive. There are two main reasons. First, </a:t>
            </a:r>
            <a:r>
              <a:rPr lang="en" altLang="zh-CN" dirty="0" err="1"/>
              <a:t>MoE</a:t>
            </a:r>
            <a:r>
              <a:rPr lang="en" altLang="zh-CN" dirty="0"/>
              <a:t> training inherently introduces more communication.  [click]</a:t>
            </a:r>
          </a:p>
          <a:p>
            <a:r>
              <a:rPr lang="en" altLang="zh-CN" dirty="0"/>
              <a:t>Compared with dense models, </a:t>
            </a:r>
            <a:r>
              <a:rPr lang="en" altLang="zh-CN" dirty="0" err="1"/>
              <a:t>MoE</a:t>
            </a:r>
            <a:r>
              <a:rPr lang="en" altLang="zh-CN" dirty="0"/>
              <a:t> models usually have a much larger total parameter size, so training them often requires distributing the model across more GPUs. [click]</a:t>
            </a:r>
          </a:p>
          <a:p>
            <a:r>
              <a:rPr lang="en" altLang="zh-CN" dirty="0"/>
              <a:t>In each </a:t>
            </a:r>
            <a:r>
              <a:rPr lang="en" altLang="zh-CN" dirty="0" err="1"/>
              <a:t>MoE</a:t>
            </a:r>
            <a:r>
              <a:rPr lang="en" altLang="zh-CN" dirty="0"/>
              <a:t> layer, tokens need to be dispatched to the selected experts and then combined back after expert computation. This introduces extra all-to-all communication in both forward and backward passes.</a:t>
            </a:r>
          </a:p>
          <a:p>
            <a:endParaRPr lang="en" altLang="zh-CN" dirty="0"/>
          </a:p>
          <a:p>
            <a:r>
              <a:rPr lang="en" altLang="zh-CN" dirty="0"/>
              <a:t>[2:55]</a:t>
            </a:r>
          </a:p>
        </p:txBody>
      </p:sp>
      <p:sp>
        <p:nvSpPr>
          <p:cNvPr id="4" name="灯片编号占位符 3"/>
          <p:cNvSpPr>
            <a:spLocks noGrp="1"/>
          </p:cNvSpPr>
          <p:nvPr>
            <p:ph type="sldNum" sz="quarter" idx="5"/>
          </p:nvPr>
        </p:nvSpPr>
        <p:spPr/>
        <p:txBody>
          <a:bodyPr/>
          <a:lstStyle/>
          <a:p>
            <a:fld id="{BF4A37DF-3F3B-E649-8A1A-F4B332B15B36}" type="slidenum">
              <a:rPr kumimoji="1" lang="zh-CN" altLang="en-US" smtClean="0"/>
              <a:t>4</a:t>
            </a:fld>
            <a:endParaRPr kumimoji="1" lang="zh-CN" altLang="en-US"/>
          </a:p>
        </p:txBody>
      </p:sp>
    </p:spTree>
    <p:extLst>
      <p:ext uri="{BB962C8B-B14F-4D97-AF65-F5344CB8AC3E}">
        <p14:creationId xmlns:p14="http://schemas.microsoft.com/office/powerpoint/2010/main" val="1743524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38477-FD7B-4B33-9EE4-13F2275EAC7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4E074A8-AFF3-B906-B32A-C2535D77255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5D626FF-8844-9A7E-A07A-3DDC88D3560C}"/>
              </a:ext>
            </a:extLst>
          </p:cNvPr>
          <p:cNvSpPr>
            <a:spLocks noGrp="1"/>
          </p:cNvSpPr>
          <p:nvPr>
            <p:ph type="body" idx="1"/>
          </p:nvPr>
        </p:nvSpPr>
        <p:spPr/>
        <p:txBody>
          <a:bodyPr/>
          <a:lstStyle/>
          <a:p>
            <a:r>
              <a:rPr lang="en" altLang="zh-CN" dirty="0"/>
              <a:t>Second, hardware trends make the communication problem more important. GPU compute capability keeps improving rapidly, and lower-precision training such as FP8 further reduces computation time. However, communication bandwidth does not improve at the same rate. As a result, the relative cost of communication keeps increasing, and communication becomes the dominant bottleneck in large-scale </a:t>
            </a:r>
            <a:r>
              <a:rPr lang="en" altLang="zh-CN" dirty="0" err="1"/>
              <a:t>MoE</a:t>
            </a:r>
            <a:r>
              <a:rPr lang="en" altLang="zh-CN" dirty="0"/>
              <a:t> training. [click]</a:t>
            </a:r>
          </a:p>
          <a:p>
            <a:r>
              <a:rPr lang="en" altLang="zh-CN" b="0" dirty="0"/>
              <a:t>In our production training, this overhead is already significant: for one internal </a:t>
            </a:r>
            <a:r>
              <a:rPr lang="en" altLang="zh-CN" b="0" dirty="0" err="1"/>
              <a:t>MoE</a:t>
            </a:r>
            <a:r>
              <a:rPr lang="en" altLang="zh-CN" b="0" dirty="0"/>
              <a:t> model on NVIDIA Hopper GPUs, communication takes 43.6% of the forward pass time and 32% of the entire training time.</a:t>
            </a:r>
            <a:br>
              <a:rPr lang="en" altLang="zh-CN" dirty="0"/>
            </a:br>
            <a:br>
              <a:rPr lang="en" altLang="zh-CN" dirty="0"/>
            </a:br>
            <a:r>
              <a:rPr lang="en" altLang="zh-CN" dirty="0"/>
              <a:t>[3:50]</a:t>
            </a:r>
          </a:p>
        </p:txBody>
      </p:sp>
      <p:sp>
        <p:nvSpPr>
          <p:cNvPr id="4" name="灯片编号占位符 3">
            <a:extLst>
              <a:ext uri="{FF2B5EF4-FFF2-40B4-BE49-F238E27FC236}">
                <a16:creationId xmlns:a16="http://schemas.microsoft.com/office/drawing/2014/main" id="{D32AADCA-72BD-FE91-7ED4-F20E79A1BD37}"/>
              </a:ext>
            </a:extLst>
          </p:cNvPr>
          <p:cNvSpPr>
            <a:spLocks noGrp="1"/>
          </p:cNvSpPr>
          <p:nvPr>
            <p:ph type="sldNum" sz="quarter" idx="5"/>
          </p:nvPr>
        </p:nvSpPr>
        <p:spPr/>
        <p:txBody>
          <a:bodyPr/>
          <a:lstStyle/>
          <a:p>
            <a:fld id="{BF4A37DF-3F3B-E649-8A1A-F4B332B15B36}" type="slidenum">
              <a:rPr kumimoji="1" lang="zh-CN" altLang="en-US" smtClean="0"/>
              <a:t>5</a:t>
            </a:fld>
            <a:endParaRPr kumimoji="1" lang="zh-CN" altLang="en-US"/>
          </a:p>
        </p:txBody>
      </p:sp>
    </p:spTree>
    <p:extLst>
      <p:ext uri="{BB962C8B-B14F-4D97-AF65-F5344CB8AC3E}">
        <p14:creationId xmlns:p14="http://schemas.microsoft.com/office/powerpoint/2010/main" val="10480573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BDCBE-49F7-523F-6979-37B468F9122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3175030-07D8-66EA-F2EA-98A61CB7808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E1793C7-A163-1E64-4E61-AFF58D6F3AA5}"/>
              </a:ext>
            </a:extLst>
          </p:cNvPr>
          <p:cNvSpPr>
            <a:spLocks noGrp="1"/>
          </p:cNvSpPr>
          <p:nvPr>
            <p:ph type="body" idx="1"/>
          </p:nvPr>
        </p:nvSpPr>
        <p:spPr/>
        <p:txBody>
          <a:bodyPr/>
          <a:lstStyle/>
          <a:p>
            <a:r>
              <a:rPr lang="en" altLang="zh-CN" dirty="0"/>
              <a:t>To address the communication bottleneck, we build and deploy </a:t>
            </a:r>
            <a:r>
              <a:rPr lang="en" altLang="zh-CN" dirty="0" err="1"/>
              <a:t>MegaScale-MoE</a:t>
            </a:r>
            <a:r>
              <a:rPr lang="en" altLang="zh-CN" dirty="0"/>
              <a:t>, a production </a:t>
            </a:r>
            <a:r>
              <a:rPr lang="en" altLang="zh-CN" dirty="0" err="1"/>
              <a:t>MoE</a:t>
            </a:r>
            <a:r>
              <a:rPr lang="en" altLang="zh-CN" dirty="0"/>
              <a:t> training system that takes a holistic approach across the entire </a:t>
            </a:r>
            <a:r>
              <a:rPr lang="en" altLang="zh-CN" dirty="0" err="1"/>
              <a:t>MoE</a:t>
            </a:r>
            <a:r>
              <a:rPr lang="en" altLang="zh-CN" dirty="0"/>
              <a:t> layer. </a:t>
            </a:r>
          </a:p>
          <a:p>
            <a:r>
              <a:rPr lang="en" altLang="zh-CN" dirty="0"/>
              <a:t>The first idea is to </a:t>
            </a:r>
            <a:r>
              <a:rPr lang="en" altLang="zh-CN" b="1" dirty="0"/>
              <a:t>reduce</a:t>
            </a:r>
            <a:r>
              <a:rPr lang="en" altLang="zh-CN" dirty="0"/>
              <a:t> communication. We customize the parallelism strategy for each component: sequence parallelism for attention, and expert parallelism for feed-forward networks, while keeping each </a:t>
            </a:r>
            <a:r>
              <a:rPr lang="en" altLang="zh-CN" dirty="0" err="1"/>
              <a:t>MoE</a:t>
            </a:r>
            <a:r>
              <a:rPr lang="en" altLang="zh-CN" dirty="0"/>
              <a:t> layer within a single node to leverage high-bandwidth </a:t>
            </a:r>
            <a:r>
              <a:rPr lang="en" altLang="zh-CN" dirty="0" err="1"/>
              <a:t>NVLink</a:t>
            </a:r>
            <a:r>
              <a:rPr lang="en" altLang="zh-CN" dirty="0"/>
              <a:t>.</a:t>
            </a:r>
          </a:p>
          <a:p>
            <a:r>
              <a:rPr lang="en" altLang="zh-CN" dirty="0"/>
              <a:t>The second idea is to </a:t>
            </a:r>
            <a:r>
              <a:rPr lang="en" altLang="zh-CN" b="1" dirty="0"/>
              <a:t>hide</a:t>
            </a:r>
            <a:r>
              <a:rPr lang="en" altLang="zh-CN" dirty="0"/>
              <a:t> communication. We overlap communication with computation at two levels. Inter-operator overlap hides communication behind independent operators, while intra-operator overlap fuses communication with computation at tile granularity for communication on the critical path.</a:t>
            </a:r>
          </a:p>
          <a:p>
            <a:r>
              <a:rPr lang="en" altLang="zh-CN" dirty="0"/>
              <a:t>The third idea is to </a:t>
            </a:r>
            <a:r>
              <a:rPr lang="en" altLang="zh-CN" b="1" dirty="0"/>
              <a:t>compress</a:t>
            </a:r>
            <a:r>
              <a:rPr lang="en" altLang="zh-CN" dirty="0"/>
              <a:t> communication. We reduce communication precision, such as using BF16 communication for data parallel reduce-scatter, while carefully preserving numerical stability.</a:t>
            </a:r>
          </a:p>
          <a:p>
            <a:endParaRPr lang="en" altLang="zh-CN" dirty="0"/>
          </a:p>
          <a:p>
            <a:r>
              <a:rPr lang="en" altLang="zh-CN" dirty="0"/>
              <a:t>[5:10]</a:t>
            </a:r>
          </a:p>
          <a:p>
            <a:endParaRPr kumimoji="1" lang="zh-CN" altLang="en-US" dirty="0"/>
          </a:p>
        </p:txBody>
      </p:sp>
      <p:sp>
        <p:nvSpPr>
          <p:cNvPr id="4" name="灯片编号占位符 3">
            <a:extLst>
              <a:ext uri="{FF2B5EF4-FFF2-40B4-BE49-F238E27FC236}">
                <a16:creationId xmlns:a16="http://schemas.microsoft.com/office/drawing/2014/main" id="{FF1108F7-8F99-8F66-92FA-A00341B3B63B}"/>
              </a:ext>
            </a:extLst>
          </p:cNvPr>
          <p:cNvSpPr>
            <a:spLocks noGrp="1"/>
          </p:cNvSpPr>
          <p:nvPr>
            <p:ph type="sldNum" sz="quarter" idx="5"/>
          </p:nvPr>
        </p:nvSpPr>
        <p:spPr/>
        <p:txBody>
          <a:bodyPr/>
          <a:lstStyle/>
          <a:p>
            <a:fld id="{BF4A37DF-3F3B-E649-8A1A-F4B332B15B36}" type="slidenum">
              <a:rPr kumimoji="1" lang="zh-CN" altLang="en-US" smtClean="0"/>
              <a:t>6</a:t>
            </a:fld>
            <a:endParaRPr kumimoji="1" lang="zh-CN" altLang="en-US"/>
          </a:p>
        </p:txBody>
      </p:sp>
    </p:spTree>
    <p:extLst>
      <p:ext uri="{BB962C8B-B14F-4D97-AF65-F5344CB8AC3E}">
        <p14:creationId xmlns:p14="http://schemas.microsoft.com/office/powerpoint/2010/main" val="16704023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62398-8E0C-A61D-B6DF-1D77F1ED44B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B006FBD-2199-DF8E-9FD2-E4C0A47BA4A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9E95488-C0C3-96A0-7640-1FBCA8FDBD44}"/>
              </a:ext>
            </a:extLst>
          </p:cNvPr>
          <p:cNvSpPr>
            <a:spLocks noGrp="1"/>
          </p:cNvSpPr>
          <p:nvPr>
            <p:ph type="body" idx="1"/>
          </p:nvPr>
        </p:nvSpPr>
        <p:spPr/>
        <p:txBody>
          <a:bodyPr/>
          <a:lstStyle/>
          <a:p>
            <a:r>
              <a:rPr lang="en" altLang="zh-CN" dirty="0"/>
              <a:t>The first idea is communication-efficient parallelism. </a:t>
            </a:r>
          </a:p>
          <a:p>
            <a:endParaRPr lang="en" altLang="zh-CN" dirty="0"/>
          </a:p>
          <a:p>
            <a:r>
              <a:rPr lang="en" altLang="zh-CN" dirty="0"/>
              <a:t>[5:10]</a:t>
            </a:r>
          </a:p>
          <a:p>
            <a:endParaRPr kumimoji="1" lang="zh-CN" altLang="en-US" dirty="0"/>
          </a:p>
        </p:txBody>
      </p:sp>
      <p:sp>
        <p:nvSpPr>
          <p:cNvPr id="4" name="灯片编号占位符 3">
            <a:extLst>
              <a:ext uri="{FF2B5EF4-FFF2-40B4-BE49-F238E27FC236}">
                <a16:creationId xmlns:a16="http://schemas.microsoft.com/office/drawing/2014/main" id="{C6484CE3-E98A-0BF6-AF26-AF105DBB0393}"/>
              </a:ext>
            </a:extLst>
          </p:cNvPr>
          <p:cNvSpPr>
            <a:spLocks noGrp="1"/>
          </p:cNvSpPr>
          <p:nvPr>
            <p:ph type="sldNum" sz="quarter" idx="5"/>
          </p:nvPr>
        </p:nvSpPr>
        <p:spPr/>
        <p:txBody>
          <a:bodyPr/>
          <a:lstStyle/>
          <a:p>
            <a:fld id="{BF4A37DF-3F3B-E649-8A1A-F4B332B15B36}" type="slidenum">
              <a:rPr kumimoji="1" lang="zh-CN" altLang="en-US" smtClean="0"/>
              <a:t>7</a:t>
            </a:fld>
            <a:endParaRPr kumimoji="1" lang="zh-CN" altLang="en-US"/>
          </a:p>
        </p:txBody>
      </p:sp>
    </p:spTree>
    <p:extLst>
      <p:ext uri="{BB962C8B-B14F-4D97-AF65-F5344CB8AC3E}">
        <p14:creationId xmlns:p14="http://schemas.microsoft.com/office/powerpoint/2010/main" val="8073324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8BEAA-2E3C-B5F1-A4DE-97F7D296132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18C1323-1ECB-F242-807E-652C147F158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2E310AC-97E1-4495-6E0A-B0A314D5A75A}"/>
              </a:ext>
            </a:extLst>
          </p:cNvPr>
          <p:cNvSpPr>
            <a:spLocks noGrp="1"/>
          </p:cNvSpPr>
          <p:nvPr>
            <p:ph type="body" idx="1"/>
          </p:nvPr>
        </p:nvSpPr>
        <p:spPr/>
        <p:txBody>
          <a:bodyPr/>
          <a:lstStyle/>
          <a:p>
            <a:r>
              <a:rPr lang="en" altLang="zh-CN" dirty="0"/>
              <a:t>Our key observation is that the major architectural difference between </a:t>
            </a:r>
            <a:r>
              <a:rPr lang="en" altLang="zh-CN" dirty="0" err="1"/>
              <a:t>MoE</a:t>
            </a:r>
            <a:r>
              <a:rPr lang="en" altLang="zh-CN" dirty="0"/>
              <a:t> and dense models happens inside each </a:t>
            </a:r>
            <a:r>
              <a:rPr lang="en" altLang="zh-CN" dirty="0" err="1"/>
              <a:t>MoE</a:t>
            </a:r>
            <a:r>
              <a:rPr lang="en" altLang="zh-CN" dirty="0"/>
              <a:t> layer, and this is also where most communication overhead comes from. Therefore, </a:t>
            </a:r>
            <a:r>
              <a:rPr lang="en" altLang="zh-CN" dirty="0" err="1"/>
              <a:t>MegaScale-MoE</a:t>
            </a:r>
            <a:r>
              <a:rPr lang="en" altLang="zh-CN" dirty="0"/>
              <a:t> confines each </a:t>
            </a:r>
            <a:r>
              <a:rPr lang="en" altLang="zh-CN" dirty="0" err="1"/>
              <a:t>MoE</a:t>
            </a:r>
            <a:r>
              <a:rPr lang="en" altLang="zh-CN" dirty="0"/>
              <a:t> layer within a single node, so that token routing and model parallel communication can use high-bandwidth </a:t>
            </a:r>
            <a:r>
              <a:rPr lang="en" altLang="zh-CN" dirty="0" err="1"/>
              <a:t>NVLink</a:t>
            </a:r>
            <a:r>
              <a:rPr lang="en" altLang="zh-CN" dirty="0"/>
              <a:t>.</a:t>
            </a:r>
          </a:p>
          <a:p>
            <a:r>
              <a:rPr lang="en" altLang="zh-CN" dirty="0"/>
              <a:t>Across nodes, we use pipeline parallelism to scale the model size, instead of using cross-node tensor or expert parallelism, which would introduce expensive per-layer communication.</a:t>
            </a:r>
          </a:p>
          <a:p>
            <a:r>
              <a:rPr lang="en" altLang="zh-CN" dirty="0"/>
              <a:t>Within each node, we customize the parallelism strategy for different components: sequence parallelism for attention, and expert parallelism for FFNs.</a:t>
            </a:r>
          </a:p>
          <a:p>
            <a:endParaRPr kumimoji="1" lang="en-US" altLang="zh-CN" dirty="0"/>
          </a:p>
          <a:p>
            <a:r>
              <a:rPr kumimoji="1" lang="en-US" altLang="zh-CN" dirty="0"/>
              <a:t>[6:05]</a:t>
            </a:r>
            <a:endParaRPr kumimoji="1" lang="zh-CN" altLang="en-US" dirty="0"/>
          </a:p>
        </p:txBody>
      </p:sp>
      <p:sp>
        <p:nvSpPr>
          <p:cNvPr id="4" name="灯片编号占位符 3">
            <a:extLst>
              <a:ext uri="{FF2B5EF4-FFF2-40B4-BE49-F238E27FC236}">
                <a16:creationId xmlns:a16="http://schemas.microsoft.com/office/drawing/2014/main" id="{7B94C83F-C436-9A0C-DB86-E5A4606BCDC7}"/>
              </a:ext>
            </a:extLst>
          </p:cNvPr>
          <p:cNvSpPr>
            <a:spLocks noGrp="1"/>
          </p:cNvSpPr>
          <p:nvPr>
            <p:ph type="sldNum" sz="quarter" idx="5"/>
          </p:nvPr>
        </p:nvSpPr>
        <p:spPr/>
        <p:txBody>
          <a:bodyPr/>
          <a:lstStyle/>
          <a:p>
            <a:fld id="{BF4A37DF-3F3B-E649-8A1A-F4B332B15B36}" type="slidenum">
              <a:rPr kumimoji="1" lang="zh-CN" altLang="en-US" smtClean="0"/>
              <a:t>8</a:t>
            </a:fld>
            <a:endParaRPr kumimoji="1" lang="zh-CN" altLang="en-US"/>
          </a:p>
        </p:txBody>
      </p:sp>
    </p:spTree>
    <p:extLst>
      <p:ext uri="{BB962C8B-B14F-4D97-AF65-F5344CB8AC3E}">
        <p14:creationId xmlns:p14="http://schemas.microsoft.com/office/powerpoint/2010/main" val="757119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E3B9F-F8F7-1AA0-0C83-E3D2B3535CE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455D180-1132-5EBE-F0D3-80F7921E3D7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9977C20-B051-2CE3-4B50-7C32E1521185}"/>
              </a:ext>
            </a:extLst>
          </p:cNvPr>
          <p:cNvSpPr>
            <a:spLocks noGrp="1"/>
          </p:cNvSpPr>
          <p:nvPr>
            <p:ph type="body" idx="1"/>
          </p:nvPr>
        </p:nvSpPr>
        <p:spPr/>
        <p:txBody>
          <a:bodyPr/>
          <a:lstStyle/>
          <a:p>
            <a:r>
              <a:rPr lang="en" altLang="zh-CN" dirty="0"/>
              <a:t>Let’s first look at the attention module. A common approach is tensor parallelism, which partitions all attention operators along the hidden dimension. However, TP introduces all-gather and reduce-scatter communication for the entire hidden state on the critical path.</a:t>
            </a:r>
            <a:r>
              <a:rPr kumimoji="1" lang="en-US" altLang="zh-CN" dirty="0"/>
              <a:t> </a:t>
            </a:r>
            <a:br>
              <a:rPr kumimoji="1" lang="en-US" altLang="zh-CN" dirty="0"/>
            </a:br>
            <a:r>
              <a:rPr lang="en" altLang="zh-CN" dirty="0" err="1"/>
              <a:t>MegaScale-MoE</a:t>
            </a:r>
            <a:r>
              <a:rPr lang="en" altLang="zh-CN" dirty="0"/>
              <a:t> instead adopts sequence parallelism for attention. [click] The reason is closely related to grouped-query attention, or GQA, which is widely used in recent LLMs to reduce the number of key-value heads and improve attention efficiency. With GQA, the size of key and value tensors is much smaller than the query tensor. [click] Sequence parallelism takes advantage of this property: instead of communicating the whole hidden state, it mainly exchanges the query, key, and value tensors needed by attention.</a:t>
            </a:r>
          </a:p>
          <a:p>
            <a:r>
              <a:rPr lang="en" altLang="zh-CN" dirty="0"/>
              <a:t>As a result, compared with tensor parallelism, the communication volume is reduced by about three times in practice.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dirty="0"/>
              <a:t>[7:15]</a:t>
            </a:r>
          </a:p>
        </p:txBody>
      </p:sp>
      <p:sp>
        <p:nvSpPr>
          <p:cNvPr id="4" name="灯片编号占位符 3">
            <a:extLst>
              <a:ext uri="{FF2B5EF4-FFF2-40B4-BE49-F238E27FC236}">
                <a16:creationId xmlns:a16="http://schemas.microsoft.com/office/drawing/2014/main" id="{9BC88C4C-D80D-310A-C87C-950687F4E065}"/>
              </a:ext>
            </a:extLst>
          </p:cNvPr>
          <p:cNvSpPr>
            <a:spLocks noGrp="1"/>
          </p:cNvSpPr>
          <p:nvPr>
            <p:ph type="sldNum" sz="quarter" idx="5"/>
          </p:nvPr>
        </p:nvSpPr>
        <p:spPr/>
        <p:txBody>
          <a:bodyPr/>
          <a:lstStyle/>
          <a:p>
            <a:fld id="{BF4A37DF-3F3B-E649-8A1A-F4B332B15B36}" type="slidenum">
              <a:rPr kumimoji="1" lang="zh-CN" altLang="en-US" smtClean="0"/>
              <a:t>9</a:t>
            </a:fld>
            <a:endParaRPr kumimoji="1" lang="zh-CN" altLang="en-US"/>
          </a:p>
        </p:txBody>
      </p:sp>
    </p:spTree>
    <p:extLst>
      <p:ext uri="{BB962C8B-B14F-4D97-AF65-F5344CB8AC3E}">
        <p14:creationId xmlns:p14="http://schemas.microsoft.com/office/powerpoint/2010/main" val="15547028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D9861-4D08-9F4E-BC03-D1E974EFA2E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6D6C83A-5FEA-3B1F-DC48-2A7C0F66C50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EAF3714-48EC-FC9B-D335-E933FB8D010E}"/>
              </a:ext>
            </a:extLst>
          </p:cNvPr>
          <p:cNvSpPr>
            <a:spLocks noGrp="1"/>
          </p:cNvSpPr>
          <p:nvPr>
            <p:ph type="body" idx="1"/>
          </p:nvPr>
        </p:nvSpPr>
        <p:spPr/>
        <p:txBody>
          <a:bodyPr/>
          <a:lstStyle/>
          <a:p>
            <a:r>
              <a:rPr lang="en" altLang="zh-CN" dirty="0"/>
              <a:t>For the FFNs, we use expert parallelism instead of tensor parallelism.</a:t>
            </a:r>
            <a:r>
              <a:rPr lang="zh-CN" altLang="en-US" dirty="0"/>
              <a:t> </a:t>
            </a:r>
            <a:r>
              <a:rPr lang="en" altLang="zh-CN" dirty="0"/>
              <a:t>Tensor parallelism partitions each expert along the hidden dimension, which reduces GEMM efficiency because each GPU only computes a smaller shard of the expert.</a:t>
            </a:r>
          </a:p>
          <a:p>
            <a:r>
              <a:rPr lang="en" altLang="zh-CN" dirty="0"/>
              <a:t>Expert parallelism is more natural for </a:t>
            </a:r>
            <a:r>
              <a:rPr lang="en" altLang="zh-CN" dirty="0" err="1"/>
              <a:t>MoE</a:t>
            </a:r>
            <a:r>
              <a:rPr lang="en" altLang="zh-CN" dirty="0"/>
              <a:t>: each GPU hosts a subset of experts, and each expert remains a full GEMM.</a:t>
            </a:r>
          </a:p>
          <a:p>
            <a:r>
              <a:rPr lang="en" altLang="zh-CN" dirty="0"/>
              <a:t>The challenge is token dispatch and combine. </a:t>
            </a:r>
            <a:r>
              <a:rPr lang="en-US" altLang="zh-CN" dirty="0"/>
              <a:t>[click] </a:t>
            </a:r>
            <a:r>
              <a:rPr lang="en" altLang="zh-CN" dirty="0"/>
              <a:t>A typical implementation uses all-to-all communication, whose volume grows with the top-k value. [click]</a:t>
            </a:r>
          </a:p>
          <a:p>
            <a:r>
              <a:rPr lang="en" altLang="zh-CN" dirty="0" err="1"/>
              <a:t>MegaScale-MoE</a:t>
            </a:r>
            <a:r>
              <a:rPr lang="en" altLang="zh-CN" dirty="0"/>
              <a:t> therefore uses an adaptive communication pattern. For small top-k, we use all-to-all. [click] When top-k becomes large, we replace it with all-gather and reduce-scatter, together with efficient local operators.</a:t>
            </a:r>
          </a:p>
          <a:p>
            <a:r>
              <a:rPr lang="en" altLang="zh-CN" dirty="0"/>
              <a:t>In this way, we preserve high GEMM efficiency while keeping expert communication efficient.</a:t>
            </a:r>
          </a:p>
          <a:p>
            <a:endParaRPr lang="en" altLang="zh-CN" dirty="0"/>
          </a:p>
          <a:p>
            <a:r>
              <a:rPr lang="en" altLang="zh-CN" dirty="0"/>
              <a:t>[8:25]</a:t>
            </a:r>
          </a:p>
        </p:txBody>
      </p:sp>
      <p:sp>
        <p:nvSpPr>
          <p:cNvPr id="4" name="灯片编号占位符 3">
            <a:extLst>
              <a:ext uri="{FF2B5EF4-FFF2-40B4-BE49-F238E27FC236}">
                <a16:creationId xmlns:a16="http://schemas.microsoft.com/office/drawing/2014/main" id="{48AB5946-5DFB-CFD4-AD5C-0C893C8913A7}"/>
              </a:ext>
            </a:extLst>
          </p:cNvPr>
          <p:cNvSpPr>
            <a:spLocks noGrp="1"/>
          </p:cNvSpPr>
          <p:nvPr>
            <p:ph type="sldNum" sz="quarter" idx="5"/>
          </p:nvPr>
        </p:nvSpPr>
        <p:spPr/>
        <p:txBody>
          <a:bodyPr/>
          <a:lstStyle/>
          <a:p>
            <a:fld id="{BF4A37DF-3F3B-E649-8A1A-F4B332B15B36}" type="slidenum">
              <a:rPr kumimoji="1" lang="zh-CN" altLang="en-US" smtClean="0"/>
              <a:t>10</a:t>
            </a:fld>
            <a:endParaRPr kumimoji="1" lang="zh-CN" altLang="en-US"/>
          </a:p>
        </p:txBody>
      </p:sp>
    </p:spTree>
    <p:extLst>
      <p:ext uri="{BB962C8B-B14F-4D97-AF65-F5344CB8AC3E}">
        <p14:creationId xmlns:p14="http://schemas.microsoft.com/office/powerpoint/2010/main" val="26690454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043B8-765A-A0D7-6003-4B3DD892538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AC93DBC-1A82-FAC8-3089-1136B7C6E4B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E96D1C2-85C6-BF45-4887-8753EAB64A6B}"/>
              </a:ext>
            </a:extLst>
          </p:cNvPr>
          <p:cNvSpPr>
            <a:spLocks noGrp="1"/>
          </p:cNvSpPr>
          <p:nvPr>
            <p:ph type="body" idx="1"/>
          </p:nvPr>
        </p:nvSpPr>
        <p:spPr/>
        <p:txBody>
          <a:bodyPr/>
          <a:lstStyle/>
          <a:p>
            <a:r>
              <a:rPr lang="en" altLang="zh-CN" dirty="0"/>
              <a:t>After reducing communication volume, </a:t>
            </a:r>
            <a:r>
              <a:rPr lang="en" altLang="zh-CN" dirty="0" err="1"/>
              <a:t>MegaScale-MoE</a:t>
            </a:r>
            <a:r>
              <a:rPr lang="en" altLang="zh-CN" dirty="0"/>
              <a:t> hides the remaining communication latency at two levels: inter-operator and intra-operator.</a:t>
            </a:r>
          </a:p>
          <a:p>
            <a:endParaRPr lang="en" altLang="zh-CN" dirty="0"/>
          </a:p>
          <a:p>
            <a:r>
              <a:rPr lang="en" altLang="zh-CN" dirty="0"/>
              <a:t>[8:30]</a:t>
            </a:r>
          </a:p>
          <a:p>
            <a:endParaRPr kumimoji="1" lang="zh-CN" altLang="en-US" dirty="0"/>
          </a:p>
        </p:txBody>
      </p:sp>
      <p:sp>
        <p:nvSpPr>
          <p:cNvPr id="4" name="灯片编号占位符 3">
            <a:extLst>
              <a:ext uri="{FF2B5EF4-FFF2-40B4-BE49-F238E27FC236}">
                <a16:creationId xmlns:a16="http://schemas.microsoft.com/office/drawing/2014/main" id="{260FD124-5A32-6185-174B-E0919A86CF85}"/>
              </a:ext>
            </a:extLst>
          </p:cNvPr>
          <p:cNvSpPr>
            <a:spLocks noGrp="1"/>
          </p:cNvSpPr>
          <p:nvPr>
            <p:ph type="sldNum" sz="quarter" idx="5"/>
          </p:nvPr>
        </p:nvSpPr>
        <p:spPr/>
        <p:txBody>
          <a:bodyPr/>
          <a:lstStyle/>
          <a:p>
            <a:fld id="{BF4A37DF-3F3B-E649-8A1A-F4B332B15B36}" type="slidenum">
              <a:rPr kumimoji="1" lang="zh-CN" altLang="en-US" smtClean="0"/>
              <a:t>11</a:t>
            </a:fld>
            <a:endParaRPr kumimoji="1" lang="zh-CN" altLang="en-US"/>
          </a:p>
        </p:txBody>
      </p:sp>
    </p:spTree>
    <p:extLst>
      <p:ext uri="{BB962C8B-B14F-4D97-AF65-F5344CB8AC3E}">
        <p14:creationId xmlns:p14="http://schemas.microsoft.com/office/powerpoint/2010/main" val="32485419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dirty="0">
                <a:latin typeface="Calibri" panose="020F0502020204030204" pitchFamily="34" charset="0"/>
                <a:cs typeface="Calibri" panose="020F0502020204030204" pitchFamily="34" charset="0"/>
              </a:rPr>
              <a:t>We decompose the attention and FFN modules in each </a:t>
            </a:r>
            <a:r>
              <a:rPr lang="en" altLang="zh-CN" dirty="0" err="1">
                <a:latin typeface="Calibri" panose="020F0502020204030204" pitchFamily="34" charset="0"/>
                <a:cs typeface="Calibri" panose="020F0502020204030204" pitchFamily="34" charset="0"/>
              </a:rPr>
              <a:t>MoE</a:t>
            </a:r>
            <a:r>
              <a:rPr lang="en" altLang="zh-CN" dirty="0">
                <a:latin typeface="Calibri" panose="020F0502020204030204" pitchFamily="34" charset="0"/>
                <a:cs typeface="Calibri" panose="020F0502020204030204" pitchFamily="34" charset="0"/>
              </a:rPr>
              <a:t> layer into a sequence of operators for fine-grained communication-computation overlap. Here, an operator refers to a computation or communication unit that eventually runs as one or more GPU kernels, such as </a:t>
            </a:r>
            <a:r>
              <a:rPr lang="en" altLang="zh-CN" dirty="0" err="1">
                <a:latin typeface="Calibri" panose="020F0502020204030204" pitchFamily="34" charset="0"/>
                <a:cs typeface="Calibri" panose="020F0502020204030204" pitchFamily="34" charset="0"/>
              </a:rPr>
              <a:t>GroupedGEMM</a:t>
            </a:r>
            <a:r>
              <a:rPr lang="en" altLang="zh-CN" dirty="0">
                <a:latin typeface="Calibri" panose="020F0502020204030204" pitchFamily="34" charset="0"/>
                <a:cs typeface="Calibri" panose="020F0502020204030204" pitchFamily="34" charset="0"/>
              </a:rPr>
              <a:t>, all-to-all, all-gather, scatter, or reduce-scatter.</a:t>
            </a:r>
            <a:r>
              <a:rPr lang="zh-CN" altLang="en-US" dirty="0">
                <a:latin typeface="Calibri" panose="020F0502020204030204" pitchFamily="34" charset="0"/>
                <a:cs typeface="Calibri" panose="020F0502020204030204" pitchFamily="34" charset="0"/>
              </a:rPr>
              <a:t> </a:t>
            </a:r>
            <a:r>
              <a:rPr lang="en" altLang="zh-CN" dirty="0">
                <a:latin typeface="Calibri" panose="020F0502020204030204" pitchFamily="34" charset="0"/>
                <a:cs typeface="Calibri" panose="020F0502020204030204" pitchFamily="34" charset="0"/>
              </a:rPr>
              <a:t>With this decomposition, we can overlap communication with computation at two levels.</a:t>
            </a:r>
            <a:r>
              <a:rPr lang="zh-CN" altLang="en-US" dirty="0">
                <a:latin typeface="Calibri" panose="020F0502020204030204" pitchFamily="34" charset="0"/>
                <a:cs typeface="Calibri" panose="020F0502020204030204" pitchFamily="34" charset="0"/>
              </a:rPr>
              <a:t> </a:t>
            </a:r>
            <a:endParaRPr lang="en" altLang="zh-CN" dirty="0">
              <a:latin typeface="Calibri" panose="020F0502020204030204" pitchFamily="34" charset="0"/>
              <a:cs typeface="Calibri" panose="020F0502020204030204" pitchFamily="34" charset="0"/>
            </a:endParaRPr>
          </a:p>
          <a:p>
            <a:r>
              <a:rPr lang="en" altLang="zh-CN" dirty="0">
                <a:latin typeface="Calibri" panose="020F0502020204030204" pitchFamily="34" charset="0"/>
                <a:cs typeface="Calibri" panose="020F0502020204030204" pitchFamily="34" charset="0"/>
              </a:rPr>
              <a:t>The first is </a:t>
            </a:r>
            <a:r>
              <a:rPr lang="en" altLang="zh-CN" b="1" dirty="0">
                <a:latin typeface="Calibri" panose="020F0502020204030204" pitchFamily="34" charset="0"/>
                <a:cs typeface="Calibri" panose="020F0502020204030204" pitchFamily="34" charset="0"/>
              </a:rPr>
              <a:t>inter-operator overlap</a:t>
            </a:r>
            <a:r>
              <a:rPr lang="en" altLang="zh-CN" dirty="0">
                <a:latin typeface="Calibri" panose="020F0502020204030204" pitchFamily="34" charset="0"/>
                <a:cs typeface="Calibri" panose="020F0502020204030204" pitchFamily="34" charset="0"/>
              </a:rPr>
              <a:t>. </a:t>
            </a:r>
            <a:r>
              <a:rPr lang="en-US" altLang="zh-CN" dirty="0">
                <a:latin typeface="Calibri" panose="020F0502020204030204" pitchFamily="34" charset="0"/>
                <a:cs typeface="Calibri" panose="020F0502020204030204" pitchFamily="34" charset="0"/>
              </a:rPr>
              <a:t>[click] If </a:t>
            </a:r>
            <a:r>
              <a:rPr lang="en" altLang="zh-CN" dirty="0">
                <a:latin typeface="Calibri" panose="020F0502020204030204" pitchFamily="34" charset="0"/>
                <a:cs typeface="Calibri" panose="020F0502020204030204" pitchFamily="34" charset="0"/>
              </a:rPr>
              <a:t>communication and computation do not have direct data dependencies, we can reorder them and execute them asynchronously on different CUDA streams, such as the all-to-all communication operator for the query tensor and the projection and </a:t>
            </a:r>
            <a:r>
              <a:rPr lang="en" altLang="zh-CN" dirty="0" err="1">
                <a:latin typeface="Calibri" panose="020F0502020204030204" pitchFamily="34" charset="0"/>
                <a:cs typeface="Calibri" panose="020F0502020204030204" pitchFamily="34" charset="0"/>
              </a:rPr>
              <a:t>RoPE</a:t>
            </a:r>
            <a:r>
              <a:rPr lang="en" altLang="zh-CN" dirty="0">
                <a:latin typeface="Calibri" panose="020F0502020204030204" pitchFamily="34" charset="0"/>
                <a:cs typeface="Calibri" panose="020F0502020204030204" pitchFamily="34" charset="0"/>
              </a:rPr>
              <a:t> positional encoding operators for the key tensor.</a:t>
            </a: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dirty="0"/>
              <a:t>The second is </a:t>
            </a:r>
            <a:r>
              <a:rPr lang="en" altLang="zh-CN" b="1" dirty="0"/>
              <a:t>intra-operator overlap</a:t>
            </a:r>
            <a:r>
              <a:rPr lang="en" altLang="zh-CN" dirty="0"/>
              <a:t>. [click] For some communication on the critical path, the following computation directly depends on the communication result. In this case, operator-level scheduling is not enough. </a:t>
            </a:r>
            <a:r>
              <a:rPr lang="en" altLang="zh-CN" dirty="0" err="1"/>
              <a:t>MegaScale-MoE</a:t>
            </a:r>
            <a:r>
              <a:rPr lang="en" altLang="zh-CN" dirty="0"/>
              <a:t> further splits these operators into tiles, and fuses them into a kernel-level pipeline.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dirty="0"/>
              <a:t>[9:50]</a:t>
            </a:r>
          </a:p>
          <a:p>
            <a:endParaRPr kumimoji="1" lang="zh-CN" altLang="en-US" dirty="0">
              <a:latin typeface="Calibri" panose="020F0502020204030204" pitchFamily="34" charset="0"/>
              <a:cs typeface="Calibri" panose="020F0502020204030204" pitchFamily="34" charset="0"/>
            </a:endParaRPr>
          </a:p>
        </p:txBody>
      </p:sp>
      <p:sp>
        <p:nvSpPr>
          <p:cNvPr id="4" name="灯片编号占位符 3"/>
          <p:cNvSpPr>
            <a:spLocks noGrp="1"/>
          </p:cNvSpPr>
          <p:nvPr>
            <p:ph type="sldNum" sz="quarter" idx="5"/>
          </p:nvPr>
        </p:nvSpPr>
        <p:spPr/>
        <p:txBody>
          <a:bodyPr/>
          <a:lstStyle/>
          <a:p>
            <a:fld id="{BF4A37DF-3F3B-E649-8A1A-F4B332B15B36}" type="slidenum">
              <a:rPr kumimoji="1" lang="zh-CN" altLang="en-US" smtClean="0"/>
              <a:t>12</a:t>
            </a:fld>
            <a:endParaRPr kumimoji="1" lang="zh-CN" altLang="en-US"/>
          </a:p>
        </p:txBody>
      </p:sp>
    </p:spTree>
    <p:extLst>
      <p:ext uri="{BB962C8B-B14F-4D97-AF65-F5344CB8AC3E}">
        <p14:creationId xmlns:p14="http://schemas.microsoft.com/office/powerpoint/2010/main" val="22310180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3B820-00FA-266F-7783-E8CC0171F0F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8704A75-3E2F-163A-B27C-3C0104E000C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9269555-DEF5-4029-B5D8-3A9C5562DAB2}"/>
              </a:ext>
            </a:extLst>
          </p:cNvPr>
          <p:cNvSpPr>
            <a:spLocks noGrp="1"/>
          </p:cNvSpPr>
          <p:nvPr>
            <p:ph type="body" idx="1"/>
          </p:nvPr>
        </p:nvSpPr>
        <p:spPr/>
        <p:txBody>
          <a:bodyPr/>
          <a:lstStyle/>
          <a:p>
            <a:r>
              <a:rPr lang="en" altLang="zh-CN" dirty="0"/>
              <a:t>For inter-operator overlap, </a:t>
            </a:r>
            <a:r>
              <a:rPr lang="en" altLang="zh-CN" dirty="0" err="1"/>
              <a:t>MegaScale-MoE</a:t>
            </a:r>
            <a:r>
              <a:rPr lang="en" altLang="zh-CN" dirty="0"/>
              <a:t> treats the entire </a:t>
            </a:r>
            <a:r>
              <a:rPr lang="en" altLang="zh-CN" dirty="0" err="1"/>
              <a:t>MoE</a:t>
            </a:r>
            <a:r>
              <a:rPr lang="en" altLang="zh-CN" dirty="0"/>
              <a:t> layer as one scheduling task. Instead of relying on the default </a:t>
            </a:r>
            <a:r>
              <a:rPr lang="en" altLang="zh-CN" dirty="0" err="1"/>
              <a:t>autograd</a:t>
            </a:r>
            <a:r>
              <a:rPr lang="en" altLang="zh-CN" dirty="0"/>
              <a:t> execution order, we explicitly schedule these operators according to their dependencies. Through fine-grained control over resources such as number of SMs, we are able to minimize the interference between concurrent operators. [click]</a:t>
            </a:r>
          </a:p>
          <a:p>
            <a:r>
              <a:rPr lang="en" altLang="zh-CN" dirty="0"/>
              <a:t>Moreover, this scheduling enables selective activation </a:t>
            </a:r>
            <a:r>
              <a:rPr lang="en" altLang="zh-CN" dirty="0" err="1"/>
              <a:t>rematerialization</a:t>
            </a:r>
            <a:r>
              <a:rPr lang="en" altLang="zh-CN" dirty="0"/>
              <a:t>. We only store expensive activations and recompute or re-communicate the others during backward propagation. Since this </a:t>
            </a:r>
            <a:r>
              <a:rPr lang="en" altLang="zh-CN" dirty="0" err="1"/>
              <a:t>rematerialization</a:t>
            </a:r>
            <a:r>
              <a:rPr lang="en" altLang="zh-CN" dirty="0"/>
              <a:t> is also overlapped, </a:t>
            </a:r>
            <a:r>
              <a:rPr lang="en" altLang="zh-CN" dirty="0" err="1"/>
              <a:t>MegaScale-MoE</a:t>
            </a:r>
            <a:r>
              <a:rPr lang="en" altLang="zh-CN" dirty="0"/>
              <a:t> reduces activation memory with almost no training performance degradation.</a:t>
            </a:r>
          </a:p>
          <a:p>
            <a:endParaRPr kumimoji="1" lang="en" altLang="zh-CN" dirty="0"/>
          </a:p>
          <a:p>
            <a:r>
              <a:rPr kumimoji="1" lang="en" altLang="zh-CN" dirty="0"/>
              <a:t>[10:45]</a:t>
            </a:r>
            <a:endParaRPr kumimoji="1" lang="zh-CN" altLang="en-US" dirty="0"/>
          </a:p>
        </p:txBody>
      </p:sp>
      <p:sp>
        <p:nvSpPr>
          <p:cNvPr id="4" name="灯片编号占位符 3">
            <a:extLst>
              <a:ext uri="{FF2B5EF4-FFF2-40B4-BE49-F238E27FC236}">
                <a16:creationId xmlns:a16="http://schemas.microsoft.com/office/drawing/2014/main" id="{B707A27C-90CC-2080-F810-ED036C4494F5}"/>
              </a:ext>
            </a:extLst>
          </p:cNvPr>
          <p:cNvSpPr>
            <a:spLocks noGrp="1"/>
          </p:cNvSpPr>
          <p:nvPr>
            <p:ph type="sldNum" sz="quarter" idx="5"/>
          </p:nvPr>
        </p:nvSpPr>
        <p:spPr/>
        <p:txBody>
          <a:bodyPr/>
          <a:lstStyle/>
          <a:p>
            <a:fld id="{BF4A37DF-3F3B-E649-8A1A-F4B332B15B36}" type="slidenum">
              <a:rPr kumimoji="1" lang="zh-CN" altLang="en-US" smtClean="0"/>
              <a:t>13</a:t>
            </a:fld>
            <a:endParaRPr kumimoji="1" lang="zh-CN" altLang="en-US"/>
          </a:p>
        </p:txBody>
      </p:sp>
    </p:spTree>
    <p:extLst>
      <p:ext uri="{BB962C8B-B14F-4D97-AF65-F5344CB8AC3E}">
        <p14:creationId xmlns:p14="http://schemas.microsoft.com/office/powerpoint/2010/main" val="19621491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A5A8B-F86F-2243-0B40-2B945EB555C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A48334B-5981-BD37-6D3D-FDD7FD76540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2B41480-74B4-A87D-5DAF-9549C6E47E07}"/>
              </a:ext>
            </a:extLst>
          </p:cNvPr>
          <p:cNvSpPr>
            <a:spLocks noGrp="1"/>
          </p:cNvSpPr>
          <p:nvPr>
            <p:ph type="body" idx="1"/>
          </p:nvPr>
        </p:nvSpPr>
        <p:spPr/>
        <p:txBody>
          <a:bodyPr/>
          <a:lstStyle/>
          <a:p>
            <a:r>
              <a:rPr lang="en" altLang="zh-CN" dirty="0"/>
              <a:t>Inter-operator overlap works when communication and computation are independent. However, some communication lies directly on the critical path. For example, before expert computation, the required tokens must first arrive from other GPUs.</a:t>
            </a:r>
          </a:p>
          <a:p>
            <a:r>
              <a:rPr lang="en" altLang="zh-CN" dirty="0"/>
              <a:t>Without intra-operator overlap, the entire communication has to finish before computation can start. This leaves the communication fully exposed.</a:t>
            </a:r>
            <a:r>
              <a:rPr lang="en-US" altLang="zh-CN" dirty="0"/>
              <a:t> [click]</a:t>
            </a:r>
            <a:endParaRPr lang="en" altLang="zh-CN" dirty="0"/>
          </a:p>
          <a:p>
            <a:r>
              <a:rPr lang="en" altLang="zh-CN" dirty="0" err="1"/>
              <a:t>MegaScale-MoE</a:t>
            </a:r>
            <a:r>
              <a:rPr lang="en" altLang="zh-CN" dirty="0"/>
              <a:t> addresses this by splitting both communication and computation into small tiles.</a:t>
            </a:r>
          </a:p>
          <a:p>
            <a:r>
              <a:rPr lang="en" altLang="zh-CN" dirty="0"/>
              <a:t>As shown here, once the first computation tile finishes, the corresponding communication tile can start immediately, while later computation tiles are still executing. In this way, communication and computation are pipelined at tile granularity inside the kernel, so the exposed communication is greatly reduced.</a:t>
            </a:r>
          </a:p>
          <a:p>
            <a:r>
              <a:rPr lang="en" altLang="zh-CN" dirty="0"/>
              <a:t>For </a:t>
            </a:r>
            <a:r>
              <a:rPr lang="en" altLang="zh-CN" dirty="0" err="1"/>
              <a:t>MoE</a:t>
            </a:r>
            <a:r>
              <a:rPr lang="en" altLang="zh-CN" dirty="0"/>
              <a:t> expert computation, we further fuse local scatter and gather into the kernel, and reorder tokens so that each computation tile depends on as few source GPUs as possible.</a:t>
            </a:r>
          </a:p>
          <a:p>
            <a:endParaRPr kumimoji="1" lang="en" altLang="zh-CN" dirty="0"/>
          </a:p>
          <a:p>
            <a:r>
              <a:rPr kumimoji="1" lang="en" altLang="zh-CN" dirty="0"/>
              <a:t>[11:50]</a:t>
            </a:r>
            <a:endParaRPr kumimoji="1" lang="zh-CN" altLang="en-US" dirty="0"/>
          </a:p>
        </p:txBody>
      </p:sp>
      <p:sp>
        <p:nvSpPr>
          <p:cNvPr id="4" name="灯片编号占位符 3">
            <a:extLst>
              <a:ext uri="{FF2B5EF4-FFF2-40B4-BE49-F238E27FC236}">
                <a16:creationId xmlns:a16="http://schemas.microsoft.com/office/drawing/2014/main" id="{5988444D-9478-FE92-FC2A-C37A25BD973F}"/>
              </a:ext>
            </a:extLst>
          </p:cNvPr>
          <p:cNvSpPr>
            <a:spLocks noGrp="1"/>
          </p:cNvSpPr>
          <p:nvPr>
            <p:ph type="sldNum" sz="quarter" idx="5"/>
          </p:nvPr>
        </p:nvSpPr>
        <p:spPr/>
        <p:txBody>
          <a:bodyPr/>
          <a:lstStyle/>
          <a:p>
            <a:fld id="{BF4A37DF-3F3B-E649-8A1A-F4B332B15B36}" type="slidenum">
              <a:rPr kumimoji="1" lang="zh-CN" altLang="en-US" smtClean="0"/>
              <a:t>14</a:t>
            </a:fld>
            <a:endParaRPr kumimoji="1" lang="zh-CN" altLang="en-US"/>
          </a:p>
        </p:txBody>
      </p:sp>
    </p:spTree>
    <p:extLst>
      <p:ext uri="{BB962C8B-B14F-4D97-AF65-F5344CB8AC3E}">
        <p14:creationId xmlns:p14="http://schemas.microsoft.com/office/powerpoint/2010/main" val="2937137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7A0D7-ECEC-5A7B-B67F-1B2C108FA3C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6546386-5142-AA32-D404-7D7AAA1F3C4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7FC193F-1C6C-AF66-17B9-37A40FE2F2C1}"/>
              </a:ext>
            </a:extLst>
          </p:cNvPr>
          <p:cNvSpPr>
            <a:spLocks noGrp="1"/>
          </p:cNvSpPr>
          <p:nvPr>
            <p:ph type="body" idx="1"/>
          </p:nvPr>
        </p:nvSpPr>
        <p:spPr/>
        <p:txBody>
          <a:bodyPr/>
          <a:lstStyle/>
          <a:p>
            <a:r>
              <a:rPr lang="en" altLang="zh-CN" dirty="0"/>
              <a:t>Due to the time limit, I will skip the communication compression. Please refer to our paper for details.</a:t>
            </a:r>
          </a:p>
          <a:p>
            <a:endParaRPr lang="en" altLang="zh-CN" dirty="0"/>
          </a:p>
          <a:p>
            <a:r>
              <a:rPr lang="en" altLang="zh-CN" dirty="0"/>
              <a:t>[11:55]</a:t>
            </a:r>
          </a:p>
          <a:p>
            <a:endParaRPr kumimoji="1" lang="zh-CN" altLang="en-US" dirty="0"/>
          </a:p>
        </p:txBody>
      </p:sp>
      <p:sp>
        <p:nvSpPr>
          <p:cNvPr id="4" name="灯片编号占位符 3">
            <a:extLst>
              <a:ext uri="{FF2B5EF4-FFF2-40B4-BE49-F238E27FC236}">
                <a16:creationId xmlns:a16="http://schemas.microsoft.com/office/drawing/2014/main" id="{40E54AB8-5238-31CB-DEFB-F98B1BD2EDF0}"/>
              </a:ext>
            </a:extLst>
          </p:cNvPr>
          <p:cNvSpPr>
            <a:spLocks noGrp="1"/>
          </p:cNvSpPr>
          <p:nvPr>
            <p:ph type="sldNum" sz="quarter" idx="5"/>
          </p:nvPr>
        </p:nvSpPr>
        <p:spPr/>
        <p:txBody>
          <a:bodyPr/>
          <a:lstStyle/>
          <a:p>
            <a:fld id="{BF4A37DF-3F3B-E649-8A1A-F4B332B15B36}" type="slidenum">
              <a:rPr kumimoji="1" lang="zh-CN" altLang="en-US" smtClean="0"/>
              <a:t>15</a:t>
            </a:fld>
            <a:endParaRPr kumimoji="1" lang="zh-CN" altLang="en-US"/>
          </a:p>
        </p:txBody>
      </p:sp>
    </p:spTree>
    <p:extLst>
      <p:ext uri="{BB962C8B-B14F-4D97-AF65-F5344CB8AC3E}">
        <p14:creationId xmlns:p14="http://schemas.microsoft.com/office/powerpoint/2010/main" val="11631687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dirty="0"/>
              <a:t>We evaluate </a:t>
            </a:r>
            <a:r>
              <a:rPr lang="en" altLang="zh-CN" dirty="0" err="1"/>
              <a:t>MegaScale-MoE</a:t>
            </a:r>
            <a:r>
              <a:rPr lang="en" altLang="zh-CN" dirty="0"/>
              <a:t> from multiple perspectives. This includes end-to-end training performance, performance breakdown, and a set of ablation studies for each major optimization. </a:t>
            </a:r>
          </a:p>
          <a:p>
            <a:r>
              <a:rPr lang="en" altLang="zh-CN" dirty="0"/>
              <a:t>I will focus on two key results in this talk: the overall training performance and the performance breakdown. You can refer to our paper for more your interested part. </a:t>
            </a:r>
          </a:p>
          <a:p>
            <a:endParaRPr lang="en" altLang="zh-CN" dirty="0"/>
          </a:p>
          <a:p>
            <a:r>
              <a:rPr lang="en-US" altLang="zh-CN" dirty="0"/>
              <a:t>[12:15]</a:t>
            </a:r>
            <a:endParaRPr lang="en" altLang="zh-CN" dirty="0"/>
          </a:p>
          <a:p>
            <a:endParaRPr kumimoji="1" lang="zh-CN" altLang="en-US" dirty="0"/>
          </a:p>
        </p:txBody>
      </p:sp>
      <p:sp>
        <p:nvSpPr>
          <p:cNvPr id="4" name="灯片编号占位符 3"/>
          <p:cNvSpPr>
            <a:spLocks noGrp="1"/>
          </p:cNvSpPr>
          <p:nvPr>
            <p:ph type="sldNum" sz="quarter" idx="5"/>
          </p:nvPr>
        </p:nvSpPr>
        <p:spPr/>
        <p:txBody>
          <a:bodyPr/>
          <a:lstStyle/>
          <a:p>
            <a:fld id="{BF4A37DF-3F3B-E649-8A1A-F4B332B15B36}" type="slidenum">
              <a:rPr kumimoji="1" lang="zh-CN" altLang="en-US" smtClean="0"/>
              <a:t>16</a:t>
            </a:fld>
            <a:endParaRPr kumimoji="1" lang="zh-CN" altLang="en-US"/>
          </a:p>
        </p:txBody>
      </p:sp>
    </p:spTree>
    <p:extLst>
      <p:ext uri="{BB962C8B-B14F-4D97-AF65-F5344CB8AC3E}">
        <p14:creationId xmlns:p14="http://schemas.microsoft.com/office/powerpoint/2010/main" val="17215872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 altLang="zh-CN" dirty="0"/>
              <a:t>We evaluate the strong-scaling training performance of Megatron-LM and </a:t>
            </a:r>
            <a:r>
              <a:rPr kumimoji="1" lang="en" altLang="zh-CN" dirty="0" err="1"/>
              <a:t>MegaScale-MoE</a:t>
            </a:r>
            <a:r>
              <a:rPr kumimoji="1" lang="en" altLang="zh-CN" dirty="0"/>
              <a:t> on the there hundred and fifty two billion (352B) model with thirty two (32) experts each layer by increasing the number of GPUs and maintaining a constant batch size. This experimental setting is realistic, given that batch size is constrained by convergence effects and cannot be infinitely scaled with the number of GPUs. </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 altLang="zh-CN" dirty="0"/>
              <a:t>From the table we can see that </a:t>
            </a:r>
            <a:r>
              <a:rPr kumimoji="1" lang="en" altLang="zh-CN" dirty="0" err="1"/>
              <a:t>MegaScale-MoE</a:t>
            </a:r>
            <a:r>
              <a:rPr kumimoji="1" lang="en" altLang="zh-CN" dirty="0"/>
              <a:t> achieves up to one point eight eight times (1.88x) speedups over Megatron-LM across all settings, enabling us to train the model over one trillion (1T) tokens on </a:t>
            </a:r>
            <a:r>
              <a:rPr lang="en" altLang="zh-CN" dirty="0"/>
              <a:t>one thousand four hundred and forty</a:t>
            </a:r>
            <a:r>
              <a:rPr lang="zh-CN" altLang="en-US" dirty="0"/>
              <a:t> </a:t>
            </a:r>
            <a:r>
              <a:rPr lang="en-US" altLang="zh-CN" dirty="0"/>
              <a:t>(1440)</a:t>
            </a:r>
            <a:r>
              <a:rPr kumimoji="1" lang="en" altLang="zh-CN" dirty="0"/>
              <a:t> GPUs for only eight point two (8.22) days.</a:t>
            </a:r>
          </a:p>
          <a:p>
            <a:pPr marL="0" marR="0" indent="0" algn="l" defTabSz="914400" rtl="0" eaLnBrk="1" fontAlgn="auto" latinLnBrk="0" hangingPunct="1">
              <a:lnSpc>
                <a:spcPct val="100000"/>
              </a:lnSpc>
              <a:spcBef>
                <a:spcPts val="0"/>
              </a:spcBef>
              <a:spcAft>
                <a:spcPts val="0"/>
              </a:spcAft>
              <a:buClrTx/>
              <a:buSzTx/>
              <a:buFontTx/>
              <a:buNone/>
              <a:tabLst/>
              <a:defRPr/>
            </a:pPr>
            <a:endParaRPr kumimoji="1" lang="en" altLang="zh-CN" dirty="0"/>
          </a:p>
          <a:p>
            <a:pPr marL="0" marR="0" indent="0" algn="l" defTabSz="914400" rtl="0" eaLnBrk="1" fontAlgn="auto" latinLnBrk="0" hangingPunct="1">
              <a:lnSpc>
                <a:spcPct val="100000"/>
              </a:lnSpc>
              <a:spcBef>
                <a:spcPts val="0"/>
              </a:spcBef>
              <a:spcAft>
                <a:spcPts val="0"/>
              </a:spcAft>
              <a:buClrTx/>
              <a:buSzTx/>
              <a:buFontTx/>
              <a:buNone/>
              <a:tabLst/>
              <a:defRPr/>
            </a:pPr>
            <a:r>
              <a:rPr kumimoji="1" lang="en" altLang="zh-CN" dirty="0"/>
              <a:t>[13:10]</a:t>
            </a:r>
            <a:endParaRPr kumimoji="1" lang="en-US" altLang="zh-CN" dirty="0"/>
          </a:p>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zh-CN" dirty="0"/>
          </a:p>
        </p:txBody>
      </p:sp>
      <p:sp>
        <p:nvSpPr>
          <p:cNvPr id="4" name="灯片编号占位符 3"/>
          <p:cNvSpPr>
            <a:spLocks noGrp="1"/>
          </p:cNvSpPr>
          <p:nvPr>
            <p:ph type="sldNum" sz="quarter" idx="5"/>
          </p:nvPr>
        </p:nvSpPr>
        <p:spPr/>
        <p:txBody>
          <a:bodyPr/>
          <a:lstStyle/>
          <a:p>
            <a:fld id="{BF4A37DF-3F3B-E649-8A1A-F4B332B15B36}" type="slidenum">
              <a:rPr kumimoji="1" lang="zh-CN" altLang="en-US" smtClean="0"/>
              <a:t>17</a:t>
            </a:fld>
            <a:endParaRPr kumimoji="1" lang="zh-CN" altLang="en-US"/>
          </a:p>
        </p:txBody>
      </p:sp>
    </p:spTree>
    <p:extLst>
      <p:ext uri="{BB962C8B-B14F-4D97-AF65-F5344CB8AC3E}">
        <p14:creationId xmlns:p14="http://schemas.microsoft.com/office/powerpoint/2010/main" val="31907365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dirty="0"/>
              <a:t>To better understand where the performance improvement comes from, we further break down the iteration time on different GPU platforms, including H800, A100, and H20. </a:t>
            </a:r>
          </a:p>
          <a:p>
            <a:r>
              <a:rPr lang="en" altLang="zh-CN" dirty="0"/>
              <a:t>The left subfigure shows the iteration time breakdown. Here, exposed communication means the communication time that is not hidden by computation. </a:t>
            </a:r>
            <a:r>
              <a:rPr lang="en" altLang="zh-CN" dirty="0" err="1"/>
              <a:t>FlashAttention</a:t>
            </a:r>
            <a:r>
              <a:rPr lang="en" altLang="zh-CN" dirty="0"/>
              <a:t> and GEMMs are the major computation kernels counted in Model FLOPs Utilization, or MFU. We can see that </a:t>
            </a:r>
            <a:r>
              <a:rPr lang="en" altLang="zh-CN" dirty="0" err="1"/>
              <a:t>MegaScale-MoE</a:t>
            </a:r>
            <a:r>
              <a:rPr lang="en" altLang="zh-CN" dirty="0"/>
              <a:t> significantly reduces the exposed communication time across different GPUs. </a:t>
            </a:r>
          </a:p>
          <a:p>
            <a:endParaRPr kumimoji="1" lang="en" altLang="zh-CN" dirty="0"/>
          </a:p>
          <a:p>
            <a:r>
              <a:rPr kumimoji="1" lang="en" altLang="zh-CN" dirty="0"/>
              <a:t>[13:40]</a:t>
            </a:r>
            <a:endParaRPr kumimoji="1" lang="zh-CN" altLang="en-US" dirty="0"/>
          </a:p>
        </p:txBody>
      </p:sp>
      <p:sp>
        <p:nvSpPr>
          <p:cNvPr id="4" name="灯片编号占位符 3"/>
          <p:cNvSpPr>
            <a:spLocks noGrp="1"/>
          </p:cNvSpPr>
          <p:nvPr>
            <p:ph type="sldNum" sz="quarter" idx="5"/>
          </p:nvPr>
        </p:nvSpPr>
        <p:spPr/>
        <p:txBody>
          <a:bodyPr/>
          <a:lstStyle/>
          <a:p>
            <a:fld id="{BF4A37DF-3F3B-E649-8A1A-F4B332B15B36}" type="slidenum">
              <a:rPr kumimoji="1" lang="zh-CN" altLang="en-US" smtClean="0"/>
              <a:t>18</a:t>
            </a:fld>
            <a:endParaRPr kumimoji="1" lang="zh-CN" altLang="en-US"/>
          </a:p>
        </p:txBody>
      </p:sp>
    </p:spTree>
    <p:extLst>
      <p:ext uri="{BB962C8B-B14F-4D97-AF65-F5344CB8AC3E}">
        <p14:creationId xmlns:p14="http://schemas.microsoft.com/office/powerpoint/2010/main" val="28347909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dirty="0" err="1"/>
              <a:t>MegaScale-MoE</a:t>
            </a:r>
            <a:r>
              <a:rPr lang="en" altLang="zh-CN" dirty="0"/>
              <a:t> has been deployed in our production environment and is responsible for most of large-scale </a:t>
            </a:r>
            <a:r>
              <a:rPr lang="en" altLang="zh-CN" dirty="0" err="1"/>
              <a:t>MoE</a:t>
            </a:r>
            <a:r>
              <a:rPr lang="en" altLang="zh-CN" dirty="0"/>
              <a:t> training tasks.</a:t>
            </a:r>
          </a:p>
          <a:p>
            <a:r>
              <a:rPr lang="en" altLang="zh-CN" dirty="0"/>
              <a:t>It supports training models beyond ten thousand GPUs and run for several months. By reducing exposed communication and optimizing memory usage, </a:t>
            </a:r>
            <a:r>
              <a:rPr lang="en" altLang="zh-CN" dirty="0" err="1"/>
              <a:t>MegaScale-MoE</a:t>
            </a:r>
            <a:r>
              <a:rPr lang="en" altLang="zh-CN" dirty="0"/>
              <a:t> has saved millions of GPU hours in production.</a:t>
            </a:r>
          </a:p>
          <a:p>
            <a:r>
              <a:rPr lang="en" altLang="zh-CN" dirty="0"/>
              <a:t>This figure shows one real production run. It trains an </a:t>
            </a:r>
            <a:r>
              <a:rPr lang="en" altLang="zh-CN" dirty="0" err="1"/>
              <a:t>MoE</a:t>
            </a:r>
            <a:r>
              <a:rPr lang="en" altLang="zh-CN" dirty="0"/>
              <a:t> model with 200 billion parameters, and 20 billion activated parameters per token, on more than ten thousand GPUs. The training lasts for months, and the loss continues to converge stably.</a:t>
            </a:r>
          </a:p>
          <a:p>
            <a:endParaRPr lang="en" altLang="zh-CN" dirty="0"/>
          </a:p>
          <a:p>
            <a:r>
              <a:rPr lang="en" altLang="zh-CN" dirty="0"/>
              <a:t>One lesson we learned is that </a:t>
            </a:r>
            <a:r>
              <a:rPr lang="en" altLang="zh-CN" dirty="0" err="1"/>
              <a:t>MoE</a:t>
            </a:r>
            <a:r>
              <a:rPr lang="en" altLang="zh-CN" dirty="0"/>
              <a:t> training is quite different from dense model training. In dense Transformers, performance optimization mainly focuses on attention and GEMMs. But in </a:t>
            </a:r>
            <a:r>
              <a:rPr lang="en" altLang="zh-CN" dirty="0" err="1"/>
              <a:t>MoE</a:t>
            </a:r>
            <a:r>
              <a:rPr lang="en" altLang="zh-CN" dirty="0"/>
              <a:t> models, many other components become important, including routing, communication,</a:t>
            </a:r>
            <a:r>
              <a:rPr lang="zh-CN" altLang="en-US" dirty="0"/>
              <a:t> </a:t>
            </a:r>
            <a:r>
              <a:rPr lang="en" altLang="zh-CN" dirty="0"/>
              <a:t>and dynamically shaped tensors. These components introduce non-trivial overhead and can become sources of stragglers.</a:t>
            </a:r>
          </a:p>
          <a:p>
            <a:endParaRPr kumimoji="1" lang="zh-CN" altLang="en-US" dirty="0"/>
          </a:p>
        </p:txBody>
      </p:sp>
      <p:sp>
        <p:nvSpPr>
          <p:cNvPr id="4" name="灯片编号占位符 3"/>
          <p:cNvSpPr>
            <a:spLocks noGrp="1"/>
          </p:cNvSpPr>
          <p:nvPr>
            <p:ph type="sldNum" sz="quarter" idx="5"/>
          </p:nvPr>
        </p:nvSpPr>
        <p:spPr/>
        <p:txBody>
          <a:bodyPr/>
          <a:lstStyle/>
          <a:p>
            <a:fld id="{BF4A37DF-3F3B-E649-8A1A-F4B332B15B36}" type="slidenum">
              <a:rPr kumimoji="1" lang="zh-CN" altLang="en-US" smtClean="0"/>
              <a:t>19</a:t>
            </a:fld>
            <a:endParaRPr kumimoji="1" lang="zh-CN" altLang="en-US"/>
          </a:p>
        </p:txBody>
      </p:sp>
    </p:spTree>
    <p:extLst>
      <p:ext uri="{BB962C8B-B14F-4D97-AF65-F5344CB8AC3E}">
        <p14:creationId xmlns:p14="http://schemas.microsoft.com/office/powerpoint/2010/main" val="6299329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dirty="0"/>
              <a:t>In summary, communication is a key bottleneck in large-scale </a:t>
            </a:r>
            <a:r>
              <a:rPr kumimoji="1" lang="en-US" altLang="zh-CN" dirty="0" err="1"/>
              <a:t>MoE</a:t>
            </a:r>
            <a:r>
              <a:rPr kumimoji="1" lang="en-US" altLang="zh-CN" dirty="0"/>
              <a:t> training. We propose </a:t>
            </a:r>
            <a:r>
              <a:rPr kumimoji="1" lang="en-US" altLang="zh-CN" dirty="0" err="1"/>
              <a:t>MegaScale-MoE</a:t>
            </a:r>
            <a:r>
              <a:rPr kumimoji="1" lang="en-US" altLang="zh-CN" dirty="0"/>
              <a:t>, a </a:t>
            </a:r>
            <a:r>
              <a:rPr lang="en-US" altLang="zh-CN" sz="1200" dirty="0">
                <a:latin typeface="Calibri" panose="020F0502020204030204" pitchFamily="34" charset="0"/>
                <a:cs typeface="Calibri" panose="020F0502020204030204" pitchFamily="34" charset="0"/>
              </a:rPr>
              <a:t>production-grade efficient </a:t>
            </a:r>
            <a:r>
              <a:rPr lang="en-US" altLang="zh-CN" sz="1200" dirty="0" err="1">
                <a:latin typeface="Calibri" panose="020F0502020204030204" pitchFamily="34" charset="0"/>
                <a:cs typeface="Calibri" panose="020F0502020204030204" pitchFamily="34" charset="0"/>
              </a:rPr>
              <a:t>MoE</a:t>
            </a:r>
            <a:r>
              <a:rPr lang="en-US" altLang="zh-CN" sz="1200" dirty="0">
                <a:latin typeface="Calibri" panose="020F0502020204030204" pitchFamily="34" charset="0"/>
                <a:cs typeface="Calibri" panose="020F0502020204030204" pitchFamily="34" charset="0"/>
              </a:rPr>
              <a:t> training system that reduces, hides, and compresses communication. It improves the training throughput by up to 1.88x against Megatron-LM and is deployed in production.</a:t>
            </a:r>
            <a:endParaRPr kumimoji="1" lang="en-US" altLang="zh-CN" dirty="0"/>
          </a:p>
          <a:p>
            <a:endParaRPr kumimoji="1" lang="en-US" altLang="zh-CN" dirty="0"/>
          </a:p>
          <a:p>
            <a:r>
              <a:rPr kumimoji="1" lang="en-US" altLang="zh-CN" dirty="0"/>
              <a:t>Thanks</a:t>
            </a:r>
            <a:r>
              <a:rPr kumimoji="1" lang="zh-CN" altLang="en-US" dirty="0"/>
              <a:t> </a:t>
            </a:r>
            <a:r>
              <a:rPr kumimoji="1" lang="en-US" altLang="zh-CN" dirty="0"/>
              <a:t>for listening. I’m glad to take questions now.</a:t>
            </a:r>
            <a:endParaRPr kumimoji="1" lang="zh-CN" altLang="en-US" dirty="0"/>
          </a:p>
        </p:txBody>
      </p:sp>
      <p:sp>
        <p:nvSpPr>
          <p:cNvPr id="4" name="灯片编号占位符 3"/>
          <p:cNvSpPr>
            <a:spLocks noGrp="1"/>
          </p:cNvSpPr>
          <p:nvPr>
            <p:ph type="sldNum" sz="quarter" idx="5"/>
          </p:nvPr>
        </p:nvSpPr>
        <p:spPr/>
        <p:txBody>
          <a:bodyPr/>
          <a:lstStyle/>
          <a:p>
            <a:fld id="{BF4A37DF-3F3B-E649-8A1A-F4B332B15B36}" type="slidenum">
              <a:rPr kumimoji="1" lang="zh-CN" altLang="en-US" smtClean="0"/>
              <a:t>20</a:t>
            </a:fld>
            <a:endParaRPr kumimoji="1" lang="zh-CN" altLang="en-US"/>
          </a:p>
        </p:txBody>
      </p:sp>
    </p:spTree>
    <p:extLst>
      <p:ext uri="{BB962C8B-B14F-4D97-AF65-F5344CB8AC3E}">
        <p14:creationId xmlns:p14="http://schemas.microsoft.com/office/powerpoint/2010/main" val="28591298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8A9DB5-EBE0-9139-8AB2-31B57F292086}"/>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124D9CDE-E272-873F-6203-5A36D3105A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F1934D51-AAA0-73CD-BB86-D6BE5662678D}"/>
              </a:ext>
            </a:extLst>
          </p:cNvPr>
          <p:cNvSpPr>
            <a:spLocks noGrp="1"/>
          </p:cNvSpPr>
          <p:nvPr>
            <p:ph type="dt" sz="half" idx="10"/>
          </p:nvPr>
        </p:nvSpPr>
        <p:spPr/>
        <p:txBody>
          <a:bodyPr/>
          <a:lstStyle/>
          <a:p>
            <a:fld id="{A339E950-1EFC-3746-B738-1EC5670BB239}" type="datetime1">
              <a:rPr kumimoji="1" lang="zh-CN" altLang="en-US" smtClean="0"/>
              <a:t>2026/5/6</a:t>
            </a:fld>
            <a:endParaRPr kumimoji="1" lang="zh-CN" altLang="en-US"/>
          </a:p>
        </p:txBody>
      </p:sp>
      <p:sp>
        <p:nvSpPr>
          <p:cNvPr id="5" name="页脚占位符 4">
            <a:extLst>
              <a:ext uri="{FF2B5EF4-FFF2-40B4-BE49-F238E27FC236}">
                <a16:creationId xmlns:a16="http://schemas.microsoft.com/office/drawing/2014/main" id="{D884AF09-40C4-9ABC-020B-4D5A448E3612}"/>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FCA7E863-0DF3-49A7-9E5B-BBE7694E27C3}"/>
              </a:ext>
            </a:extLst>
          </p:cNvPr>
          <p:cNvSpPr>
            <a:spLocks noGrp="1"/>
          </p:cNvSpPr>
          <p:nvPr>
            <p:ph type="sldNum" sz="quarter" idx="12"/>
          </p:nvPr>
        </p:nvSpPr>
        <p:spPr/>
        <p:txBody>
          <a:bodyPr/>
          <a:lstStyle>
            <a:lvl1pPr>
              <a:defRPr sz="2000" b="1">
                <a:latin typeface="Arial" panose="020B0604020202020204" pitchFamily="34" charset="0"/>
                <a:cs typeface="Arial" panose="020B0604020202020204" pitchFamily="34" charset="0"/>
              </a:defRPr>
            </a:lvl1pPr>
          </a:lstStyle>
          <a:p>
            <a:fld id="{24910F54-69FC-A944-93E9-EFB57972FC5C}" type="slidenum">
              <a:rPr kumimoji="1" lang="zh-CN" altLang="en-US" smtClean="0"/>
              <a:pPr/>
              <a:t>‹#›</a:t>
            </a:fld>
            <a:endParaRPr kumimoji="1" lang="zh-CN" altLang="en-US" dirty="0"/>
          </a:p>
        </p:txBody>
      </p:sp>
    </p:spTree>
    <p:extLst>
      <p:ext uri="{BB962C8B-B14F-4D97-AF65-F5344CB8AC3E}">
        <p14:creationId xmlns:p14="http://schemas.microsoft.com/office/powerpoint/2010/main" val="13188517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5BB2F6-9FE0-5AFE-DD19-833597110AE9}"/>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B1B79324-543B-16D8-FCD9-452A09D0E628}"/>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C63BD8F4-34F0-61BF-E84F-E551B46A9A32}"/>
              </a:ext>
            </a:extLst>
          </p:cNvPr>
          <p:cNvSpPr>
            <a:spLocks noGrp="1"/>
          </p:cNvSpPr>
          <p:nvPr>
            <p:ph type="dt" sz="half" idx="10"/>
          </p:nvPr>
        </p:nvSpPr>
        <p:spPr/>
        <p:txBody>
          <a:bodyPr/>
          <a:lstStyle/>
          <a:p>
            <a:fld id="{B8F12148-45AC-5145-B96F-51FC96532A6C}" type="datetime1">
              <a:rPr kumimoji="1" lang="zh-CN" altLang="en-US" smtClean="0"/>
              <a:t>2026/5/6</a:t>
            </a:fld>
            <a:endParaRPr kumimoji="1" lang="zh-CN" altLang="en-US"/>
          </a:p>
        </p:txBody>
      </p:sp>
      <p:sp>
        <p:nvSpPr>
          <p:cNvPr id="5" name="页脚占位符 4">
            <a:extLst>
              <a:ext uri="{FF2B5EF4-FFF2-40B4-BE49-F238E27FC236}">
                <a16:creationId xmlns:a16="http://schemas.microsoft.com/office/drawing/2014/main" id="{CBBA7F9A-D0F4-AF08-FE2C-8BF3DB22C1D0}"/>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679D95E6-DE35-5FB0-1779-8B07693C318B}"/>
              </a:ext>
            </a:extLst>
          </p:cNvPr>
          <p:cNvSpPr>
            <a:spLocks noGrp="1"/>
          </p:cNvSpPr>
          <p:nvPr>
            <p:ph type="sldNum" sz="quarter" idx="12"/>
          </p:nvPr>
        </p:nvSpPr>
        <p:spPr/>
        <p:txBody>
          <a:bodyPr/>
          <a:lstStyle/>
          <a:p>
            <a:fld id="{24910F54-69FC-A944-93E9-EFB57972FC5C}" type="slidenum">
              <a:rPr kumimoji="1" lang="zh-CN" altLang="en-US" smtClean="0"/>
              <a:t>‹#›</a:t>
            </a:fld>
            <a:endParaRPr kumimoji="1" lang="zh-CN" altLang="en-US"/>
          </a:p>
        </p:txBody>
      </p:sp>
    </p:spTree>
    <p:extLst>
      <p:ext uri="{BB962C8B-B14F-4D97-AF65-F5344CB8AC3E}">
        <p14:creationId xmlns:p14="http://schemas.microsoft.com/office/powerpoint/2010/main" val="26452434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1FFBFC-D118-9E96-9C01-3D47ED8E77C4}"/>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5E93F291-EA8C-0B3C-7991-983821FC306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42008BC8-F2D9-113E-B19C-6E60905E0A2B}"/>
              </a:ext>
            </a:extLst>
          </p:cNvPr>
          <p:cNvSpPr>
            <a:spLocks noGrp="1"/>
          </p:cNvSpPr>
          <p:nvPr>
            <p:ph type="dt" sz="half" idx="10"/>
          </p:nvPr>
        </p:nvSpPr>
        <p:spPr/>
        <p:txBody>
          <a:bodyPr/>
          <a:lstStyle/>
          <a:p>
            <a:fld id="{C12E3590-6D61-6440-8D16-4AA34CE54EE7}" type="datetime1">
              <a:rPr kumimoji="1" lang="zh-CN" altLang="en-US" smtClean="0"/>
              <a:t>2026/5/6</a:t>
            </a:fld>
            <a:endParaRPr kumimoji="1" lang="zh-CN" altLang="en-US"/>
          </a:p>
        </p:txBody>
      </p:sp>
      <p:sp>
        <p:nvSpPr>
          <p:cNvPr id="5" name="页脚占位符 4">
            <a:extLst>
              <a:ext uri="{FF2B5EF4-FFF2-40B4-BE49-F238E27FC236}">
                <a16:creationId xmlns:a16="http://schemas.microsoft.com/office/drawing/2014/main" id="{968083A8-75DB-2BF3-0A69-E092892CAA18}"/>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40011A41-A60D-522D-8BFA-790CABFA8C76}"/>
              </a:ext>
            </a:extLst>
          </p:cNvPr>
          <p:cNvSpPr>
            <a:spLocks noGrp="1"/>
          </p:cNvSpPr>
          <p:nvPr>
            <p:ph type="sldNum" sz="quarter" idx="12"/>
          </p:nvPr>
        </p:nvSpPr>
        <p:spPr/>
        <p:txBody>
          <a:bodyPr/>
          <a:lstStyle/>
          <a:p>
            <a:fld id="{24910F54-69FC-A944-93E9-EFB57972FC5C}" type="slidenum">
              <a:rPr kumimoji="1" lang="zh-CN" altLang="en-US" smtClean="0"/>
              <a:t>‹#›</a:t>
            </a:fld>
            <a:endParaRPr kumimoji="1" lang="zh-CN" altLang="en-US"/>
          </a:p>
        </p:txBody>
      </p:sp>
    </p:spTree>
    <p:extLst>
      <p:ext uri="{BB962C8B-B14F-4D97-AF65-F5344CB8AC3E}">
        <p14:creationId xmlns:p14="http://schemas.microsoft.com/office/powerpoint/2010/main" val="17904517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78AB98-CF58-B5B1-363E-09C29569130F}"/>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114BC226-86B7-0921-2720-E9808EED0AAC}"/>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7B8E7854-3495-494E-8BB1-6ED9340FEDD7}"/>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11079DC6-4910-76DF-4F02-137044E1BB38}"/>
              </a:ext>
            </a:extLst>
          </p:cNvPr>
          <p:cNvSpPr>
            <a:spLocks noGrp="1"/>
          </p:cNvSpPr>
          <p:nvPr>
            <p:ph type="dt" sz="half" idx="10"/>
          </p:nvPr>
        </p:nvSpPr>
        <p:spPr/>
        <p:txBody>
          <a:bodyPr/>
          <a:lstStyle/>
          <a:p>
            <a:fld id="{6BE2741B-E47A-3A45-9316-8E02D2AA305A}" type="datetime1">
              <a:rPr kumimoji="1" lang="zh-CN" altLang="en-US" smtClean="0"/>
              <a:t>2026/5/6</a:t>
            </a:fld>
            <a:endParaRPr kumimoji="1" lang="zh-CN" altLang="en-US"/>
          </a:p>
        </p:txBody>
      </p:sp>
      <p:sp>
        <p:nvSpPr>
          <p:cNvPr id="6" name="页脚占位符 5">
            <a:extLst>
              <a:ext uri="{FF2B5EF4-FFF2-40B4-BE49-F238E27FC236}">
                <a16:creationId xmlns:a16="http://schemas.microsoft.com/office/drawing/2014/main" id="{3371DE9B-2976-2EF5-796A-9689274240FC}"/>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85B01C25-C109-D593-B1A9-BD2A0AA4C434}"/>
              </a:ext>
            </a:extLst>
          </p:cNvPr>
          <p:cNvSpPr>
            <a:spLocks noGrp="1"/>
          </p:cNvSpPr>
          <p:nvPr>
            <p:ph type="sldNum" sz="quarter" idx="12"/>
          </p:nvPr>
        </p:nvSpPr>
        <p:spPr/>
        <p:txBody>
          <a:bodyPr/>
          <a:lstStyle/>
          <a:p>
            <a:fld id="{24910F54-69FC-A944-93E9-EFB57972FC5C}" type="slidenum">
              <a:rPr kumimoji="1" lang="zh-CN" altLang="en-US" smtClean="0"/>
              <a:t>‹#›</a:t>
            </a:fld>
            <a:endParaRPr kumimoji="1" lang="zh-CN" altLang="en-US"/>
          </a:p>
        </p:txBody>
      </p:sp>
    </p:spTree>
    <p:extLst>
      <p:ext uri="{BB962C8B-B14F-4D97-AF65-F5344CB8AC3E}">
        <p14:creationId xmlns:p14="http://schemas.microsoft.com/office/powerpoint/2010/main" val="36305385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36C254-FE27-EE11-B80C-EBEEBB83B63C}"/>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B6EB8FF9-F453-97A3-9FDF-9EA7B7B741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76B268C4-BF41-F324-E5AE-1E574CF9AFFF}"/>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CE88325E-9599-CB56-341B-2DCF0679E0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F5139320-9981-742C-DE94-3CE26676FD3B}"/>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1E07D11E-4D95-621A-BDAB-4EAFF668CBE0}"/>
              </a:ext>
            </a:extLst>
          </p:cNvPr>
          <p:cNvSpPr>
            <a:spLocks noGrp="1"/>
          </p:cNvSpPr>
          <p:nvPr>
            <p:ph type="dt" sz="half" idx="10"/>
          </p:nvPr>
        </p:nvSpPr>
        <p:spPr/>
        <p:txBody>
          <a:bodyPr/>
          <a:lstStyle/>
          <a:p>
            <a:fld id="{9B3D7577-0F76-6849-ACFA-720F94108B03}" type="datetime1">
              <a:rPr kumimoji="1" lang="zh-CN" altLang="en-US" smtClean="0"/>
              <a:t>2026/5/6</a:t>
            </a:fld>
            <a:endParaRPr kumimoji="1" lang="zh-CN" altLang="en-US"/>
          </a:p>
        </p:txBody>
      </p:sp>
      <p:sp>
        <p:nvSpPr>
          <p:cNvPr id="8" name="页脚占位符 7">
            <a:extLst>
              <a:ext uri="{FF2B5EF4-FFF2-40B4-BE49-F238E27FC236}">
                <a16:creationId xmlns:a16="http://schemas.microsoft.com/office/drawing/2014/main" id="{D134AB77-1270-851A-62A9-FFBDDFBCB772}"/>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94E739F9-A9C3-9F6A-D6A9-40AAA9038A61}"/>
              </a:ext>
            </a:extLst>
          </p:cNvPr>
          <p:cNvSpPr>
            <a:spLocks noGrp="1"/>
          </p:cNvSpPr>
          <p:nvPr>
            <p:ph type="sldNum" sz="quarter" idx="12"/>
          </p:nvPr>
        </p:nvSpPr>
        <p:spPr/>
        <p:txBody>
          <a:bodyPr/>
          <a:lstStyle/>
          <a:p>
            <a:fld id="{24910F54-69FC-A944-93E9-EFB57972FC5C}" type="slidenum">
              <a:rPr kumimoji="1" lang="zh-CN" altLang="en-US" smtClean="0"/>
              <a:t>‹#›</a:t>
            </a:fld>
            <a:endParaRPr kumimoji="1" lang="zh-CN" altLang="en-US"/>
          </a:p>
        </p:txBody>
      </p:sp>
    </p:spTree>
    <p:extLst>
      <p:ext uri="{BB962C8B-B14F-4D97-AF65-F5344CB8AC3E}">
        <p14:creationId xmlns:p14="http://schemas.microsoft.com/office/powerpoint/2010/main" val="8211278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6834A1-B9AB-9E56-9714-2B7AEF657013}"/>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73FE98F9-51E8-B595-62DD-3D32FEE4FD82}"/>
              </a:ext>
            </a:extLst>
          </p:cNvPr>
          <p:cNvSpPr>
            <a:spLocks noGrp="1"/>
          </p:cNvSpPr>
          <p:nvPr>
            <p:ph type="dt" sz="half" idx="10"/>
          </p:nvPr>
        </p:nvSpPr>
        <p:spPr/>
        <p:txBody>
          <a:bodyPr/>
          <a:lstStyle/>
          <a:p>
            <a:fld id="{05D33B0E-18AE-374A-85C9-3BC7F331BDFF}" type="datetime1">
              <a:rPr kumimoji="1" lang="zh-CN" altLang="en-US" smtClean="0"/>
              <a:t>2026/5/6</a:t>
            </a:fld>
            <a:endParaRPr kumimoji="1" lang="zh-CN" altLang="en-US"/>
          </a:p>
        </p:txBody>
      </p:sp>
      <p:sp>
        <p:nvSpPr>
          <p:cNvPr id="4" name="页脚占位符 3">
            <a:extLst>
              <a:ext uri="{FF2B5EF4-FFF2-40B4-BE49-F238E27FC236}">
                <a16:creationId xmlns:a16="http://schemas.microsoft.com/office/drawing/2014/main" id="{E69B2EC9-01DD-7AC3-822E-557143FCFFA6}"/>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F91989DA-78BB-8018-97D7-F7A775D52C11}"/>
              </a:ext>
            </a:extLst>
          </p:cNvPr>
          <p:cNvSpPr>
            <a:spLocks noGrp="1"/>
          </p:cNvSpPr>
          <p:nvPr>
            <p:ph type="sldNum" sz="quarter" idx="12"/>
          </p:nvPr>
        </p:nvSpPr>
        <p:spPr/>
        <p:txBody>
          <a:bodyPr/>
          <a:lstStyle/>
          <a:p>
            <a:fld id="{24910F54-69FC-A944-93E9-EFB57972FC5C}" type="slidenum">
              <a:rPr kumimoji="1" lang="zh-CN" altLang="en-US" smtClean="0"/>
              <a:t>‹#›</a:t>
            </a:fld>
            <a:endParaRPr kumimoji="1" lang="zh-CN" altLang="en-US"/>
          </a:p>
        </p:txBody>
      </p:sp>
    </p:spTree>
    <p:extLst>
      <p:ext uri="{BB962C8B-B14F-4D97-AF65-F5344CB8AC3E}">
        <p14:creationId xmlns:p14="http://schemas.microsoft.com/office/powerpoint/2010/main" val="18343314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32B4D7E-565B-666B-5757-2E39090E8F83}"/>
              </a:ext>
            </a:extLst>
          </p:cNvPr>
          <p:cNvSpPr>
            <a:spLocks noGrp="1"/>
          </p:cNvSpPr>
          <p:nvPr>
            <p:ph type="dt" sz="half" idx="10"/>
          </p:nvPr>
        </p:nvSpPr>
        <p:spPr/>
        <p:txBody>
          <a:bodyPr/>
          <a:lstStyle/>
          <a:p>
            <a:fld id="{A02CDE79-3E56-6A4E-A3E4-F86AE4A6BB36}" type="datetime1">
              <a:rPr kumimoji="1" lang="zh-CN" altLang="en-US" smtClean="0"/>
              <a:t>2026/5/6</a:t>
            </a:fld>
            <a:endParaRPr kumimoji="1" lang="zh-CN" altLang="en-US"/>
          </a:p>
        </p:txBody>
      </p:sp>
      <p:sp>
        <p:nvSpPr>
          <p:cNvPr id="3" name="页脚占位符 2">
            <a:extLst>
              <a:ext uri="{FF2B5EF4-FFF2-40B4-BE49-F238E27FC236}">
                <a16:creationId xmlns:a16="http://schemas.microsoft.com/office/drawing/2014/main" id="{CC949DC0-8C02-8403-DC6D-5EF0889EF238}"/>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498BD9B1-F8C3-E1D7-A028-6C46554FB022}"/>
              </a:ext>
            </a:extLst>
          </p:cNvPr>
          <p:cNvSpPr>
            <a:spLocks noGrp="1"/>
          </p:cNvSpPr>
          <p:nvPr>
            <p:ph type="sldNum" sz="quarter" idx="12"/>
          </p:nvPr>
        </p:nvSpPr>
        <p:spPr/>
        <p:txBody>
          <a:bodyPr/>
          <a:lstStyle/>
          <a:p>
            <a:fld id="{24910F54-69FC-A944-93E9-EFB57972FC5C}" type="slidenum">
              <a:rPr kumimoji="1" lang="zh-CN" altLang="en-US" smtClean="0"/>
              <a:t>‹#›</a:t>
            </a:fld>
            <a:endParaRPr kumimoji="1" lang="zh-CN" altLang="en-US"/>
          </a:p>
        </p:txBody>
      </p:sp>
    </p:spTree>
    <p:extLst>
      <p:ext uri="{BB962C8B-B14F-4D97-AF65-F5344CB8AC3E}">
        <p14:creationId xmlns:p14="http://schemas.microsoft.com/office/powerpoint/2010/main" val="28460257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248623-9C6E-49F4-3AB3-1C26BAE953A5}"/>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8EC091B4-18FC-4809-2207-B0BA446AD98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9CB804D6-EF0D-45BE-AA01-F46E048D2C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4C11643E-F5CB-CEE9-8DC1-9281907D7DD9}"/>
              </a:ext>
            </a:extLst>
          </p:cNvPr>
          <p:cNvSpPr>
            <a:spLocks noGrp="1"/>
          </p:cNvSpPr>
          <p:nvPr>
            <p:ph type="dt" sz="half" idx="10"/>
          </p:nvPr>
        </p:nvSpPr>
        <p:spPr/>
        <p:txBody>
          <a:bodyPr/>
          <a:lstStyle/>
          <a:p>
            <a:fld id="{2C755300-0CA6-FA4F-B24B-3417E3CD90C8}" type="datetime1">
              <a:rPr kumimoji="1" lang="zh-CN" altLang="en-US" smtClean="0"/>
              <a:t>2026/5/6</a:t>
            </a:fld>
            <a:endParaRPr kumimoji="1" lang="zh-CN" altLang="en-US"/>
          </a:p>
        </p:txBody>
      </p:sp>
      <p:sp>
        <p:nvSpPr>
          <p:cNvPr id="6" name="页脚占位符 5">
            <a:extLst>
              <a:ext uri="{FF2B5EF4-FFF2-40B4-BE49-F238E27FC236}">
                <a16:creationId xmlns:a16="http://schemas.microsoft.com/office/drawing/2014/main" id="{CB382956-52FA-8E64-CA58-E20B5B5B1EB0}"/>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7663611E-E683-EEA8-21BB-57A05D369219}"/>
              </a:ext>
            </a:extLst>
          </p:cNvPr>
          <p:cNvSpPr>
            <a:spLocks noGrp="1"/>
          </p:cNvSpPr>
          <p:nvPr>
            <p:ph type="sldNum" sz="quarter" idx="12"/>
          </p:nvPr>
        </p:nvSpPr>
        <p:spPr/>
        <p:txBody>
          <a:bodyPr/>
          <a:lstStyle/>
          <a:p>
            <a:fld id="{24910F54-69FC-A944-93E9-EFB57972FC5C}" type="slidenum">
              <a:rPr kumimoji="1" lang="zh-CN" altLang="en-US" smtClean="0"/>
              <a:t>‹#›</a:t>
            </a:fld>
            <a:endParaRPr kumimoji="1" lang="zh-CN" altLang="en-US"/>
          </a:p>
        </p:txBody>
      </p:sp>
    </p:spTree>
    <p:extLst>
      <p:ext uri="{BB962C8B-B14F-4D97-AF65-F5344CB8AC3E}">
        <p14:creationId xmlns:p14="http://schemas.microsoft.com/office/powerpoint/2010/main" val="34905489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6B3675-8140-04D1-BC1A-654F0BB6639E}"/>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9C762C8D-A05F-ACF9-BF27-6632B6E36C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9ED6353A-9355-7891-598A-280DC053F5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FAAF2417-BD30-6D7D-02D3-362D2A30599F}"/>
              </a:ext>
            </a:extLst>
          </p:cNvPr>
          <p:cNvSpPr>
            <a:spLocks noGrp="1"/>
          </p:cNvSpPr>
          <p:nvPr>
            <p:ph type="dt" sz="half" idx="10"/>
          </p:nvPr>
        </p:nvSpPr>
        <p:spPr/>
        <p:txBody>
          <a:bodyPr/>
          <a:lstStyle/>
          <a:p>
            <a:fld id="{BA87A8A5-B379-D943-A6C5-777795555196}" type="datetime1">
              <a:rPr kumimoji="1" lang="zh-CN" altLang="en-US" smtClean="0"/>
              <a:t>2026/5/6</a:t>
            </a:fld>
            <a:endParaRPr kumimoji="1" lang="zh-CN" altLang="en-US"/>
          </a:p>
        </p:txBody>
      </p:sp>
      <p:sp>
        <p:nvSpPr>
          <p:cNvPr id="6" name="页脚占位符 5">
            <a:extLst>
              <a:ext uri="{FF2B5EF4-FFF2-40B4-BE49-F238E27FC236}">
                <a16:creationId xmlns:a16="http://schemas.microsoft.com/office/drawing/2014/main" id="{A4C5C702-C091-8FFE-0CB7-F0463524C901}"/>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B8354A0A-7D2B-ECA8-424D-FD3AFC20277A}"/>
              </a:ext>
            </a:extLst>
          </p:cNvPr>
          <p:cNvSpPr>
            <a:spLocks noGrp="1"/>
          </p:cNvSpPr>
          <p:nvPr>
            <p:ph type="sldNum" sz="quarter" idx="12"/>
          </p:nvPr>
        </p:nvSpPr>
        <p:spPr/>
        <p:txBody>
          <a:bodyPr/>
          <a:lstStyle/>
          <a:p>
            <a:fld id="{24910F54-69FC-A944-93E9-EFB57972FC5C}" type="slidenum">
              <a:rPr kumimoji="1" lang="zh-CN" altLang="en-US" smtClean="0"/>
              <a:t>‹#›</a:t>
            </a:fld>
            <a:endParaRPr kumimoji="1" lang="zh-CN" altLang="en-US"/>
          </a:p>
        </p:txBody>
      </p:sp>
    </p:spTree>
    <p:extLst>
      <p:ext uri="{BB962C8B-B14F-4D97-AF65-F5344CB8AC3E}">
        <p14:creationId xmlns:p14="http://schemas.microsoft.com/office/powerpoint/2010/main" val="16069600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211E25-CE45-47AE-9667-7E459B1DF296}"/>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A15909DE-6A33-703E-0215-72EF8A98C2C8}"/>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BF6823A0-EC80-0CA6-2408-4C757F1B6932}"/>
              </a:ext>
            </a:extLst>
          </p:cNvPr>
          <p:cNvSpPr>
            <a:spLocks noGrp="1"/>
          </p:cNvSpPr>
          <p:nvPr>
            <p:ph type="dt" sz="half" idx="10"/>
          </p:nvPr>
        </p:nvSpPr>
        <p:spPr/>
        <p:txBody>
          <a:bodyPr/>
          <a:lstStyle/>
          <a:p>
            <a:fld id="{3060962C-6108-9E46-B7B4-17CCEB945726}" type="datetime1">
              <a:rPr kumimoji="1" lang="zh-CN" altLang="en-US" smtClean="0"/>
              <a:t>2026/5/6</a:t>
            </a:fld>
            <a:endParaRPr kumimoji="1" lang="zh-CN" altLang="en-US"/>
          </a:p>
        </p:txBody>
      </p:sp>
      <p:sp>
        <p:nvSpPr>
          <p:cNvPr id="5" name="页脚占位符 4">
            <a:extLst>
              <a:ext uri="{FF2B5EF4-FFF2-40B4-BE49-F238E27FC236}">
                <a16:creationId xmlns:a16="http://schemas.microsoft.com/office/drawing/2014/main" id="{A79267A1-D4EC-9AFB-BE66-88E204FA3E12}"/>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976F9252-E55E-5A39-0989-C6AD6B007403}"/>
              </a:ext>
            </a:extLst>
          </p:cNvPr>
          <p:cNvSpPr>
            <a:spLocks noGrp="1"/>
          </p:cNvSpPr>
          <p:nvPr>
            <p:ph type="sldNum" sz="quarter" idx="12"/>
          </p:nvPr>
        </p:nvSpPr>
        <p:spPr/>
        <p:txBody>
          <a:bodyPr/>
          <a:lstStyle/>
          <a:p>
            <a:fld id="{24910F54-69FC-A944-93E9-EFB57972FC5C}" type="slidenum">
              <a:rPr kumimoji="1" lang="zh-CN" altLang="en-US" smtClean="0"/>
              <a:t>‹#›</a:t>
            </a:fld>
            <a:endParaRPr kumimoji="1" lang="zh-CN" altLang="en-US"/>
          </a:p>
        </p:txBody>
      </p:sp>
    </p:spTree>
    <p:extLst>
      <p:ext uri="{BB962C8B-B14F-4D97-AF65-F5344CB8AC3E}">
        <p14:creationId xmlns:p14="http://schemas.microsoft.com/office/powerpoint/2010/main" val="24368139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49BE749-25AE-D0ED-BEAC-3C5652F8E25A}"/>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0B0F7CCC-7B88-C22F-FE3E-AD21D862BAF2}"/>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EB840695-E055-B6AC-5BFE-418D97C951D4}"/>
              </a:ext>
            </a:extLst>
          </p:cNvPr>
          <p:cNvSpPr>
            <a:spLocks noGrp="1"/>
          </p:cNvSpPr>
          <p:nvPr>
            <p:ph type="dt" sz="half" idx="10"/>
          </p:nvPr>
        </p:nvSpPr>
        <p:spPr/>
        <p:txBody>
          <a:bodyPr/>
          <a:lstStyle/>
          <a:p>
            <a:fld id="{90EA0970-4F5C-B24B-92F2-AB917A22F2C8}" type="datetime1">
              <a:rPr kumimoji="1" lang="zh-CN" altLang="en-US" smtClean="0"/>
              <a:t>2026/5/6</a:t>
            </a:fld>
            <a:endParaRPr kumimoji="1" lang="zh-CN" altLang="en-US"/>
          </a:p>
        </p:txBody>
      </p:sp>
      <p:sp>
        <p:nvSpPr>
          <p:cNvPr id="5" name="页脚占位符 4">
            <a:extLst>
              <a:ext uri="{FF2B5EF4-FFF2-40B4-BE49-F238E27FC236}">
                <a16:creationId xmlns:a16="http://schemas.microsoft.com/office/drawing/2014/main" id="{494FE300-502B-B529-5D61-CF6EEA7E708D}"/>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3ACE09C9-C52D-9DAA-FBB7-DB7CC92E7392}"/>
              </a:ext>
            </a:extLst>
          </p:cNvPr>
          <p:cNvSpPr>
            <a:spLocks noGrp="1"/>
          </p:cNvSpPr>
          <p:nvPr>
            <p:ph type="sldNum" sz="quarter" idx="12"/>
          </p:nvPr>
        </p:nvSpPr>
        <p:spPr/>
        <p:txBody>
          <a:bodyPr/>
          <a:lstStyle/>
          <a:p>
            <a:fld id="{24910F54-69FC-A944-93E9-EFB57972FC5C}" type="slidenum">
              <a:rPr kumimoji="1" lang="zh-CN" altLang="en-US" smtClean="0"/>
              <a:t>‹#›</a:t>
            </a:fld>
            <a:endParaRPr kumimoji="1" lang="zh-CN" altLang="en-US"/>
          </a:p>
        </p:txBody>
      </p:sp>
    </p:spTree>
    <p:extLst>
      <p:ext uri="{BB962C8B-B14F-4D97-AF65-F5344CB8AC3E}">
        <p14:creationId xmlns:p14="http://schemas.microsoft.com/office/powerpoint/2010/main" val="15915401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69825C90-0492-BE5F-6480-F54408A9F85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F046F3EB-8CEF-9C97-4E6A-8660CEDD6F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0F35F6B4-EB96-FB46-F261-2175BB6AA2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F32A13F-CA62-9741-9CC0-C7D76EA51B77}" type="datetime1">
              <a:rPr kumimoji="1" lang="zh-CN" altLang="en-US" smtClean="0"/>
              <a:t>2026/5/6</a:t>
            </a:fld>
            <a:endParaRPr kumimoji="1" lang="zh-CN" altLang="en-US"/>
          </a:p>
        </p:txBody>
      </p:sp>
      <p:sp>
        <p:nvSpPr>
          <p:cNvPr id="5" name="页脚占位符 4">
            <a:extLst>
              <a:ext uri="{FF2B5EF4-FFF2-40B4-BE49-F238E27FC236}">
                <a16:creationId xmlns:a16="http://schemas.microsoft.com/office/drawing/2014/main" id="{FAD08985-0933-C744-24E3-4C3DD71319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802C569C-2BEE-C36C-11EF-6F342700A3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910F54-69FC-A944-93E9-EFB57972FC5C}" type="slidenum">
              <a:rPr kumimoji="1" lang="zh-CN" altLang="en-US" smtClean="0"/>
              <a:t>‹#›</a:t>
            </a:fld>
            <a:endParaRPr kumimoji="1" lang="zh-CN" altLang="en-US"/>
          </a:p>
        </p:txBody>
      </p:sp>
    </p:spTree>
    <p:extLst>
      <p:ext uri="{BB962C8B-B14F-4D97-AF65-F5344CB8AC3E}">
        <p14:creationId xmlns:p14="http://schemas.microsoft.com/office/powerpoint/2010/main" val="38150903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5.jpeg"/><Relationship Id="rId7"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png"/><Relationship Id="rId9"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1.emf"/></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5.emf"/><Relationship Id="rId7"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6.emf"/><Relationship Id="rId4" Type="http://schemas.openxmlformats.org/officeDocument/2006/relationships/image" Target="../media/image14.emf"/></Relationships>
</file>

<file path=ppt/slides/_rels/slide1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8.emf"/></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9.emf"/></Relationships>
</file>

<file path=ppt/slides/_rels/slide13.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1.emf"/></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5.tiff"/><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90;p1">
            <a:extLst>
              <a:ext uri="{FF2B5EF4-FFF2-40B4-BE49-F238E27FC236}">
                <a16:creationId xmlns:a16="http://schemas.microsoft.com/office/drawing/2014/main" id="{F56D6916-6394-C057-93C5-1781B4591E21}"/>
              </a:ext>
            </a:extLst>
          </p:cNvPr>
          <p:cNvSpPr txBox="1"/>
          <p:nvPr/>
        </p:nvSpPr>
        <p:spPr>
          <a:xfrm>
            <a:off x="87923" y="3499868"/>
            <a:ext cx="12016154" cy="1750619"/>
          </a:xfrm>
          <a:prstGeom prst="rect">
            <a:avLst/>
          </a:prstGeom>
          <a:noFill/>
          <a:ln>
            <a:noFill/>
          </a:ln>
        </p:spPr>
        <p:txBody>
          <a:bodyPr spcFirstLastPara="1" wrap="square" lIns="91425" tIns="45700" rIns="91425" bIns="45700" anchor="b" anchorCtr="0">
            <a:noAutofit/>
          </a:bodyPr>
          <a:lstStyle/>
          <a:p>
            <a:pPr algn="ctr">
              <a:buClr>
                <a:schemeClr val="dk1"/>
              </a:buClr>
              <a:buSzPts val="2200"/>
            </a:pPr>
            <a:r>
              <a:rPr lang="en-US" sz="2800" i="0" u="none" strike="noStrike" cap="none" dirty="0">
                <a:solidFill>
                  <a:schemeClr val="tx1"/>
                </a:solidFill>
                <a:latin typeface="Calibri" panose="020F0502020204030204" pitchFamily="34" charset="0"/>
                <a:cs typeface="Calibri" panose="020F0502020204030204" pitchFamily="34" charset="0"/>
                <a:sym typeface="Microsoft YaHei"/>
              </a:rPr>
              <a:t>Chao Jin</a:t>
            </a:r>
            <a:r>
              <a:rPr lang="en-US" sz="2800" i="0" u="none" strike="noStrike" cap="none" baseline="30000" dirty="0">
                <a:solidFill>
                  <a:schemeClr val="tx1"/>
                </a:solidFill>
                <a:latin typeface="Calibri" panose="020F0502020204030204" pitchFamily="34" charset="0"/>
                <a:cs typeface="Calibri" panose="020F0502020204030204" pitchFamily="34" charset="0"/>
                <a:sym typeface="Microsoft YaHei"/>
              </a:rPr>
              <a:t>1*</a:t>
            </a:r>
            <a:r>
              <a:rPr lang="en-US" sz="2800" b="0" i="0" u="none" strike="noStrike" cap="none" dirty="0">
                <a:solidFill>
                  <a:schemeClr val="tx1"/>
                </a:solidFill>
                <a:latin typeface="Calibri" panose="020F0502020204030204" pitchFamily="34" charset="0"/>
                <a:cs typeface="Calibri" panose="020F0502020204030204" pitchFamily="34" charset="0"/>
                <a:sym typeface="Microsoft YaHei"/>
              </a:rPr>
              <a:t>, Ziheng Jiang</a:t>
            </a:r>
            <a:r>
              <a:rPr lang="en-US" altLang="zh-CN" sz="2800" b="0" baseline="30000" dirty="0">
                <a:latin typeface="Calibri" panose="020F0502020204030204" pitchFamily="34" charset="0"/>
                <a:cs typeface="Calibri" panose="020F0502020204030204" pitchFamily="34" charset="0"/>
                <a:sym typeface="Microsoft YaHei"/>
              </a:rPr>
              <a:t>2</a:t>
            </a:r>
            <a:r>
              <a:rPr lang="en-US" sz="2800" b="0" i="0" u="none" strike="noStrike" cap="none" baseline="30000" dirty="0">
                <a:solidFill>
                  <a:schemeClr val="tx1"/>
                </a:solidFill>
                <a:latin typeface="Calibri" panose="020F0502020204030204" pitchFamily="34" charset="0"/>
                <a:cs typeface="Calibri" panose="020F0502020204030204" pitchFamily="34" charset="0"/>
                <a:sym typeface="Microsoft YaHei"/>
              </a:rPr>
              <a:t>*</a:t>
            </a:r>
            <a:r>
              <a:rPr lang="en-US" sz="2800" b="0" i="0" u="none" strike="noStrike" cap="none" dirty="0">
                <a:solidFill>
                  <a:schemeClr val="tx1"/>
                </a:solidFill>
                <a:latin typeface="Calibri" panose="020F0502020204030204" pitchFamily="34" charset="0"/>
                <a:cs typeface="Calibri" panose="020F0502020204030204" pitchFamily="34" charset="0"/>
                <a:sym typeface="Microsoft YaHei"/>
              </a:rPr>
              <a:t>, Zhihao Bai</a:t>
            </a:r>
            <a:r>
              <a:rPr lang="en-US" altLang="zh-CN" sz="2800" b="0" baseline="30000" dirty="0">
                <a:latin typeface="Calibri" panose="020F0502020204030204" pitchFamily="34" charset="0"/>
                <a:cs typeface="Calibri" panose="020F0502020204030204" pitchFamily="34" charset="0"/>
                <a:sym typeface="Microsoft YaHei"/>
              </a:rPr>
              <a:t>2</a:t>
            </a:r>
            <a:r>
              <a:rPr lang="en-US" altLang="zh-CN" sz="2800" b="0" i="0" u="none" strike="noStrike" cap="none" dirty="0">
                <a:solidFill>
                  <a:schemeClr val="tx1"/>
                </a:solidFill>
                <a:latin typeface="Calibri" panose="020F0502020204030204" pitchFamily="34" charset="0"/>
                <a:cs typeface="Calibri" panose="020F0502020204030204" pitchFamily="34" charset="0"/>
                <a:sym typeface="Microsoft YaHei"/>
              </a:rPr>
              <a:t>, Zheng Zhong</a:t>
            </a:r>
            <a:r>
              <a:rPr lang="en-US" altLang="zh-CN" sz="2800" b="0" baseline="30000" dirty="0">
                <a:latin typeface="Calibri" panose="020F0502020204030204" pitchFamily="34" charset="0"/>
                <a:cs typeface="Calibri" panose="020F0502020204030204" pitchFamily="34" charset="0"/>
                <a:sym typeface="Microsoft YaHei"/>
              </a:rPr>
              <a:t>2</a:t>
            </a:r>
            <a:r>
              <a:rPr lang="en-US" altLang="zh-CN" sz="2800" b="0" i="0" u="none" strike="noStrike" cap="none" dirty="0">
                <a:solidFill>
                  <a:schemeClr val="tx1"/>
                </a:solidFill>
                <a:latin typeface="Calibri" panose="020F0502020204030204" pitchFamily="34" charset="0"/>
                <a:cs typeface="Calibri" panose="020F0502020204030204" pitchFamily="34" charset="0"/>
                <a:sym typeface="Microsoft YaHei"/>
              </a:rPr>
              <a:t>, </a:t>
            </a:r>
            <a:r>
              <a:rPr lang="en-US" altLang="zh-CN" sz="2800" b="0" i="0" u="none" strike="noStrike" cap="none" dirty="0" err="1">
                <a:solidFill>
                  <a:schemeClr val="tx1"/>
                </a:solidFill>
                <a:latin typeface="Calibri" panose="020F0502020204030204" pitchFamily="34" charset="0"/>
                <a:cs typeface="Calibri" panose="020F0502020204030204" pitchFamily="34" charset="0"/>
                <a:sym typeface="Microsoft YaHei"/>
              </a:rPr>
              <a:t>Juncai</a:t>
            </a:r>
            <a:r>
              <a:rPr lang="en-US" altLang="zh-CN" sz="2800" b="0" i="0" u="none" strike="noStrike" cap="none" dirty="0">
                <a:solidFill>
                  <a:schemeClr val="tx1"/>
                </a:solidFill>
                <a:latin typeface="Calibri" panose="020F0502020204030204" pitchFamily="34" charset="0"/>
                <a:cs typeface="Calibri" panose="020F0502020204030204" pitchFamily="34" charset="0"/>
                <a:sym typeface="Microsoft YaHei"/>
              </a:rPr>
              <a:t> Liu</a:t>
            </a:r>
            <a:r>
              <a:rPr lang="en-US" altLang="zh-CN" sz="2800" b="0" baseline="30000" dirty="0">
                <a:latin typeface="Calibri" panose="020F0502020204030204" pitchFamily="34" charset="0"/>
                <a:cs typeface="Calibri" panose="020F0502020204030204" pitchFamily="34" charset="0"/>
                <a:sym typeface="Microsoft YaHei"/>
              </a:rPr>
              <a:t>2</a:t>
            </a:r>
            <a:r>
              <a:rPr lang="en-US" altLang="zh-CN" sz="2800" b="0" i="0" u="none" strike="noStrike" cap="none" dirty="0">
                <a:solidFill>
                  <a:schemeClr val="tx1"/>
                </a:solidFill>
                <a:latin typeface="Calibri" panose="020F0502020204030204" pitchFamily="34" charset="0"/>
                <a:cs typeface="Calibri" panose="020F0502020204030204" pitchFamily="34" charset="0"/>
                <a:sym typeface="Microsoft YaHei"/>
              </a:rPr>
              <a:t>, </a:t>
            </a:r>
          </a:p>
          <a:p>
            <a:pPr algn="ctr">
              <a:buClr>
                <a:schemeClr val="dk1"/>
              </a:buClr>
              <a:buSzPts val="2200"/>
            </a:pPr>
            <a:r>
              <a:rPr lang="en-US" altLang="zh-CN" sz="2800" b="0" i="0" u="none" strike="noStrike" cap="none" dirty="0">
                <a:solidFill>
                  <a:schemeClr val="tx1"/>
                </a:solidFill>
                <a:latin typeface="Calibri" panose="020F0502020204030204" pitchFamily="34" charset="0"/>
                <a:cs typeface="Calibri" panose="020F0502020204030204" pitchFamily="34" charset="0"/>
                <a:sym typeface="Microsoft YaHei"/>
              </a:rPr>
              <a:t>Xiang Li</a:t>
            </a:r>
            <a:r>
              <a:rPr lang="en-US" altLang="zh-CN" sz="2800" b="0" baseline="30000" dirty="0">
                <a:latin typeface="Calibri" panose="020F0502020204030204" pitchFamily="34" charset="0"/>
                <a:cs typeface="Calibri" panose="020F0502020204030204" pitchFamily="34" charset="0"/>
                <a:sym typeface="Microsoft YaHei"/>
              </a:rPr>
              <a:t>2</a:t>
            </a:r>
            <a:r>
              <a:rPr lang="en-US" altLang="zh-CN" sz="2800" b="0" i="0" u="none" strike="noStrike" cap="none" dirty="0">
                <a:solidFill>
                  <a:schemeClr val="tx1"/>
                </a:solidFill>
                <a:latin typeface="Calibri" panose="020F0502020204030204" pitchFamily="34" charset="0"/>
                <a:cs typeface="Calibri" panose="020F0502020204030204" pitchFamily="34" charset="0"/>
                <a:sym typeface="Microsoft YaHei"/>
              </a:rPr>
              <a:t>, </a:t>
            </a:r>
            <a:r>
              <a:rPr lang="en-US" altLang="zh-CN" sz="2800" b="0" i="0" u="none" strike="noStrike" cap="none" dirty="0" err="1">
                <a:solidFill>
                  <a:schemeClr val="tx1"/>
                </a:solidFill>
                <a:latin typeface="Calibri" panose="020F0502020204030204" pitchFamily="34" charset="0"/>
                <a:cs typeface="Calibri" panose="020F0502020204030204" pitchFamily="34" charset="0"/>
                <a:sym typeface="Microsoft YaHei"/>
              </a:rPr>
              <a:t>Ningxin</a:t>
            </a:r>
            <a:r>
              <a:rPr lang="en-US" altLang="zh-CN" sz="2800" b="0" i="0" u="none" strike="noStrike" cap="none" dirty="0">
                <a:solidFill>
                  <a:schemeClr val="tx1"/>
                </a:solidFill>
                <a:latin typeface="Calibri" panose="020F0502020204030204" pitchFamily="34" charset="0"/>
                <a:cs typeface="Calibri" panose="020F0502020204030204" pitchFamily="34" charset="0"/>
                <a:sym typeface="Microsoft YaHei"/>
              </a:rPr>
              <a:t> Zheng</a:t>
            </a:r>
            <a:r>
              <a:rPr lang="en-US" altLang="zh-CN" sz="2800" b="0" baseline="30000" dirty="0">
                <a:latin typeface="Calibri" panose="020F0502020204030204" pitchFamily="34" charset="0"/>
                <a:cs typeface="Calibri" panose="020F0502020204030204" pitchFamily="34" charset="0"/>
                <a:sym typeface="Microsoft YaHei"/>
              </a:rPr>
              <a:t>2</a:t>
            </a:r>
            <a:r>
              <a:rPr lang="en-US" altLang="zh-CN" sz="2800" b="0" i="0" u="none" strike="noStrike" cap="none" dirty="0">
                <a:solidFill>
                  <a:schemeClr val="tx1"/>
                </a:solidFill>
                <a:latin typeface="Calibri" panose="020F0502020204030204" pitchFamily="34" charset="0"/>
                <a:cs typeface="Calibri" panose="020F0502020204030204" pitchFamily="34" charset="0"/>
                <a:sym typeface="Microsoft YaHei"/>
              </a:rPr>
              <a:t>, Xi Wang</a:t>
            </a:r>
            <a:r>
              <a:rPr lang="en-US" altLang="zh-CN" sz="2800" b="0" baseline="30000" dirty="0">
                <a:latin typeface="Calibri" panose="020F0502020204030204" pitchFamily="34" charset="0"/>
                <a:cs typeface="Calibri" panose="020F0502020204030204" pitchFamily="34" charset="0"/>
                <a:sym typeface="Microsoft YaHei"/>
              </a:rPr>
              <a:t>2</a:t>
            </a:r>
            <a:r>
              <a:rPr lang="en-US" altLang="zh-CN" sz="2800" b="0" i="0" u="none" strike="noStrike" cap="none" dirty="0">
                <a:solidFill>
                  <a:schemeClr val="tx1"/>
                </a:solidFill>
                <a:latin typeface="Calibri" panose="020F0502020204030204" pitchFamily="34" charset="0"/>
                <a:cs typeface="Calibri" panose="020F0502020204030204" pitchFamily="34" charset="0"/>
                <a:sym typeface="Microsoft YaHei"/>
              </a:rPr>
              <a:t>, Cong Xie</a:t>
            </a:r>
            <a:r>
              <a:rPr lang="en-US" altLang="zh-CN" sz="2800" b="0" baseline="30000" dirty="0">
                <a:latin typeface="Calibri" panose="020F0502020204030204" pitchFamily="34" charset="0"/>
                <a:cs typeface="Calibri" panose="020F0502020204030204" pitchFamily="34" charset="0"/>
                <a:sym typeface="Microsoft YaHei"/>
              </a:rPr>
              <a:t>2</a:t>
            </a:r>
            <a:r>
              <a:rPr lang="en-US" altLang="zh-CN" sz="2800" b="0" i="0" u="none" strike="noStrike" cap="none" dirty="0">
                <a:solidFill>
                  <a:schemeClr val="tx1"/>
                </a:solidFill>
                <a:latin typeface="Calibri" panose="020F0502020204030204" pitchFamily="34" charset="0"/>
                <a:cs typeface="Calibri" panose="020F0502020204030204" pitchFamily="34" charset="0"/>
                <a:sym typeface="Microsoft YaHei"/>
              </a:rPr>
              <a:t>, Qi Huang</a:t>
            </a:r>
            <a:r>
              <a:rPr lang="en-US" altLang="zh-CN" sz="2800" b="0" baseline="30000" dirty="0">
                <a:latin typeface="Calibri" panose="020F0502020204030204" pitchFamily="34" charset="0"/>
                <a:cs typeface="Calibri" panose="020F0502020204030204" pitchFamily="34" charset="0"/>
                <a:sym typeface="Microsoft YaHei"/>
              </a:rPr>
              <a:t>2</a:t>
            </a:r>
            <a:r>
              <a:rPr lang="en-US" altLang="zh-CN" sz="2800" b="0" i="0" u="none" strike="noStrike" cap="none" dirty="0">
                <a:solidFill>
                  <a:schemeClr val="tx1"/>
                </a:solidFill>
                <a:latin typeface="Calibri" panose="020F0502020204030204" pitchFamily="34" charset="0"/>
                <a:cs typeface="Calibri" panose="020F0502020204030204" pitchFamily="34" charset="0"/>
                <a:sym typeface="Microsoft YaHei"/>
              </a:rPr>
              <a:t>, Wen Heng</a:t>
            </a:r>
            <a:r>
              <a:rPr lang="en-US" altLang="zh-CN" sz="2800" b="0" baseline="30000" dirty="0">
                <a:latin typeface="Calibri" panose="020F0502020204030204" pitchFamily="34" charset="0"/>
                <a:cs typeface="Calibri" panose="020F0502020204030204" pitchFamily="34" charset="0"/>
                <a:sym typeface="Microsoft YaHei"/>
              </a:rPr>
              <a:t>2</a:t>
            </a:r>
            <a:r>
              <a:rPr lang="en-US" altLang="zh-CN" sz="2800" b="0" i="0" u="none" strike="noStrike" cap="none" dirty="0">
                <a:solidFill>
                  <a:schemeClr val="tx1"/>
                </a:solidFill>
                <a:latin typeface="Calibri" panose="020F0502020204030204" pitchFamily="34" charset="0"/>
                <a:cs typeface="Calibri" panose="020F0502020204030204" pitchFamily="34" charset="0"/>
                <a:sym typeface="Microsoft YaHei"/>
              </a:rPr>
              <a:t>, </a:t>
            </a:r>
          </a:p>
          <a:p>
            <a:pPr algn="ctr">
              <a:buClr>
                <a:schemeClr val="dk1"/>
              </a:buClr>
              <a:buSzPts val="2200"/>
            </a:pPr>
            <a:r>
              <a:rPr lang="en-US" altLang="zh-CN" sz="2800" b="0" i="0" u="none" strike="noStrike" cap="none" dirty="0" err="1">
                <a:solidFill>
                  <a:schemeClr val="tx1"/>
                </a:solidFill>
                <a:latin typeface="Calibri" panose="020F0502020204030204" pitchFamily="34" charset="0"/>
                <a:cs typeface="Calibri" panose="020F0502020204030204" pitchFamily="34" charset="0"/>
                <a:sym typeface="Microsoft YaHei"/>
              </a:rPr>
              <a:t>Yiyuan</a:t>
            </a:r>
            <a:r>
              <a:rPr lang="en-US" altLang="zh-CN" sz="2800" b="0" i="0" u="none" strike="noStrike" cap="none" dirty="0">
                <a:solidFill>
                  <a:schemeClr val="tx1"/>
                </a:solidFill>
                <a:latin typeface="Calibri" panose="020F0502020204030204" pitchFamily="34" charset="0"/>
                <a:cs typeface="Calibri" panose="020F0502020204030204" pitchFamily="34" charset="0"/>
                <a:sym typeface="Microsoft YaHei"/>
              </a:rPr>
              <a:t> Ma</a:t>
            </a:r>
            <a:r>
              <a:rPr lang="en-US" altLang="zh-CN" sz="2800" b="0" baseline="30000" dirty="0">
                <a:latin typeface="Calibri" panose="020F0502020204030204" pitchFamily="34" charset="0"/>
                <a:cs typeface="Calibri" panose="020F0502020204030204" pitchFamily="34" charset="0"/>
                <a:sym typeface="Microsoft YaHei"/>
              </a:rPr>
              <a:t>2</a:t>
            </a:r>
            <a:r>
              <a:rPr lang="en-US" altLang="zh-CN" sz="2800" b="0" i="0" u="none" strike="noStrike" cap="none" dirty="0">
                <a:solidFill>
                  <a:schemeClr val="tx1"/>
                </a:solidFill>
                <a:latin typeface="Calibri" panose="020F0502020204030204" pitchFamily="34" charset="0"/>
                <a:cs typeface="Calibri" panose="020F0502020204030204" pitchFamily="34" charset="0"/>
                <a:sym typeface="Microsoft YaHei"/>
              </a:rPr>
              <a:t>, </a:t>
            </a:r>
            <a:r>
              <a:rPr lang="en-US" altLang="zh-CN" sz="2800" b="0" i="0" u="none" strike="noStrike" cap="none" dirty="0" err="1">
                <a:solidFill>
                  <a:schemeClr val="tx1"/>
                </a:solidFill>
                <a:latin typeface="Calibri" panose="020F0502020204030204" pitchFamily="34" charset="0"/>
                <a:cs typeface="Calibri" panose="020F0502020204030204" pitchFamily="34" charset="0"/>
                <a:sym typeface="Microsoft YaHei"/>
              </a:rPr>
              <a:t>Wenlei</a:t>
            </a:r>
            <a:r>
              <a:rPr lang="en-US" altLang="zh-CN" sz="2800" b="0" i="0" u="none" strike="noStrike" cap="none" dirty="0">
                <a:solidFill>
                  <a:schemeClr val="tx1"/>
                </a:solidFill>
                <a:latin typeface="Calibri" panose="020F0502020204030204" pitchFamily="34" charset="0"/>
                <a:cs typeface="Calibri" panose="020F0502020204030204" pitchFamily="34" charset="0"/>
                <a:sym typeface="Microsoft YaHei"/>
              </a:rPr>
              <a:t> Bao</a:t>
            </a:r>
            <a:r>
              <a:rPr lang="en-US" altLang="zh-CN" sz="2800" b="0" baseline="30000" dirty="0">
                <a:latin typeface="Calibri" panose="020F0502020204030204" pitchFamily="34" charset="0"/>
                <a:cs typeface="Calibri" panose="020F0502020204030204" pitchFamily="34" charset="0"/>
                <a:sym typeface="Microsoft YaHei"/>
              </a:rPr>
              <a:t>2</a:t>
            </a:r>
            <a:r>
              <a:rPr lang="en-US" altLang="zh-CN" sz="2800" b="0" i="0" u="none" strike="noStrike" cap="none" dirty="0">
                <a:solidFill>
                  <a:schemeClr val="tx1"/>
                </a:solidFill>
                <a:latin typeface="Calibri" panose="020F0502020204030204" pitchFamily="34" charset="0"/>
                <a:cs typeface="Calibri" panose="020F0502020204030204" pitchFamily="34" charset="0"/>
                <a:sym typeface="Microsoft YaHei"/>
              </a:rPr>
              <a:t>, Size Zheng</a:t>
            </a:r>
            <a:r>
              <a:rPr lang="en-US" altLang="zh-CN" sz="2800" b="0" baseline="30000" dirty="0">
                <a:latin typeface="Calibri" panose="020F0502020204030204" pitchFamily="34" charset="0"/>
                <a:cs typeface="Calibri" panose="020F0502020204030204" pitchFamily="34" charset="0"/>
                <a:sym typeface="Microsoft YaHei"/>
              </a:rPr>
              <a:t>2</a:t>
            </a:r>
            <a:r>
              <a:rPr lang="en-US" altLang="zh-CN" sz="2800" b="0" i="0" u="none" strike="noStrike" cap="none" dirty="0">
                <a:solidFill>
                  <a:schemeClr val="tx1"/>
                </a:solidFill>
                <a:latin typeface="Calibri" panose="020F0502020204030204" pitchFamily="34" charset="0"/>
                <a:cs typeface="Calibri" panose="020F0502020204030204" pitchFamily="34" charset="0"/>
                <a:sym typeface="Microsoft YaHei"/>
              </a:rPr>
              <a:t>, </a:t>
            </a:r>
            <a:r>
              <a:rPr lang="en-US" altLang="zh-CN" sz="2800" b="0" i="0" u="none" strike="noStrike" cap="none" dirty="0" err="1">
                <a:solidFill>
                  <a:schemeClr val="tx1"/>
                </a:solidFill>
                <a:latin typeface="Calibri" panose="020F0502020204030204" pitchFamily="34" charset="0"/>
                <a:cs typeface="Calibri" panose="020F0502020204030204" pitchFamily="34" charset="0"/>
                <a:sym typeface="Microsoft YaHei"/>
              </a:rPr>
              <a:t>Xuegui</a:t>
            </a:r>
            <a:r>
              <a:rPr lang="en-US" altLang="zh-CN" sz="2800" b="0" i="0" u="none" strike="noStrike" cap="none" dirty="0">
                <a:solidFill>
                  <a:schemeClr val="tx1"/>
                </a:solidFill>
                <a:latin typeface="Calibri" panose="020F0502020204030204" pitchFamily="34" charset="0"/>
                <a:cs typeface="Calibri" panose="020F0502020204030204" pitchFamily="34" charset="0"/>
                <a:sym typeface="Microsoft YaHei"/>
              </a:rPr>
              <a:t> Zheng</a:t>
            </a:r>
            <a:r>
              <a:rPr lang="en-US" altLang="zh-CN" sz="2800" b="0" baseline="30000" dirty="0">
                <a:latin typeface="Calibri" panose="020F0502020204030204" pitchFamily="34" charset="0"/>
                <a:cs typeface="Calibri" panose="020F0502020204030204" pitchFamily="34" charset="0"/>
                <a:sym typeface="Microsoft YaHei"/>
              </a:rPr>
              <a:t>2</a:t>
            </a:r>
            <a:r>
              <a:rPr lang="en-US" altLang="zh-CN" sz="2800" b="0" i="0" u="none" strike="noStrike" cap="none" dirty="0">
                <a:solidFill>
                  <a:schemeClr val="tx1"/>
                </a:solidFill>
                <a:latin typeface="Calibri" panose="020F0502020204030204" pitchFamily="34" charset="0"/>
                <a:cs typeface="Calibri" panose="020F0502020204030204" pitchFamily="34" charset="0"/>
                <a:sym typeface="Microsoft YaHei"/>
              </a:rPr>
              <a:t>, </a:t>
            </a:r>
            <a:r>
              <a:rPr lang="en-US" altLang="zh-CN" sz="2800" b="0" i="0" u="none" strike="noStrike" cap="none" dirty="0" err="1">
                <a:solidFill>
                  <a:schemeClr val="tx1"/>
                </a:solidFill>
                <a:latin typeface="Calibri" panose="020F0502020204030204" pitchFamily="34" charset="0"/>
                <a:cs typeface="Calibri" panose="020F0502020204030204" pitchFamily="34" charset="0"/>
                <a:sym typeface="Microsoft YaHei"/>
              </a:rPr>
              <a:t>Yanghua</a:t>
            </a:r>
            <a:r>
              <a:rPr lang="en-US" altLang="zh-CN" sz="2800" b="0" i="0" u="none" strike="noStrike" cap="none" dirty="0">
                <a:solidFill>
                  <a:schemeClr val="tx1"/>
                </a:solidFill>
                <a:latin typeface="Calibri" panose="020F0502020204030204" pitchFamily="34" charset="0"/>
                <a:cs typeface="Calibri" panose="020F0502020204030204" pitchFamily="34" charset="0"/>
                <a:sym typeface="Microsoft YaHei"/>
              </a:rPr>
              <a:t> Peng</a:t>
            </a:r>
            <a:r>
              <a:rPr lang="en-US" altLang="zh-CN" sz="2800" b="0" baseline="30000" dirty="0">
                <a:latin typeface="Calibri" panose="020F0502020204030204" pitchFamily="34" charset="0"/>
                <a:cs typeface="Calibri" panose="020F0502020204030204" pitchFamily="34" charset="0"/>
                <a:sym typeface="Microsoft YaHei"/>
              </a:rPr>
              <a:t>2</a:t>
            </a:r>
            <a:r>
              <a:rPr lang="en-US" altLang="zh-CN" sz="2800" b="0" i="0" u="none" strike="noStrike" cap="none" dirty="0">
                <a:solidFill>
                  <a:schemeClr val="tx1"/>
                </a:solidFill>
                <a:latin typeface="Calibri" panose="020F0502020204030204" pitchFamily="34" charset="0"/>
                <a:cs typeface="Calibri" panose="020F0502020204030204" pitchFamily="34" charset="0"/>
                <a:sym typeface="Microsoft YaHei"/>
              </a:rPr>
              <a:t>, </a:t>
            </a:r>
          </a:p>
          <a:p>
            <a:pPr algn="ctr">
              <a:buClr>
                <a:schemeClr val="dk1"/>
              </a:buClr>
              <a:buSzPts val="2200"/>
            </a:pPr>
            <a:r>
              <a:rPr lang="en-US" altLang="zh-CN" sz="2800" b="0" i="0" u="none" strike="noStrike" cap="none" dirty="0" err="1">
                <a:solidFill>
                  <a:schemeClr val="tx1"/>
                </a:solidFill>
                <a:latin typeface="Calibri" panose="020F0502020204030204" pitchFamily="34" charset="0"/>
                <a:cs typeface="Calibri" panose="020F0502020204030204" pitchFamily="34" charset="0"/>
                <a:sym typeface="Microsoft YaHei"/>
              </a:rPr>
              <a:t>Haibin</a:t>
            </a:r>
            <a:r>
              <a:rPr lang="en-US" altLang="zh-CN" sz="2800" b="0" i="0" u="none" strike="noStrike" cap="none" dirty="0">
                <a:solidFill>
                  <a:schemeClr val="tx1"/>
                </a:solidFill>
                <a:latin typeface="Calibri" panose="020F0502020204030204" pitchFamily="34" charset="0"/>
                <a:cs typeface="Calibri" panose="020F0502020204030204" pitchFamily="34" charset="0"/>
                <a:sym typeface="Microsoft YaHei"/>
              </a:rPr>
              <a:t> Lin</a:t>
            </a:r>
            <a:r>
              <a:rPr lang="en-US" altLang="zh-CN" sz="2800" b="0" baseline="30000" dirty="0">
                <a:latin typeface="Calibri" panose="020F0502020204030204" pitchFamily="34" charset="0"/>
                <a:cs typeface="Calibri" panose="020F0502020204030204" pitchFamily="34" charset="0"/>
                <a:sym typeface="Microsoft YaHei"/>
              </a:rPr>
              <a:t>2</a:t>
            </a:r>
            <a:r>
              <a:rPr lang="en-US" altLang="zh-CN" sz="2800" b="0" i="0" u="none" strike="noStrike" cap="none" dirty="0">
                <a:solidFill>
                  <a:schemeClr val="tx1"/>
                </a:solidFill>
                <a:latin typeface="Calibri" panose="020F0502020204030204" pitchFamily="34" charset="0"/>
                <a:cs typeface="Calibri" panose="020F0502020204030204" pitchFamily="34" charset="0"/>
                <a:sym typeface="Microsoft YaHei"/>
              </a:rPr>
              <a:t>, </a:t>
            </a:r>
            <a:r>
              <a:rPr lang="en-US" altLang="zh-CN" sz="2800" b="0" i="0" u="none" strike="noStrike" cap="none" dirty="0" err="1">
                <a:solidFill>
                  <a:schemeClr val="tx1"/>
                </a:solidFill>
                <a:latin typeface="Calibri" panose="020F0502020204030204" pitchFamily="34" charset="0"/>
                <a:cs typeface="Calibri" panose="020F0502020204030204" pitchFamily="34" charset="0"/>
                <a:sym typeface="Microsoft YaHei"/>
              </a:rPr>
              <a:t>Xuanzhe</a:t>
            </a:r>
            <a:r>
              <a:rPr lang="en-US" altLang="zh-CN" sz="2800" b="0" i="0" u="none" strike="noStrike" cap="none" dirty="0">
                <a:solidFill>
                  <a:schemeClr val="tx1"/>
                </a:solidFill>
                <a:latin typeface="Calibri" panose="020F0502020204030204" pitchFamily="34" charset="0"/>
                <a:cs typeface="Calibri" panose="020F0502020204030204" pitchFamily="34" charset="0"/>
                <a:sym typeface="Microsoft YaHei"/>
              </a:rPr>
              <a:t> Liu</a:t>
            </a:r>
            <a:r>
              <a:rPr lang="en-US" altLang="zh-CN" sz="2800" i="0" u="none" strike="noStrike" cap="none" baseline="30000" dirty="0">
                <a:solidFill>
                  <a:schemeClr val="tx1"/>
                </a:solidFill>
                <a:latin typeface="Calibri" panose="020F0502020204030204" pitchFamily="34" charset="0"/>
                <a:cs typeface="Calibri" panose="020F0502020204030204" pitchFamily="34" charset="0"/>
                <a:sym typeface="Microsoft YaHei"/>
              </a:rPr>
              <a:t>1</a:t>
            </a:r>
            <a:r>
              <a:rPr lang="en-US" altLang="zh-CN" sz="2800" b="0" i="0" u="none" strike="noStrike" cap="none" dirty="0">
                <a:solidFill>
                  <a:schemeClr val="tx1"/>
                </a:solidFill>
                <a:latin typeface="Calibri" panose="020F0502020204030204" pitchFamily="34" charset="0"/>
                <a:cs typeface="Calibri" panose="020F0502020204030204" pitchFamily="34" charset="0"/>
                <a:sym typeface="Microsoft YaHei"/>
              </a:rPr>
              <a:t>, Xin Jin</a:t>
            </a:r>
            <a:r>
              <a:rPr lang="en-US" altLang="zh-CN" sz="2800" i="0" u="none" strike="noStrike" cap="none" baseline="30000" dirty="0">
                <a:solidFill>
                  <a:schemeClr val="tx1"/>
                </a:solidFill>
                <a:latin typeface="Calibri" panose="020F0502020204030204" pitchFamily="34" charset="0"/>
                <a:cs typeface="Calibri" panose="020F0502020204030204" pitchFamily="34" charset="0"/>
                <a:sym typeface="Microsoft YaHei"/>
              </a:rPr>
              <a:t>1</a:t>
            </a:r>
            <a:r>
              <a:rPr lang="en-US" altLang="zh-CN" sz="2800" b="0" i="0" u="none" strike="noStrike" cap="none" dirty="0">
                <a:solidFill>
                  <a:schemeClr val="tx1"/>
                </a:solidFill>
                <a:latin typeface="Calibri" panose="020F0502020204030204" pitchFamily="34" charset="0"/>
                <a:cs typeface="Calibri" panose="020F0502020204030204" pitchFamily="34" charset="0"/>
                <a:sym typeface="Microsoft YaHei"/>
              </a:rPr>
              <a:t>, Xin Liu</a:t>
            </a:r>
            <a:r>
              <a:rPr lang="en-US" altLang="zh-CN" sz="2800" b="0" baseline="30000" dirty="0">
                <a:latin typeface="Calibri" panose="020F0502020204030204" pitchFamily="34" charset="0"/>
                <a:cs typeface="Calibri" panose="020F0502020204030204" pitchFamily="34" charset="0"/>
                <a:sym typeface="Microsoft YaHei"/>
              </a:rPr>
              <a:t>2</a:t>
            </a:r>
            <a:endParaRPr lang="en-US" altLang="zh-CN" sz="2800" b="0" i="0" u="none" strike="noStrike" cap="none" dirty="0">
              <a:solidFill>
                <a:schemeClr val="tx1"/>
              </a:solidFill>
              <a:latin typeface="Calibri" panose="020F0502020204030204" pitchFamily="34" charset="0"/>
              <a:cs typeface="Calibri" panose="020F0502020204030204" pitchFamily="34" charset="0"/>
              <a:sym typeface="Microsoft YaHei"/>
            </a:endParaRPr>
          </a:p>
        </p:txBody>
      </p:sp>
      <p:pic>
        <p:nvPicPr>
          <p:cNvPr id="1026" name="Picture 2" descr="EuroSys 2026 logo (left)">
            <a:extLst>
              <a:ext uri="{FF2B5EF4-FFF2-40B4-BE49-F238E27FC236}">
                <a16:creationId xmlns:a16="http://schemas.microsoft.com/office/drawing/2014/main" id="{CFF884D8-11B1-2089-3982-512398C92C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23657" y="332593"/>
            <a:ext cx="1872343" cy="68751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EuroSys 2026 logo (right)">
            <a:extLst>
              <a:ext uri="{FF2B5EF4-FFF2-40B4-BE49-F238E27FC236}">
                <a16:creationId xmlns:a16="http://schemas.microsoft.com/office/drawing/2014/main" id="{5E4B98DA-A9C5-F9A1-5190-EF62FA217E7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332509"/>
            <a:ext cx="1832940" cy="687600"/>
          </a:xfrm>
          <a:prstGeom prst="rect">
            <a:avLst/>
          </a:prstGeom>
          <a:noFill/>
          <a:extLst>
            <a:ext uri="{909E8E84-426E-40DD-AFC4-6F175D3DCCD1}">
              <a14:hiddenFill xmlns:a14="http://schemas.microsoft.com/office/drawing/2010/main">
                <a:solidFill>
                  <a:srgbClr val="FFFFFF"/>
                </a:solidFill>
              </a14:hiddenFill>
            </a:ext>
          </a:extLst>
        </p:spPr>
      </p:pic>
      <p:pic>
        <p:nvPicPr>
          <p:cNvPr id="8" name="图片 7">
            <a:extLst>
              <a:ext uri="{FF2B5EF4-FFF2-40B4-BE49-F238E27FC236}">
                <a16:creationId xmlns:a16="http://schemas.microsoft.com/office/drawing/2014/main" id="{1A26544B-7746-EBC2-B6D6-885AACCB4759}"/>
              </a:ext>
            </a:extLst>
          </p:cNvPr>
          <p:cNvPicPr>
            <a:picLocks noChangeAspect="1"/>
          </p:cNvPicPr>
          <p:nvPr/>
        </p:nvPicPr>
        <p:blipFill>
          <a:blip r:embed="rId5"/>
          <a:stretch>
            <a:fillRect/>
          </a:stretch>
        </p:blipFill>
        <p:spPr>
          <a:xfrm>
            <a:off x="6564313" y="5636502"/>
            <a:ext cx="4940300" cy="698500"/>
          </a:xfrm>
          <a:prstGeom prst="rect">
            <a:avLst/>
          </a:prstGeom>
        </p:spPr>
      </p:pic>
      <p:sp>
        <p:nvSpPr>
          <p:cNvPr id="13" name="标题 1">
            <a:extLst>
              <a:ext uri="{FF2B5EF4-FFF2-40B4-BE49-F238E27FC236}">
                <a16:creationId xmlns:a16="http://schemas.microsoft.com/office/drawing/2014/main" id="{7E1409D2-2182-AE12-A33E-0EBC4F534AE8}"/>
              </a:ext>
            </a:extLst>
          </p:cNvPr>
          <p:cNvSpPr>
            <a:spLocks noGrp="1"/>
          </p:cNvSpPr>
          <p:nvPr>
            <p:ph type="ctrTitle"/>
          </p:nvPr>
        </p:nvSpPr>
        <p:spPr>
          <a:xfrm>
            <a:off x="0" y="1662585"/>
            <a:ext cx="12192000" cy="1449607"/>
          </a:xfrm>
        </p:spPr>
        <p:txBody>
          <a:bodyPr>
            <a:noAutofit/>
          </a:bodyPr>
          <a:lstStyle/>
          <a:p>
            <a:pPr>
              <a:lnSpc>
                <a:spcPct val="130000"/>
              </a:lnSpc>
            </a:pPr>
            <a:r>
              <a:rPr lang="en-US" altLang="zh-CN" sz="3600" b="1" i="1" dirty="0" err="1">
                <a:latin typeface="Calibri" panose="020F0502020204030204" pitchFamily="34" charset="0"/>
                <a:ea typeface="SimHei" charset="-122"/>
                <a:cs typeface="Calibri" panose="020F0502020204030204" pitchFamily="34" charset="0"/>
              </a:rPr>
              <a:t>MegaScale-MoE</a:t>
            </a:r>
            <a:r>
              <a:rPr lang="en-US" altLang="zh-CN" sz="3600" b="1" i="1" dirty="0">
                <a:latin typeface="Calibri" panose="020F0502020204030204" pitchFamily="34" charset="0"/>
                <a:ea typeface="SimHei" charset="-122"/>
                <a:cs typeface="Calibri" panose="020F0502020204030204" pitchFamily="34" charset="0"/>
              </a:rPr>
              <a:t>: </a:t>
            </a:r>
            <a:r>
              <a:rPr lang="en-US" altLang="zh-CN" sz="3600" b="1" dirty="0">
                <a:latin typeface="Calibri" panose="020F0502020204030204" pitchFamily="34" charset="0"/>
                <a:ea typeface="SimHei" charset="-122"/>
                <a:cs typeface="Calibri" panose="020F0502020204030204" pitchFamily="34" charset="0"/>
              </a:rPr>
              <a:t>Large-Scale Communication-Efficient Training of Mixture-of-Experts Models in Production</a:t>
            </a:r>
            <a:endParaRPr lang="en" altLang="zh-CN" sz="3600" b="1" dirty="0">
              <a:latin typeface="Calibri" panose="020F0502020204030204" pitchFamily="34" charset="0"/>
              <a:ea typeface="SimHei" charset="-122"/>
              <a:cs typeface="Calibri" panose="020F0502020204030204" pitchFamily="34" charset="0"/>
            </a:endParaRPr>
          </a:p>
        </p:txBody>
      </p:sp>
      <p:pic>
        <p:nvPicPr>
          <p:cNvPr id="14" name="图片 13">
            <a:extLst>
              <a:ext uri="{FF2B5EF4-FFF2-40B4-BE49-F238E27FC236}">
                <a16:creationId xmlns:a16="http://schemas.microsoft.com/office/drawing/2014/main" id="{FD3239E5-E6C6-5843-AD85-A9A448B25E5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3373" y="5638163"/>
            <a:ext cx="2477779" cy="697118"/>
          </a:xfrm>
          <a:prstGeom prst="rect">
            <a:avLst/>
          </a:prstGeom>
        </p:spPr>
      </p:pic>
      <p:sp>
        <p:nvSpPr>
          <p:cNvPr id="16" name="文本框 15">
            <a:extLst>
              <a:ext uri="{FF2B5EF4-FFF2-40B4-BE49-F238E27FC236}">
                <a16:creationId xmlns:a16="http://schemas.microsoft.com/office/drawing/2014/main" id="{7B02101D-DB82-3AD8-0DBD-7DE8473A2165}"/>
              </a:ext>
            </a:extLst>
          </p:cNvPr>
          <p:cNvSpPr txBox="1"/>
          <p:nvPr/>
        </p:nvSpPr>
        <p:spPr>
          <a:xfrm>
            <a:off x="873777" y="5533551"/>
            <a:ext cx="372795" cy="523220"/>
          </a:xfrm>
          <a:prstGeom prst="rect">
            <a:avLst/>
          </a:prstGeom>
          <a:noFill/>
        </p:spPr>
        <p:txBody>
          <a:bodyPr wrap="square">
            <a:spAutoFit/>
          </a:bodyPr>
          <a:lstStyle/>
          <a:p>
            <a:r>
              <a:rPr lang="en-US" altLang="zh-CN" sz="2800" i="0" u="none" strike="noStrike" cap="none" baseline="30000" dirty="0">
                <a:solidFill>
                  <a:schemeClr val="tx1"/>
                </a:solidFill>
                <a:latin typeface="Calibri" panose="020F0502020204030204" pitchFamily="34" charset="0"/>
                <a:cs typeface="Calibri" panose="020F0502020204030204" pitchFamily="34" charset="0"/>
                <a:sym typeface="Microsoft YaHei"/>
              </a:rPr>
              <a:t>1</a:t>
            </a:r>
            <a:endParaRPr lang="zh-CN" altLang="en-US" sz="2800" dirty="0"/>
          </a:p>
        </p:txBody>
      </p:sp>
      <p:sp>
        <p:nvSpPr>
          <p:cNvPr id="17" name="文本框 16">
            <a:extLst>
              <a:ext uri="{FF2B5EF4-FFF2-40B4-BE49-F238E27FC236}">
                <a16:creationId xmlns:a16="http://schemas.microsoft.com/office/drawing/2014/main" id="{AED3CA85-A890-C249-798C-781A7F697175}"/>
              </a:ext>
            </a:extLst>
          </p:cNvPr>
          <p:cNvSpPr txBox="1"/>
          <p:nvPr/>
        </p:nvSpPr>
        <p:spPr>
          <a:xfrm>
            <a:off x="6494290" y="5533551"/>
            <a:ext cx="372795" cy="523220"/>
          </a:xfrm>
          <a:prstGeom prst="rect">
            <a:avLst/>
          </a:prstGeom>
          <a:noFill/>
        </p:spPr>
        <p:txBody>
          <a:bodyPr wrap="square">
            <a:spAutoFit/>
          </a:bodyPr>
          <a:lstStyle/>
          <a:p>
            <a:r>
              <a:rPr lang="en-US" altLang="zh-CN" sz="2800" baseline="30000" dirty="0">
                <a:latin typeface="Calibri" panose="020F0502020204030204" pitchFamily="34" charset="0"/>
                <a:cs typeface="Calibri" panose="020F0502020204030204" pitchFamily="34" charset="0"/>
                <a:sym typeface="Microsoft YaHei"/>
              </a:rPr>
              <a:t>2</a:t>
            </a:r>
            <a:endParaRPr lang="zh-CN" altLang="en-US" sz="2800" dirty="0"/>
          </a:p>
        </p:txBody>
      </p:sp>
      <p:sp>
        <p:nvSpPr>
          <p:cNvPr id="18" name="灯片编号占位符 17">
            <a:extLst>
              <a:ext uri="{FF2B5EF4-FFF2-40B4-BE49-F238E27FC236}">
                <a16:creationId xmlns:a16="http://schemas.microsoft.com/office/drawing/2014/main" id="{32B23B87-BC48-3247-842A-1BE869E8FFAB}"/>
              </a:ext>
            </a:extLst>
          </p:cNvPr>
          <p:cNvSpPr>
            <a:spLocks noGrp="1"/>
          </p:cNvSpPr>
          <p:nvPr>
            <p:ph type="sldNum" sz="quarter" idx="12"/>
          </p:nvPr>
        </p:nvSpPr>
        <p:spPr/>
        <p:txBody>
          <a:bodyPr/>
          <a:lstStyle/>
          <a:p>
            <a:fld id="{24910F54-69FC-A944-93E9-EFB57972FC5C}" type="slidenum">
              <a:rPr kumimoji="1" lang="zh-CN" altLang="en-US" b="1" smtClean="0">
                <a:latin typeface="Arial" panose="020B0604020202020204" pitchFamily="34" charset="0"/>
                <a:cs typeface="Arial" panose="020B0604020202020204" pitchFamily="34" charset="0"/>
              </a:rPr>
              <a:t>1</a:t>
            </a:fld>
            <a:endParaRPr kumimoji="1" lang="zh-CN" altLang="en-US"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077668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CC230-B9DA-534B-5E50-4B9B80F5319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1677ACA-5FA6-734B-9C3B-68506568F2A3}"/>
              </a:ext>
            </a:extLst>
          </p:cNvPr>
          <p:cNvSpPr>
            <a:spLocks noGrp="1"/>
          </p:cNvSpPr>
          <p:nvPr>
            <p:ph type="ctrTitle"/>
          </p:nvPr>
        </p:nvSpPr>
        <p:spPr>
          <a:xfrm>
            <a:off x="149629" y="182880"/>
            <a:ext cx="11006051" cy="650972"/>
          </a:xfrm>
        </p:spPr>
        <p:txBody>
          <a:bodyPr>
            <a:noAutofit/>
          </a:bodyPr>
          <a:lstStyle/>
          <a:p>
            <a:pPr algn="l">
              <a:lnSpc>
                <a:spcPct val="130000"/>
              </a:lnSpc>
            </a:pPr>
            <a:r>
              <a:rPr lang="en-US" altLang="zh-CN" sz="3600" b="1" dirty="0">
                <a:latin typeface="Calibri" panose="020F0502020204030204" pitchFamily="34" charset="0"/>
                <a:ea typeface="SimHei" charset="-122"/>
                <a:cs typeface="Calibri" panose="020F0502020204030204" pitchFamily="34" charset="0"/>
              </a:rPr>
              <a:t>Scaling for Large Language Models</a:t>
            </a:r>
            <a:endParaRPr lang="en" altLang="zh-CN" sz="3600" b="1" dirty="0">
              <a:latin typeface="Calibri" panose="020F0502020204030204" pitchFamily="34" charset="0"/>
              <a:ea typeface="SimHei" charset="-122"/>
              <a:cs typeface="Calibri" panose="020F0502020204030204" pitchFamily="34" charset="0"/>
            </a:endParaRPr>
          </a:p>
        </p:txBody>
      </p:sp>
      <p:sp>
        <p:nvSpPr>
          <p:cNvPr id="7" name="灯片编号占位符 6">
            <a:extLst>
              <a:ext uri="{FF2B5EF4-FFF2-40B4-BE49-F238E27FC236}">
                <a16:creationId xmlns:a16="http://schemas.microsoft.com/office/drawing/2014/main" id="{28A134C0-C3D0-59F2-EFCC-70B17AA53E40}"/>
              </a:ext>
            </a:extLst>
          </p:cNvPr>
          <p:cNvSpPr>
            <a:spLocks noGrp="1"/>
          </p:cNvSpPr>
          <p:nvPr>
            <p:ph type="sldNum" sz="quarter" idx="12"/>
          </p:nvPr>
        </p:nvSpPr>
        <p:spPr/>
        <p:txBody>
          <a:bodyPr/>
          <a:lstStyle/>
          <a:p>
            <a:fld id="{24910F54-69FC-A944-93E9-EFB57972FC5C}" type="slidenum">
              <a:rPr kumimoji="1" lang="zh-CN" altLang="en-US" smtClean="0"/>
              <a:t>2</a:t>
            </a:fld>
            <a:endParaRPr kumimoji="1" lang="zh-CN" altLang="en-US" dirty="0"/>
          </a:p>
        </p:txBody>
      </p:sp>
      <p:sp>
        <p:nvSpPr>
          <p:cNvPr id="6" name="文本框 5">
            <a:extLst>
              <a:ext uri="{FF2B5EF4-FFF2-40B4-BE49-F238E27FC236}">
                <a16:creationId xmlns:a16="http://schemas.microsoft.com/office/drawing/2014/main" id="{BB75F635-920F-1218-E4BE-61221FBFF595}"/>
              </a:ext>
            </a:extLst>
          </p:cNvPr>
          <p:cNvSpPr txBox="1"/>
          <p:nvPr/>
        </p:nvSpPr>
        <p:spPr>
          <a:xfrm>
            <a:off x="299251" y="1431081"/>
            <a:ext cx="5026728" cy="3995837"/>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altLang="zh-CN" sz="3200" dirty="0">
                <a:latin typeface="Calibri" panose="020F0502020204030204" pitchFamily="34" charset="0"/>
                <a:cs typeface="Calibri" panose="020F0502020204030204" pitchFamily="34" charset="0"/>
              </a:rPr>
              <a:t>LLM Applications</a:t>
            </a:r>
          </a:p>
          <a:p>
            <a:pPr marL="914400" lvl="1" indent="-457200">
              <a:lnSpc>
                <a:spcPct val="150000"/>
              </a:lnSpc>
              <a:buFont typeface="Arial" panose="020B0604020202020204" pitchFamily="34" charset="0"/>
              <a:buChar char="•"/>
            </a:pPr>
            <a:r>
              <a:rPr lang="en-US" altLang="zh-CN" sz="2800" dirty="0">
                <a:latin typeface="Calibri" panose="020F0502020204030204" pitchFamily="34" charset="0"/>
                <a:cs typeface="Calibri" panose="020F0502020204030204" pitchFamily="34" charset="0"/>
              </a:rPr>
              <a:t>conversational assistants</a:t>
            </a:r>
          </a:p>
          <a:p>
            <a:pPr marL="914400" lvl="1" indent="-457200">
              <a:lnSpc>
                <a:spcPct val="150000"/>
              </a:lnSpc>
              <a:buFont typeface="Arial" panose="020B0604020202020204" pitchFamily="34" charset="0"/>
              <a:buChar char="•"/>
            </a:pPr>
            <a:r>
              <a:rPr lang="en-US" altLang="zh-CN" sz="2800" dirty="0">
                <a:latin typeface="Calibri" panose="020F0502020204030204" pitchFamily="34" charset="0"/>
                <a:cs typeface="Calibri" panose="020F0502020204030204" pitchFamily="34" charset="0"/>
              </a:rPr>
              <a:t>code development</a:t>
            </a:r>
          </a:p>
          <a:p>
            <a:pPr marL="914400" lvl="1" indent="-457200">
              <a:lnSpc>
                <a:spcPct val="150000"/>
              </a:lnSpc>
              <a:buFont typeface="Arial" panose="020B0604020202020204" pitchFamily="34" charset="0"/>
              <a:buChar char="•"/>
            </a:pPr>
            <a:r>
              <a:rPr lang="en-US" altLang="zh-CN" sz="2800" dirty="0">
                <a:latin typeface="Calibri" panose="020F0502020204030204" pitchFamily="34" charset="0"/>
                <a:cs typeface="Calibri" panose="020F0502020204030204" pitchFamily="34" charset="0"/>
              </a:rPr>
              <a:t>reasoning</a:t>
            </a:r>
          </a:p>
          <a:p>
            <a:pPr marL="914400" lvl="1" indent="-457200">
              <a:lnSpc>
                <a:spcPct val="150000"/>
              </a:lnSpc>
              <a:buFont typeface="Arial" panose="020B0604020202020204" pitchFamily="34" charset="0"/>
              <a:buChar char="•"/>
            </a:pPr>
            <a:r>
              <a:rPr lang="en-US" altLang="zh-CN" sz="2800" dirty="0">
                <a:latin typeface="Calibri" panose="020F0502020204030204" pitchFamily="34" charset="0"/>
                <a:cs typeface="Calibri" panose="020F0502020204030204" pitchFamily="34" charset="0"/>
              </a:rPr>
              <a:t>tool-augmented agents</a:t>
            </a:r>
          </a:p>
          <a:p>
            <a:pPr marL="914400" lvl="1" indent="-457200">
              <a:lnSpc>
                <a:spcPct val="150000"/>
              </a:lnSpc>
              <a:buFont typeface="Arial" panose="020B0604020202020204" pitchFamily="34" charset="0"/>
              <a:buChar char="•"/>
            </a:pPr>
            <a:r>
              <a:rPr lang="en-US" altLang="zh-CN" sz="2800" dirty="0">
                <a:latin typeface="Calibri" panose="020F0502020204030204" pitchFamily="34" charset="0"/>
                <a:cs typeface="Calibri" panose="020F0502020204030204" pitchFamily="34" charset="0"/>
              </a:rPr>
              <a:t>…</a:t>
            </a:r>
          </a:p>
        </p:txBody>
      </p:sp>
      <p:pic>
        <p:nvPicPr>
          <p:cNvPr id="9224" name="Picture 8" descr="Increase Arrow Images – Browse 1,991,677 Stock Photos, Vectors, and Video |  Adobe Stock">
            <a:extLst>
              <a:ext uri="{FF2B5EF4-FFF2-40B4-BE49-F238E27FC236}">
                <a16:creationId xmlns:a16="http://schemas.microsoft.com/office/drawing/2014/main" id="{F9058FAF-F2E8-C40D-A0C9-8D2ED9CAAB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2420" t="8548" r="11958" b="27778"/>
          <a:stretch>
            <a:fillRect/>
          </a:stretch>
        </p:blipFill>
        <p:spPr bwMode="auto">
          <a:xfrm>
            <a:off x="6373596" y="1304449"/>
            <a:ext cx="2799947" cy="1811202"/>
          </a:xfrm>
          <a:prstGeom prst="rect">
            <a:avLst/>
          </a:prstGeom>
          <a:solidFill>
            <a:schemeClr val="bg1">
              <a:alpha val="0"/>
            </a:schemeClr>
          </a:solidFill>
        </p:spPr>
      </p:pic>
      <p:cxnSp>
        <p:nvCxnSpPr>
          <p:cNvPr id="58" name="直线箭头连接符 39">
            <a:extLst>
              <a:ext uri="{FF2B5EF4-FFF2-40B4-BE49-F238E27FC236}">
                <a16:creationId xmlns:a16="http://schemas.microsoft.com/office/drawing/2014/main" id="{1D7F2E2B-87E6-8DF6-AB28-03CFADD30575}"/>
              </a:ext>
            </a:extLst>
          </p:cNvPr>
          <p:cNvCxnSpPr>
            <a:cxnSpLocks/>
          </p:cNvCxnSpPr>
          <p:nvPr/>
        </p:nvCxnSpPr>
        <p:spPr>
          <a:xfrm>
            <a:off x="6238617" y="5164724"/>
            <a:ext cx="5092274"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9" name="文本框 58">
            <a:extLst>
              <a:ext uri="{FF2B5EF4-FFF2-40B4-BE49-F238E27FC236}">
                <a16:creationId xmlns:a16="http://schemas.microsoft.com/office/drawing/2014/main" id="{7BF1C0B2-75BA-1861-1792-43AB870B17FA}"/>
              </a:ext>
            </a:extLst>
          </p:cNvPr>
          <p:cNvSpPr txBox="1"/>
          <p:nvPr/>
        </p:nvSpPr>
        <p:spPr>
          <a:xfrm>
            <a:off x="11176509" y="4933283"/>
            <a:ext cx="1015491" cy="461665"/>
          </a:xfrm>
          <a:prstGeom prst="rect">
            <a:avLst/>
          </a:prstGeom>
          <a:noFill/>
        </p:spPr>
        <p:txBody>
          <a:bodyPr wrap="square">
            <a:spAutoFit/>
          </a:bodyPr>
          <a:lstStyle/>
          <a:p>
            <a:pPr algn="ctr"/>
            <a:r>
              <a:rPr lang="en-US" altLang="zh-CN" sz="2400" b="1" dirty="0">
                <a:latin typeface="Calibri" panose="020F0502020204030204" pitchFamily="34" charset="0"/>
                <a:cs typeface="Calibri" panose="020F0502020204030204" pitchFamily="34" charset="0"/>
              </a:rPr>
              <a:t>Time</a:t>
            </a:r>
            <a:endParaRPr lang="en-CN" altLang="zh-CN" sz="2400" b="1">
              <a:latin typeface="Calibri" panose="020F0502020204030204" pitchFamily="34" charset="0"/>
              <a:cs typeface="Calibri" panose="020F0502020204030204" pitchFamily="34" charset="0"/>
            </a:endParaRPr>
          </a:p>
        </p:txBody>
      </p:sp>
      <p:sp>
        <p:nvSpPr>
          <p:cNvPr id="60" name="矩形 59">
            <a:extLst>
              <a:ext uri="{FF2B5EF4-FFF2-40B4-BE49-F238E27FC236}">
                <a16:creationId xmlns:a16="http://schemas.microsoft.com/office/drawing/2014/main" id="{9B7C915E-116B-3E00-A720-13B5C79F13D9}"/>
              </a:ext>
            </a:extLst>
          </p:cNvPr>
          <p:cNvSpPr/>
          <p:nvPr/>
        </p:nvSpPr>
        <p:spPr>
          <a:xfrm>
            <a:off x="6509885" y="4320674"/>
            <a:ext cx="1080000" cy="843462"/>
          </a:xfrm>
          <a:prstGeom prst="rect">
            <a:avLst/>
          </a:prstGeom>
          <a:solidFill>
            <a:schemeClr val="bg1"/>
          </a:solidFill>
          <a:ln w="3175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2400" baseline="30000" dirty="0">
              <a:solidFill>
                <a:schemeClr val="tx1"/>
              </a:solidFill>
              <a:latin typeface="Calibri" panose="020F0502020204030204" pitchFamily="34" charset="0"/>
              <a:cs typeface="Calibri" panose="020F0502020204030204" pitchFamily="34" charset="0"/>
            </a:endParaRPr>
          </a:p>
        </p:txBody>
      </p:sp>
      <p:sp>
        <p:nvSpPr>
          <p:cNvPr id="61" name="矩形 60">
            <a:extLst>
              <a:ext uri="{FF2B5EF4-FFF2-40B4-BE49-F238E27FC236}">
                <a16:creationId xmlns:a16="http://schemas.microsoft.com/office/drawing/2014/main" id="{AAAF31CC-6E86-7942-64BD-623F7BB4C6BB}"/>
              </a:ext>
            </a:extLst>
          </p:cNvPr>
          <p:cNvSpPr/>
          <p:nvPr/>
        </p:nvSpPr>
        <p:spPr>
          <a:xfrm>
            <a:off x="7589182" y="3820274"/>
            <a:ext cx="1080000" cy="1343849"/>
          </a:xfrm>
          <a:prstGeom prst="rect">
            <a:avLst/>
          </a:prstGeom>
          <a:solidFill>
            <a:schemeClr val="accent2">
              <a:lumMod val="20000"/>
              <a:lumOff val="80000"/>
            </a:schemeClr>
          </a:solidFill>
          <a:ln w="3175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2400" baseline="30000" dirty="0">
              <a:solidFill>
                <a:schemeClr val="tx1"/>
              </a:solidFill>
              <a:latin typeface="Calibri" panose="020F0502020204030204" pitchFamily="34" charset="0"/>
              <a:cs typeface="Calibri" panose="020F0502020204030204" pitchFamily="34" charset="0"/>
            </a:endParaRPr>
          </a:p>
        </p:txBody>
      </p:sp>
      <p:sp>
        <p:nvSpPr>
          <p:cNvPr id="62" name="矩形 61">
            <a:extLst>
              <a:ext uri="{FF2B5EF4-FFF2-40B4-BE49-F238E27FC236}">
                <a16:creationId xmlns:a16="http://schemas.microsoft.com/office/drawing/2014/main" id="{9526642C-2813-5192-6749-71F6D1E8C835}"/>
              </a:ext>
            </a:extLst>
          </p:cNvPr>
          <p:cNvSpPr/>
          <p:nvPr/>
        </p:nvSpPr>
        <p:spPr>
          <a:xfrm>
            <a:off x="8668479" y="2535074"/>
            <a:ext cx="1080000" cy="2629043"/>
          </a:xfrm>
          <a:prstGeom prst="rect">
            <a:avLst/>
          </a:prstGeom>
          <a:solidFill>
            <a:schemeClr val="accent2">
              <a:lumMod val="40000"/>
              <a:lumOff val="60000"/>
            </a:schemeClr>
          </a:solidFill>
          <a:ln w="3175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2400" dirty="0">
                <a:solidFill>
                  <a:schemeClr val="tx1"/>
                </a:solidFill>
                <a:latin typeface="Calibri" panose="020F0502020204030204" pitchFamily="34" charset="0"/>
                <a:cs typeface="Calibri" panose="020F0502020204030204" pitchFamily="34" charset="0"/>
              </a:rPr>
              <a:t>Deep</a:t>
            </a:r>
          </a:p>
          <a:p>
            <a:pPr algn="ctr"/>
            <a:r>
              <a:rPr kumimoji="1" lang="en-US" altLang="zh-CN" sz="2400" dirty="0">
                <a:solidFill>
                  <a:schemeClr val="tx1"/>
                </a:solidFill>
                <a:latin typeface="Calibri" panose="020F0502020204030204" pitchFamily="34" charset="0"/>
                <a:cs typeface="Calibri" panose="020F0502020204030204" pitchFamily="34" charset="0"/>
              </a:rPr>
              <a:t>Seek-V3</a:t>
            </a:r>
            <a:endParaRPr kumimoji="1" lang="zh-CN" altLang="en-US" sz="2400" baseline="30000" dirty="0">
              <a:solidFill>
                <a:schemeClr val="tx1"/>
              </a:solidFill>
              <a:latin typeface="Calibri" panose="020F0502020204030204" pitchFamily="34" charset="0"/>
              <a:cs typeface="Calibri" panose="020F0502020204030204" pitchFamily="34" charset="0"/>
            </a:endParaRPr>
          </a:p>
        </p:txBody>
      </p:sp>
      <p:sp>
        <p:nvSpPr>
          <p:cNvPr id="63" name="矩形 62">
            <a:extLst>
              <a:ext uri="{FF2B5EF4-FFF2-40B4-BE49-F238E27FC236}">
                <a16:creationId xmlns:a16="http://schemas.microsoft.com/office/drawing/2014/main" id="{8D554CB6-1B33-0C4D-67A3-822E4D4DE4F8}"/>
              </a:ext>
            </a:extLst>
          </p:cNvPr>
          <p:cNvSpPr/>
          <p:nvPr/>
        </p:nvSpPr>
        <p:spPr>
          <a:xfrm>
            <a:off x="9747073" y="1350673"/>
            <a:ext cx="1080000" cy="3813443"/>
          </a:xfrm>
          <a:prstGeom prst="rect">
            <a:avLst/>
          </a:prstGeom>
          <a:solidFill>
            <a:schemeClr val="accent2">
              <a:lumMod val="60000"/>
              <a:lumOff val="40000"/>
            </a:schemeClr>
          </a:solidFill>
          <a:ln w="3175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2400" dirty="0">
                <a:solidFill>
                  <a:schemeClr val="tx1"/>
                </a:solidFill>
                <a:latin typeface="Calibri" panose="020F0502020204030204" pitchFamily="34" charset="0"/>
                <a:cs typeface="Calibri" panose="020F0502020204030204" pitchFamily="34" charset="0"/>
              </a:rPr>
              <a:t>Kimi K2</a:t>
            </a:r>
            <a:endParaRPr kumimoji="1" lang="zh-CN" altLang="en-US" sz="2400" baseline="30000" dirty="0">
              <a:solidFill>
                <a:schemeClr val="tx1"/>
              </a:solidFill>
              <a:latin typeface="Calibri" panose="020F0502020204030204" pitchFamily="34" charset="0"/>
              <a:cs typeface="Calibri" panose="020F0502020204030204" pitchFamily="34" charset="0"/>
            </a:endParaRPr>
          </a:p>
        </p:txBody>
      </p:sp>
      <p:sp>
        <p:nvSpPr>
          <p:cNvPr id="9216" name="标题 1">
            <a:extLst>
              <a:ext uri="{FF2B5EF4-FFF2-40B4-BE49-F238E27FC236}">
                <a16:creationId xmlns:a16="http://schemas.microsoft.com/office/drawing/2014/main" id="{04FADCA1-7117-A17A-3014-AB3C1DAF7D90}"/>
              </a:ext>
            </a:extLst>
          </p:cNvPr>
          <p:cNvSpPr txBox="1">
            <a:spLocks/>
          </p:cNvSpPr>
          <p:nvPr/>
        </p:nvSpPr>
        <p:spPr>
          <a:xfrm>
            <a:off x="7801384" y="5206772"/>
            <a:ext cx="847449" cy="824554"/>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00000"/>
              </a:lnSpc>
            </a:pPr>
            <a:r>
              <a:rPr lang="en-US" altLang="zh-CN" sz="2400" dirty="0">
                <a:latin typeface="Calibri" panose="020F0502020204030204" pitchFamily="34" charset="0"/>
                <a:ea typeface="SimHei" charset="-122"/>
                <a:cs typeface="Calibri" panose="020F0502020204030204" pitchFamily="34" charset="0"/>
              </a:rPr>
              <a:t>2024,</a:t>
            </a:r>
          </a:p>
          <a:p>
            <a:pPr>
              <a:lnSpc>
                <a:spcPct val="100000"/>
              </a:lnSpc>
            </a:pPr>
            <a:r>
              <a:rPr lang="en-US" altLang="zh-CN" sz="2400" dirty="0">
                <a:latin typeface="Calibri" panose="020F0502020204030204" pitchFamily="34" charset="0"/>
                <a:ea typeface="SimHei" charset="-122"/>
                <a:cs typeface="Calibri" panose="020F0502020204030204" pitchFamily="34" charset="0"/>
              </a:rPr>
              <a:t>Mar.</a:t>
            </a:r>
            <a:endParaRPr lang="en" altLang="zh-CN" sz="2400" dirty="0">
              <a:latin typeface="Calibri" panose="020F0502020204030204" pitchFamily="34" charset="0"/>
              <a:ea typeface="SimHei" charset="-122"/>
              <a:cs typeface="Calibri" panose="020F0502020204030204" pitchFamily="34" charset="0"/>
            </a:endParaRPr>
          </a:p>
        </p:txBody>
      </p:sp>
      <p:sp>
        <p:nvSpPr>
          <p:cNvPr id="9217" name="标题 1">
            <a:extLst>
              <a:ext uri="{FF2B5EF4-FFF2-40B4-BE49-F238E27FC236}">
                <a16:creationId xmlns:a16="http://schemas.microsoft.com/office/drawing/2014/main" id="{2A4C7A9C-606A-4AD2-A6E6-C31B4EACA7E9}"/>
              </a:ext>
            </a:extLst>
          </p:cNvPr>
          <p:cNvSpPr txBox="1">
            <a:spLocks/>
          </p:cNvSpPr>
          <p:nvPr/>
        </p:nvSpPr>
        <p:spPr>
          <a:xfrm>
            <a:off x="6621657" y="5307060"/>
            <a:ext cx="847449" cy="356031"/>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30000"/>
              </a:lnSpc>
            </a:pPr>
            <a:r>
              <a:rPr lang="en-US" altLang="zh-CN" sz="2400" dirty="0">
                <a:latin typeface="Calibri" panose="020F0502020204030204" pitchFamily="34" charset="0"/>
                <a:ea typeface="SimHei" charset="-122"/>
                <a:cs typeface="Calibri" panose="020F0502020204030204" pitchFamily="34" charset="0"/>
              </a:rPr>
              <a:t>2020</a:t>
            </a:r>
            <a:endParaRPr lang="en" altLang="zh-CN" sz="2400" dirty="0">
              <a:latin typeface="Calibri" panose="020F0502020204030204" pitchFamily="34" charset="0"/>
              <a:ea typeface="SimHei" charset="-122"/>
              <a:cs typeface="Calibri" panose="020F0502020204030204" pitchFamily="34" charset="0"/>
            </a:endParaRPr>
          </a:p>
        </p:txBody>
      </p:sp>
      <p:sp>
        <p:nvSpPr>
          <p:cNvPr id="9219" name="标题 1">
            <a:extLst>
              <a:ext uri="{FF2B5EF4-FFF2-40B4-BE49-F238E27FC236}">
                <a16:creationId xmlns:a16="http://schemas.microsoft.com/office/drawing/2014/main" id="{70EF52F8-992D-93FD-E4DC-E1D2793D5F81}"/>
              </a:ext>
            </a:extLst>
          </p:cNvPr>
          <p:cNvSpPr txBox="1">
            <a:spLocks/>
          </p:cNvSpPr>
          <p:nvPr/>
        </p:nvSpPr>
        <p:spPr>
          <a:xfrm>
            <a:off x="8879781" y="5206772"/>
            <a:ext cx="847449" cy="824554"/>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00000"/>
              </a:lnSpc>
            </a:pPr>
            <a:r>
              <a:rPr lang="en-US" altLang="zh-CN" sz="2400" dirty="0">
                <a:latin typeface="Calibri" panose="020F0502020204030204" pitchFamily="34" charset="0"/>
                <a:ea typeface="SimHei" charset="-122"/>
                <a:cs typeface="Calibri" panose="020F0502020204030204" pitchFamily="34" charset="0"/>
              </a:rPr>
              <a:t>2024,</a:t>
            </a:r>
          </a:p>
          <a:p>
            <a:pPr>
              <a:lnSpc>
                <a:spcPct val="100000"/>
              </a:lnSpc>
            </a:pPr>
            <a:r>
              <a:rPr lang="en-US" altLang="zh-CN" sz="2400" dirty="0">
                <a:latin typeface="Calibri" panose="020F0502020204030204" pitchFamily="34" charset="0"/>
                <a:ea typeface="SimHei" charset="-122"/>
                <a:cs typeface="Calibri" panose="020F0502020204030204" pitchFamily="34" charset="0"/>
              </a:rPr>
              <a:t>Dec.</a:t>
            </a:r>
            <a:endParaRPr lang="en" altLang="zh-CN" sz="2400" dirty="0">
              <a:latin typeface="Calibri" panose="020F0502020204030204" pitchFamily="34" charset="0"/>
              <a:ea typeface="SimHei" charset="-122"/>
              <a:cs typeface="Calibri" panose="020F0502020204030204" pitchFamily="34" charset="0"/>
            </a:endParaRPr>
          </a:p>
        </p:txBody>
      </p:sp>
      <p:sp>
        <p:nvSpPr>
          <p:cNvPr id="9221" name="标题 1">
            <a:extLst>
              <a:ext uri="{FF2B5EF4-FFF2-40B4-BE49-F238E27FC236}">
                <a16:creationId xmlns:a16="http://schemas.microsoft.com/office/drawing/2014/main" id="{112E1827-41E8-6023-491A-5FED4BA698AA}"/>
              </a:ext>
            </a:extLst>
          </p:cNvPr>
          <p:cNvSpPr txBox="1">
            <a:spLocks/>
          </p:cNvSpPr>
          <p:nvPr/>
        </p:nvSpPr>
        <p:spPr>
          <a:xfrm>
            <a:off x="9958178" y="5206772"/>
            <a:ext cx="847449" cy="824554"/>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00000"/>
              </a:lnSpc>
            </a:pPr>
            <a:r>
              <a:rPr lang="en-US" altLang="zh-CN" sz="2400" dirty="0">
                <a:latin typeface="Calibri" panose="020F0502020204030204" pitchFamily="34" charset="0"/>
                <a:ea typeface="SimHei" charset="-122"/>
                <a:cs typeface="Calibri" panose="020F0502020204030204" pitchFamily="34" charset="0"/>
              </a:rPr>
              <a:t>2025,</a:t>
            </a:r>
          </a:p>
          <a:p>
            <a:pPr>
              <a:lnSpc>
                <a:spcPct val="100000"/>
              </a:lnSpc>
            </a:pPr>
            <a:r>
              <a:rPr lang="en-US" altLang="zh-CN" sz="2400" dirty="0">
                <a:latin typeface="Calibri" panose="020F0502020204030204" pitchFamily="34" charset="0"/>
                <a:ea typeface="SimHei" charset="-122"/>
                <a:cs typeface="Calibri" panose="020F0502020204030204" pitchFamily="34" charset="0"/>
              </a:rPr>
              <a:t>Jul.</a:t>
            </a:r>
            <a:endParaRPr lang="en" altLang="zh-CN" sz="2400" dirty="0">
              <a:latin typeface="Calibri" panose="020F0502020204030204" pitchFamily="34" charset="0"/>
              <a:ea typeface="SimHei" charset="-122"/>
              <a:cs typeface="Calibri" panose="020F0502020204030204" pitchFamily="34" charset="0"/>
            </a:endParaRPr>
          </a:p>
        </p:txBody>
      </p:sp>
      <p:sp>
        <p:nvSpPr>
          <p:cNvPr id="9223" name="标题 1">
            <a:extLst>
              <a:ext uri="{FF2B5EF4-FFF2-40B4-BE49-F238E27FC236}">
                <a16:creationId xmlns:a16="http://schemas.microsoft.com/office/drawing/2014/main" id="{4E324321-67D4-A2BC-1F33-E2F4140A0301}"/>
              </a:ext>
            </a:extLst>
          </p:cNvPr>
          <p:cNvSpPr txBox="1">
            <a:spLocks/>
          </p:cNvSpPr>
          <p:nvPr/>
        </p:nvSpPr>
        <p:spPr>
          <a:xfrm>
            <a:off x="6608360" y="3922596"/>
            <a:ext cx="847449" cy="356031"/>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30000"/>
              </a:lnSpc>
            </a:pPr>
            <a:r>
              <a:rPr lang="en-US" altLang="zh-CN" sz="2400" dirty="0">
                <a:latin typeface="Calibri" panose="020F0502020204030204" pitchFamily="34" charset="0"/>
                <a:ea typeface="SimHei" charset="-122"/>
                <a:cs typeface="Calibri" panose="020F0502020204030204" pitchFamily="34" charset="0"/>
              </a:rPr>
              <a:t>175B</a:t>
            </a:r>
            <a:endParaRPr lang="en" altLang="zh-CN" sz="2400" dirty="0">
              <a:latin typeface="Calibri" panose="020F0502020204030204" pitchFamily="34" charset="0"/>
              <a:ea typeface="SimHei" charset="-122"/>
              <a:cs typeface="Calibri" panose="020F0502020204030204" pitchFamily="34" charset="0"/>
            </a:endParaRPr>
          </a:p>
        </p:txBody>
      </p:sp>
      <p:sp>
        <p:nvSpPr>
          <p:cNvPr id="9225" name="标题 1">
            <a:extLst>
              <a:ext uri="{FF2B5EF4-FFF2-40B4-BE49-F238E27FC236}">
                <a16:creationId xmlns:a16="http://schemas.microsoft.com/office/drawing/2014/main" id="{22990BF7-7D12-3D92-7A4A-9C15B27BABB4}"/>
              </a:ext>
            </a:extLst>
          </p:cNvPr>
          <p:cNvSpPr txBox="1">
            <a:spLocks/>
          </p:cNvSpPr>
          <p:nvPr/>
        </p:nvSpPr>
        <p:spPr>
          <a:xfrm>
            <a:off x="7705106" y="3423515"/>
            <a:ext cx="847449" cy="356031"/>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30000"/>
              </a:lnSpc>
            </a:pPr>
            <a:r>
              <a:rPr lang="en-US" altLang="zh-CN" sz="2400" dirty="0">
                <a:latin typeface="Calibri" panose="020F0502020204030204" pitchFamily="34" charset="0"/>
                <a:ea typeface="SimHei" charset="-122"/>
                <a:cs typeface="Calibri" panose="020F0502020204030204" pitchFamily="34" charset="0"/>
              </a:rPr>
              <a:t>314B</a:t>
            </a:r>
            <a:endParaRPr lang="en" altLang="zh-CN" sz="2400" dirty="0">
              <a:latin typeface="Calibri" panose="020F0502020204030204" pitchFamily="34" charset="0"/>
              <a:ea typeface="SimHei" charset="-122"/>
              <a:cs typeface="Calibri" panose="020F0502020204030204" pitchFamily="34" charset="0"/>
            </a:endParaRPr>
          </a:p>
        </p:txBody>
      </p:sp>
      <p:sp>
        <p:nvSpPr>
          <p:cNvPr id="9226" name="标题 1">
            <a:extLst>
              <a:ext uri="{FF2B5EF4-FFF2-40B4-BE49-F238E27FC236}">
                <a16:creationId xmlns:a16="http://schemas.microsoft.com/office/drawing/2014/main" id="{167C8D20-7C68-CEC3-D599-EF83645FF7E1}"/>
              </a:ext>
            </a:extLst>
          </p:cNvPr>
          <p:cNvSpPr txBox="1">
            <a:spLocks/>
          </p:cNvSpPr>
          <p:nvPr/>
        </p:nvSpPr>
        <p:spPr>
          <a:xfrm>
            <a:off x="8784754" y="2152360"/>
            <a:ext cx="847449" cy="356031"/>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30000"/>
              </a:lnSpc>
            </a:pPr>
            <a:r>
              <a:rPr lang="en-US" altLang="zh-CN" sz="2400" dirty="0">
                <a:latin typeface="Calibri" panose="020F0502020204030204" pitchFamily="34" charset="0"/>
                <a:ea typeface="SimHei" charset="-122"/>
                <a:cs typeface="Calibri" panose="020F0502020204030204" pitchFamily="34" charset="0"/>
              </a:rPr>
              <a:t>671B</a:t>
            </a:r>
            <a:endParaRPr lang="en" altLang="zh-CN" sz="2400" dirty="0">
              <a:latin typeface="Calibri" panose="020F0502020204030204" pitchFamily="34" charset="0"/>
              <a:ea typeface="SimHei" charset="-122"/>
              <a:cs typeface="Calibri" panose="020F0502020204030204" pitchFamily="34" charset="0"/>
            </a:endParaRPr>
          </a:p>
        </p:txBody>
      </p:sp>
      <p:sp>
        <p:nvSpPr>
          <p:cNvPr id="9227" name="标题 1">
            <a:extLst>
              <a:ext uri="{FF2B5EF4-FFF2-40B4-BE49-F238E27FC236}">
                <a16:creationId xmlns:a16="http://schemas.microsoft.com/office/drawing/2014/main" id="{65A81881-FF83-99D4-C831-CDE331605A1E}"/>
              </a:ext>
            </a:extLst>
          </p:cNvPr>
          <p:cNvSpPr txBox="1">
            <a:spLocks/>
          </p:cNvSpPr>
          <p:nvPr/>
        </p:nvSpPr>
        <p:spPr>
          <a:xfrm>
            <a:off x="9863348" y="965410"/>
            <a:ext cx="847449" cy="356031"/>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30000"/>
              </a:lnSpc>
            </a:pPr>
            <a:r>
              <a:rPr lang="en-US" altLang="zh-CN" sz="2400" dirty="0">
                <a:latin typeface="Calibri" panose="020F0502020204030204" pitchFamily="34" charset="0"/>
                <a:ea typeface="SimHei" charset="-122"/>
                <a:cs typeface="Calibri" panose="020F0502020204030204" pitchFamily="34" charset="0"/>
              </a:rPr>
              <a:t>1T</a:t>
            </a:r>
            <a:endParaRPr lang="en" altLang="zh-CN" sz="2400" dirty="0">
              <a:latin typeface="Calibri" panose="020F0502020204030204" pitchFamily="34" charset="0"/>
              <a:ea typeface="SimHei" charset="-122"/>
              <a:cs typeface="Calibri" panose="020F0502020204030204" pitchFamily="34" charset="0"/>
            </a:endParaRPr>
          </a:p>
        </p:txBody>
      </p:sp>
      <p:pic>
        <p:nvPicPr>
          <p:cNvPr id="9228" name="图片 9227">
            <a:extLst>
              <a:ext uri="{FF2B5EF4-FFF2-40B4-BE49-F238E27FC236}">
                <a16:creationId xmlns:a16="http://schemas.microsoft.com/office/drawing/2014/main" id="{5FD42011-B00A-1C60-DE2F-E6F60BAD452C}"/>
              </a:ext>
            </a:extLst>
          </p:cNvPr>
          <p:cNvPicPr>
            <a:picLocks noChangeAspect="1"/>
          </p:cNvPicPr>
          <p:nvPr/>
        </p:nvPicPr>
        <p:blipFill>
          <a:blip r:embed="rId4"/>
          <a:stretch>
            <a:fillRect/>
          </a:stretch>
        </p:blipFill>
        <p:spPr>
          <a:xfrm>
            <a:off x="8954765" y="2618647"/>
            <a:ext cx="532027" cy="532027"/>
          </a:xfrm>
          <a:prstGeom prst="rect">
            <a:avLst/>
          </a:prstGeom>
        </p:spPr>
      </p:pic>
      <p:pic>
        <p:nvPicPr>
          <p:cNvPr id="9229" name="Picture 2" descr="Moonshot AI · GitHub">
            <a:extLst>
              <a:ext uri="{FF2B5EF4-FFF2-40B4-BE49-F238E27FC236}">
                <a16:creationId xmlns:a16="http://schemas.microsoft.com/office/drawing/2014/main" id="{7B90D544-2109-CF1A-9611-9B8586009E9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38493" y="2092457"/>
            <a:ext cx="526190" cy="526190"/>
          </a:xfrm>
          <a:prstGeom prst="rect">
            <a:avLst/>
          </a:prstGeom>
          <a:noFill/>
          <a:extLst>
            <a:ext uri="{909E8E84-426E-40DD-AFC4-6F175D3DCCD1}">
              <a14:hiddenFill xmlns:a14="http://schemas.microsoft.com/office/drawing/2010/main">
                <a:solidFill>
                  <a:srgbClr val="FFFFFF"/>
                </a:solidFill>
              </a14:hiddenFill>
            </a:ext>
          </a:extLst>
        </p:spPr>
      </p:pic>
      <p:pic>
        <p:nvPicPr>
          <p:cNvPr id="9230" name="Picture 4" descr="xAI (Grok) workflow action - Workflow Automation App for HubSpot | HubSpot">
            <a:extLst>
              <a:ext uri="{FF2B5EF4-FFF2-40B4-BE49-F238E27FC236}">
                <a16:creationId xmlns:a16="http://schemas.microsoft.com/office/drawing/2014/main" id="{87C8F016-F299-9F21-9DE1-2AECDA8ED89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17211" y="3867465"/>
            <a:ext cx="461254" cy="461254"/>
          </a:xfrm>
          <a:prstGeom prst="rect">
            <a:avLst/>
          </a:prstGeom>
          <a:noFill/>
          <a:extLst>
            <a:ext uri="{909E8E84-426E-40DD-AFC4-6F175D3DCCD1}">
              <a14:hiddenFill xmlns:a14="http://schemas.microsoft.com/office/drawing/2010/main">
                <a:solidFill>
                  <a:srgbClr val="FFFFFF"/>
                </a:solidFill>
              </a14:hiddenFill>
            </a:ext>
          </a:extLst>
        </p:spPr>
      </p:pic>
      <p:sp>
        <p:nvSpPr>
          <p:cNvPr id="9231" name="标题 1">
            <a:extLst>
              <a:ext uri="{FF2B5EF4-FFF2-40B4-BE49-F238E27FC236}">
                <a16:creationId xmlns:a16="http://schemas.microsoft.com/office/drawing/2014/main" id="{909219B8-6A63-37F0-2034-64813C9AE18E}"/>
              </a:ext>
            </a:extLst>
          </p:cNvPr>
          <p:cNvSpPr txBox="1">
            <a:spLocks/>
          </p:cNvSpPr>
          <p:nvPr/>
        </p:nvSpPr>
        <p:spPr>
          <a:xfrm>
            <a:off x="7620862" y="4487795"/>
            <a:ext cx="1057943" cy="356031"/>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30000"/>
              </a:lnSpc>
            </a:pPr>
            <a:r>
              <a:rPr lang="en-US" altLang="zh-CN" sz="2400" dirty="0">
                <a:latin typeface="Calibri" panose="020F0502020204030204" pitchFamily="34" charset="0"/>
                <a:ea typeface="SimHei" charset="-122"/>
                <a:cs typeface="Calibri" panose="020F0502020204030204" pitchFamily="34" charset="0"/>
              </a:rPr>
              <a:t>Grok-1</a:t>
            </a:r>
            <a:endParaRPr lang="en" altLang="zh-CN" sz="2400" dirty="0">
              <a:latin typeface="Calibri" panose="020F0502020204030204" pitchFamily="34" charset="0"/>
              <a:ea typeface="SimHei" charset="-122"/>
              <a:cs typeface="Calibri" panose="020F0502020204030204" pitchFamily="34" charset="0"/>
            </a:endParaRPr>
          </a:p>
        </p:txBody>
      </p:sp>
      <p:pic>
        <p:nvPicPr>
          <p:cNvPr id="9232" name="Picture 6" descr="OpenAI revenue, valuation &amp; funding | Sacra">
            <a:extLst>
              <a:ext uri="{FF2B5EF4-FFF2-40B4-BE49-F238E27FC236}">
                <a16:creationId xmlns:a16="http://schemas.microsoft.com/office/drawing/2014/main" id="{EC2EEEA4-5C83-1337-7DCE-E8E30A71068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32107" y="4368582"/>
            <a:ext cx="439319" cy="439319"/>
          </a:xfrm>
          <a:prstGeom prst="rect">
            <a:avLst/>
          </a:prstGeom>
          <a:noFill/>
          <a:extLst>
            <a:ext uri="{909E8E84-426E-40DD-AFC4-6F175D3DCCD1}">
              <a14:hiddenFill xmlns:a14="http://schemas.microsoft.com/office/drawing/2010/main">
                <a:solidFill>
                  <a:srgbClr val="FFFFFF"/>
                </a:solidFill>
              </a14:hiddenFill>
            </a:ext>
          </a:extLst>
        </p:spPr>
      </p:pic>
      <p:sp>
        <p:nvSpPr>
          <p:cNvPr id="9233" name="标题 1">
            <a:extLst>
              <a:ext uri="{FF2B5EF4-FFF2-40B4-BE49-F238E27FC236}">
                <a16:creationId xmlns:a16="http://schemas.microsoft.com/office/drawing/2014/main" id="{F104DB9D-BE49-E5C9-A497-ED248CEEFEE7}"/>
              </a:ext>
            </a:extLst>
          </p:cNvPr>
          <p:cNvSpPr txBox="1">
            <a:spLocks/>
          </p:cNvSpPr>
          <p:nvPr/>
        </p:nvSpPr>
        <p:spPr>
          <a:xfrm>
            <a:off x="6525002" y="4820568"/>
            <a:ext cx="1057943" cy="356031"/>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30000"/>
              </a:lnSpc>
            </a:pPr>
            <a:r>
              <a:rPr lang="en-US" altLang="zh-CN" sz="2400" dirty="0">
                <a:latin typeface="Calibri" panose="020F0502020204030204" pitchFamily="34" charset="0"/>
                <a:ea typeface="SimHei" charset="-122"/>
                <a:cs typeface="Calibri" panose="020F0502020204030204" pitchFamily="34" charset="0"/>
              </a:rPr>
              <a:t>GPT-3</a:t>
            </a:r>
            <a:endParaRPr lang="en" altLang="zh-CN" sz="2400" dirty="0">
              <a:latin typeface="Calibri" panose="020F0502020204030204" pitchFamily="34" charset="0"/>
              <a:ea typeface="SimHei" charset="-122"/>
              <a:cs typeface="Calibri" panose="020F0502020204030204" pitchFamily="34" charset="0"/>
            </a:endParaRPr>
          </a:p>
        </p:txBody>
      </p:sp>
      <p:pic>
        <p:nvPicPr>
          <p:cNvPr id="4" name="图片 3">
            <a:extLst>
              <a:ext uri="{FF2B5EF4-FFF2-40B4-BE49-F238E27FC236}">
                <a16:creationId xmlns:a16="http://schemas.microsoft.com/office/drawing/2014/main" id="{1FD30CF0-9006-43C7-1ED0-081BB5247940}"/>
              </a:ext>
            </a:extLst>
          </p:cNvPr>
          <p:cNvPicPr>
            <a:picLocks noChangeAspect="1"/>
          </p:cNvPicPr>
          <p:nvPr/>
        </p:nvPicPr>
        <p:blipFill>
          <a:blip r:embed="rId8"/>
          <a:stretch>
            <a:fillRect/>
          </a:stretch>
        </p:blipFill>
        <p:spPr>
          <a:xfrm>
            <a:off x="9433687" y="331968"/>
            <a:ext cx="2743200" cy="387856"/>
          </a:xfrm>
          <a:prstGeom prst="rect">
            <a:avLst/>
          </a:prstGeom>
        </p:spPr>
      </p:pic>
      <p:pic>
        <p:nvPicPr>
          <p:cNvPr id="8" name="图片 7">
            <a:extLst>
              <a:ext uri="{FF2B5EF4-FFF2-40B4-BE49-F238E27FC236}">
                <a16:creationId xmlns:a16="http://schemas.microsoft.com/office/drawing/2014/main" id="{7263133E-F905-719D-F0C8-B2D9C59A2838}"/>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927450" y="335419"/>
            <a:ext cx="1366300" cy="384405"/>
          </a:xfrm>
          <a:prstGeom prst="rect">
            <a:avLst/>
          </a:prstGeom>
        </p:spPr>
      </p:pic>
    </p:spTree>
    <p:extLst>
      <p:ext uri="{BB962C8B-B14F-4D97-AF65-F5344CB8AC3E}">
        <p14:creationId xmlns:p14="http://schemas.microsoft.com/office/powerpoint/2010/main" val="1108733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224"/>
                                        </p:tgtEl>
                                        <p:attrNameLst>
                                          <p:attrName>style.visibility</p:attrName>
                                        </p:attrNameLst>
                                      </p:cBhvr>
                                      <p:to>
                                        <p:strVal val="visible"/>
                                      </p:to>
                                    </p:set>
                                    <p:animEffect transition="in" filter="blinds(horizontal)">
                                      <p:cBhvr>
                                        <p:cTn id="7" dur="500"/>
                                        <p:tgtEl>
                                          <p:spTgt spid="9224"/>
                                        </p:tgtEl>
                                      </p:cBhvr>
                                    </p:animEffect>
                                  </p:childTnLst>
                                </p:cTn>
                              </p:par>
                              <p:par>
                                <p:cTn id="8" presetID="3" presetClass="entr" presetSubtype="10" fill="hold" nodeType="withEffect">
                                  <p:stCondLst>
                                    <p:cond delay="0"/>
                                  </p:stCondLst>
                                  <p:childTnLst>
                                    <p:set>
                                      <p:cBhvr>
                                        <p:cTn id="9" dur="1" fill="hold">
                                          <p:stCondLst>
                                            <p:cond delay="0"/>
                                          </p:stCondLst>
                                        </p:cTn>
                                        <p:tgtEl>
                                          <p:spTgt spid="58"/>
                                        </p:tgtEl>
                                        <p:attrNameLst>
                                          <p:attrName>style.visibility</p:attrName>
                                        </p:attrNameLst>
                                      </p:cBhvr>
                                      <p:to>
                                        <p:strVal val="visible"/>
                                      </p:to>
                                    </p:set>
                                    <p:animEffect transition="in" filter="blinds(horizontal)">
                                      <p:cBhvr>
                                        <p:cTn id="10" dur="500"/>
                                        <p:tgtEl>
                                          <p:spTgt spid="58"/>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59"/>
                                        </p:tgtEl>
                                        <p:attrNameLst>
                                          <p:attrName>style.visibility</p:attrName>
                                        </p:attrNameLst>
                                      </p:cBhvr>
                                      <p:to>
                                        <p:strVal val="visible"/>
                                      </p:to>
                                    </p:set>
                                    <p:animEffect transition="in" filter="blinds(horizontal)">
                                      <p:cBhvr>
                                        <p:cTn id="13" dur="500"/>
                                        <p:tgtEl>
                                          <p:spTgt spid="59"/>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60"/>
                                        </p:tgtEl>
                                        <p:attrNameLst>
                                          <p:attrName>style.visibility</p:attrName>
                                        </p:attrNameLst>
                                      </p:cBhvr>
                                      <p:to>
                                        <p:strVal val="visible"/>
                                      </p:to>
                                    </p:set>
                                    <p:animEffect transition="in" filter="blinds(horizontal)">
                                      <p:cBhvr>
                                        <p:cTn id="16" dur="500"/>
                                        <p:tgtEl>
                                          <p:spTgt spid="60"/>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61"/>
                                        </p:tgtEl>
                                        <p:attrNameLst>
                                          <p:attrName>style.visibility</p:attrName>
                                        </p:attrNameLst>
                                      </p:cBhvr>
                                      <p:to>
                                        <p:strVal val="visible"/>
                                      </p:to>
                                    </p:set>
                                    <p:animEffect transition="in" filter="blinds(horizontal)">
                                      <p:cBhvr>
                                        <p:cTn id="19" dur="500"/>
                                        <p:tgtEl>
                                          <p:spTgt spid="61"/>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62"/>
                                        </p:tgtEl>
                                        <p:attrNameLst>
                                          <p:attrName>style.visibility</p:attrName>
                                        </p:attrNameLst>
                                      </p:cBhvr>
                                      <p:to>
                                        <p:strVal val="visible"/>
                                      </p:to>
                                    </p:set>
                                    <p:animEffect transition="in" filter="blinds(horizontal)">
                                      <p:cBhvr>
                                        <p:cTn id="22" dur="500"/>
                                        <p:tgtEl>
                                          <p:spTgt spid="62"/>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63"/>
                                        </p:tgtEl>
                                        <p:attrNameLst>
                                          <p:attrName>style.visibility</p:attrName>
                                        </p:attrNameLst>
                                      </p:cBhvr>
                                      <p:to>
                                        <p:strVal val="visible"/>
                                      </p:to>
                                    </p:set>
                                    <p:animEffect transition="in" filter="blinds(horizontal)">
                                      <p:cBhvr>
                                        <p:cTn id="25" dur="500"/>
                                        <p:tgtEl>
                                          <p:spTgt spid="63"/>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9216"/>
                                        </p:tgtEl>
                                        <p:attrNameLst>
                                          <p:attrName>style.visibility</p:attrName>
                                        </p:attrNameLst>
                                      </p:cBhvr>
                                      <p:to>
                                        <p:strVal val="visible"/>
                                      </p:to>
                                    </p:set>
                                    <p:animEffect transition="in" filter="blinds(horizontal)">
                                      <p:cBhvr>
                                        <p:cTn id="28" dur="500"/>
                                        <p:tgtEl>
                                          <p:spTgt spid="9216"/>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9217"/>
                                        </p:tgtEl>
                                        <p:attrNameLst>
                                          <p:attrName>style.visibility</p:attrName>
                                        </p:attrNameLst>
                                      </p:cBhvr>
                                      <p:to>
                                        <p:strVal val="visible"/>
                                      </p:to>
                                    </p:set>
                                    <p:animEffect transition="in" filter="blinds(horizontal)">
                                      <p:cBhvr>
                                        <p:cTn id="31" dur="500"/>
                                        <p:tgtEl>
                                          <p:spTgt spid="9217"/>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9219"/>
                                        </p:tgtEl>
                                        <p:attrNameLst>
                                          <p:attrName>style.visibility</p:attrName>
                                        </p:attrNameLst>
                                      </p:cBhvr>
                                      <p:to>
                                        <p:strVal val="visible"/>
                                      </p:to>
                                    </p:set>
                                    <p:animEffect transition="in" filter="blinds(horizontal)">
                                      <p:cBhvr>
                                        <p:cTn id="34" dur="500"/>
                                        <p:tgtEl>
                                          <p:spTgt spid="9219"/>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9221"/>
                                        </p:tgtEl>
                                        <p:attrNameLst>
                                          <p:attrName>style.visibility</p:attrName>
                                        </p:attrNameLst>
                                      </p:cBhvr>
                                      <p:to>
                                        <p:strVal val="visible"/>
                                      </p:to>
                                    </p:set>
                                    <p:animEffect transition="in" filter="blinds(horizontal)">
                                      <p:cBhvr>
                                        <p:cTn id="37" dur="500"/>
                                        <p:tgtEl>
                                          <p:spTgt spid="9221"/>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9223"/>
                                        </p:tgtEl>
                                        <p:attrNameLst>
                                          <p:attrName>style.visibility</p:attrName>
                                        </p:attrNameLst>
                                      </p:cBhvr>
                                      <p:to>
                                        <p:strVal val="visible"/>
                                      </p:to>
                                    </p:set>
                                    <p:animEffect transition="in" filter="blinds(horizontal)">
                                      <p:cBhvr>
                                        <p:cTn id="40" dur="500"/>
                                        <p:tgtEl>
                                          <p:spTgt spid="9223"/>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9225"/>
                                        </p:tgtEl>
                                        <p:attrNameLst>
                                          <p:attrName>style.visibility</p:attrName>
                                        </p:attrNameLst>
                                      </p:cBhvr>
                                      <p:to>
                                        <p:strVal val="visible"/>
                                      </p:to>
                                    </p:set>
                                    <p:animEffect transition="in" filter="blinds(horizontal)">
                                      <p:cBhvr>
                                        <p:cTn id="43" dur="500"/>
                                        <p:tgtEl>
                                          <p:spTgt spid="9225"/>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9226"/>
                                        </p:tgtEl>
                                        <p:attrNameLst>
                                          <p:attrName>style.visibility</p:attrName>
                                        </p:attrNameLst>
                                      </p:cBhvr>
                                      <p:to>
                                        <p:strVal val="visible"/>
                                      </p:to>
                                    </p:set>
                                    <p:animEffect transition="in" filter="blinds(horizontal)">
                                      <p:cBhvr>
                                        <p:cTn id="46" dur="500"/>
                                        <p:tgtEl>
                                          <p:spTgt spid="9226"/>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9227"/>
                                        </p:tgtEl>
                                        <p:attrNameLst>
                                          <p:attrName>style.visibility</p:attrName>
                                        </p:attrNameLst>
                                      </p:cBhvr>
                                      <p:to>
                                        <p:strVal val="visible"/>
                                      </p:to>
                                    </p:set>
                                    <p:animEffect transition="in" filter="blinds(horizontal)">
                                      <p:cBhvr>
                                        <p:cTn id="49" dur="500"/>
                                        <p:tgtEl>
                                          <p:spTgt spid="9227"/>
                                        </p:tgtEl>
                                      </p:cBhvr>
                                    </p:animEffect>
                                  </p:childTnLst>
                                </p:cTn>
                              </p:par>
                              <p:par>
                                <p:cTn id="50" presetID="3" presetClass="entr" presetSubtype="10" fill="hold" nodeType="withEffect">
                                  <p:stCondLst>
                                    <p:cond delay="0"/>
                                  </p:stCondLst>
                                  <p:childTnLst>
                                    <p:set>
                                      <p:cBhvr>
                                        <p:cTn id="51" dur="1" fill="hold">
                                          <p:stCondLst>
                                            <p:cond delay="0"/>
                                          </p:stCondLst>
                                        </p:cTn>
                                        <p:tgtEl>
                                          <p:spTgt spid="9228"/>
                                        </p:tgtEl>
                                        <p:attrNameLst>
                                          <p:attrName>style.visibility</p:attrName>
                                        </p:attrNameLst>
                                      </p:cBhvr>
                                      <p:to>
                                        <p:strVal val="visible"/>
                                      </p:to>
                                    </p:set>
                                    <p:animEffect transition="in" filter="blinds(horizontal)">
                                      <p:cBhvr>
                                        <p:cTn id="52" dur="500"/>
                                        <p:tgtEl>
                                          <p:spTgt spid="9228"/>
                                        </p:tgtEl>
                                      </p:cBhvr>
                                    </p:animEffect>
                                  </p:childTnLst>
                                </p:cTn>
                              </p:par>
                              <p:par>
                                <p:cTn id="53" presetID="3" presetClass="entr" presetSubtype="10" fill="hold" nodeType="withEffect">
                                  <p:stCondLst>
                                    <p:cond delay="0"/>
                                  </p:stCondLst>
                                  <p:childTnLst>
                                    <p:set>
                                      <p:cBhvr>
                                        <p:cTn id="54" dur="1" fill="hold">
                                          <p:stCondLst>
                                            <p:cond delay="0"/>
                                          </p:stCondLst>
                                        </p:cTn>
                                        <p:tgtEl>
                                          <p:spTgt spid="9229"/>
                                        </p:tgtEl>
                                        <p:attrNameLst>
                                          <p:attrName>style.visibility</p:attrName>
                                        </p:attrNameLst>
                                      </p:cBhvr>
                                      <p:to>
                                        <p:strVal val="visible"/>
                                      </p:to>
                                    </p:set>
                                    <p:animEffect transition="in" filter="blinds(horizontal)">
                                      <p:cBhvr>
                                        <p:cTn id="55" dur="500"/>
                                        <p:tgtEl>
                                          <p:spTgt spid="9229"/>
                                        </p:tgtEl>
                                      </p:cBhvr>
                                    </p:animEffect>
                                  </p:childTnLst>
                                </p:cTn>
                              </p:par>
                              <p:par>
                                <p:cTn id="56" presetID="3" presetClass="entr" presetSubtype="10" fill="hold" nodeType="withEffect">
                                  <p:stCondLst>
                                    <p:cond delay="0"/>
                                  </p:stCondLst>
                                  <p:childTnLst>
                                    <p:set>
                                      <p:cBhvr>
                                        <p:cTn id="57" dur="1" fill="hold">
                                          <p:stCondLst>
                                            <p:cond delay="0"/>
                                          </p:stCondLst>
                                        </p:cTn>
                                        <p:tgtEl>
                                          <p:spTgt spid="9230"/>
                                        </p:tgtEl>
                                        <p:attrNameLst>
                                          <p:attrName>style.visibility</p:attrName>
                                        </p:attrNameLst>
                                      </p:cBhvr>
                                      <p:to>
                                        <p:strVal val="visible"/>
                                      </p:to>
                                    </p:set>
                                    <p:animEffect transition="in" filter="blinds(horizontal)">
                                      <p:cBhvr>
                                        <p:cTn id="58" dur="500"/>
                                        <p:tgtEl>
                                          <p:spTgt spid="9230"/>
                                        </p:tgtEl>
                                      </p:cBhvr>
                                    </p:animEffect>
                                  </p:childTnLst>
                                </p:cTn>
                              </p:par>
                              <p:par>
                                <p:cTn id="59" presetID="3" presetClass="entr" presetSubtype="10" fill="hold" grpId="0" nodeType="withEffect">
                                  <p:stCondLst>
                                    <p:cond delay="0"/>
                                  </p:stCondLst>
                                  <p:childTnLst>
                                    <p:set>
                                      <p:cBhvr>
                                        <p:cTn id="60" dur="1" fill="hold">
                                          <p:stCondLst>
                                            <p:cond delay="0"/>
                                          </p:stCondLst>
                                        </p:cTn>
                                        <p:tgtEl>
                                          <p:spTgt spid="9231"/>
                                        </p:tgtEl>
                                        <p:attrNameLst>
                                          <p:attrName>style.visibility</p:attrName>
                                        </p:attrNameLst>
                                      </p:cBhvr>
                                      <p:to>
                                        <p:strVal val="visible"/>
                                      </p:to>
                                    </p:set>
                                    <p:animEffect transition="in" filter="blinds(horizontal)">
                                      <p:cBhvr>
                                        <p:cTn id="61" dur="500"/>
                                        <p:tgtEl>
                                          <p:spTgt spid="9231"/>
                                        </p:tgtEl>
                                      </p:cBhvr>
                                    </p:animEffect>
                                  </p:childTnLst>
                                </p:cTn>
                              </p:par>
                              <p:par>
                                <p:cTn id="62" presetID="3" presetClass="entr" presetSubtype="10" fill="hold" nodeType="withEffect">
                                  <p:stCondLst>
                                    <p:cond delay="0"/>
                                  </p:stCondLst>
                                  <p:childTnLst>
                                    <p:set>
                                      <p:cBhvr>
                                        <p:cTn id="63" dur="1" fill="hold">
                                          <p:stCondLst>
                                            <p:cond delay="0"/>
                                          </p:stCondLst>
                                        </p:cTn>
                                        <p:tgtEl>
                                          <p:spTgt spid="9232"/>
                                        </p:tgtEl>
                                        <p:attrNameLst>
                                          <p:attrName>style.visibility</p:attrName>
                                        </p:attrNameLst>
                                      </p:cBhvr>
                                      <p:to>
                                        <p:strVal val="visible"/>
                                      </p:to>
                                    </p:set>
                                    <p:animEffect transition="in" filter="blinds(horizontal)">
                                      <p:cBhvr>
                                        <p:cTn id="64" dur="500"/>
                                        <p:tgtEl>
                                          <p:spTgt spid="9232"/>
                                        </p:tgtEl>
                                      </p:cBhvr>
                                    </p:animEffect>
                                  </p:childTnLst>
                                </p:cTn>
                              </p:par>
                              <p:par>
                                <p:cTn id="65" presetID="3" presetClass="entr" presetSubtype="10" fill="hold" grpId="0" nodeType="withEffect">
                                  <p:stCondLst>
                                    <p:cond delay="0"/>
                                  </p:stCondLst>
                                  <p:childTnLst>
                                    <p:set>
                                      <p:cBhvr>
                                        <p:cTn id="66" dur="1" fill="hold">
                                          <p:stCondLst>
                                            <p:cond delay="0"/>
                                          </p:stCondLst>
                                        </p:cTn>
                                        <p:tgtEl>
                                          <p:spTgt spid="9233"/>
                                        </p:tgtEl>
                                        <p:attrNameLst>
                                          <p:attrName>style.visibility</p:attrName>
                                        </p:attrNameLst>
                                      </p:cBhvr>
                                      <p:to>
                                        <p:strVal val="visible"/>
                                      </p:to>
                                    </p:set>
                                    <p:animEffect transition="in" filter="blinds(horizontal)">
                                      <p:cBhvr>
                                        <p:cTn id="67" dur="500"/>
                                        <p:tgtEl>
                                          <p:spTgt spid="92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P spid="60" grpId="0" animBg="1"/>
      <p:bldP spid="61" grpId="0" animBg="1"/>
      <p:bldP spid="62" grpId="0" animBg="1"/>
      <p:bldP spid="63" grpId="0" animBg="1"/>
      <p:bldP spid="9216" grpId="0"/>
      <p:bldP spid="9217" grpId="0"/>
      <p:bldP spid="9219" grpId="0"/>
      <p:bldP spid="9221" grpId="0"/>
      <p:bldP spid="9223" grpId="0"/>
      <p:bldP spid="9225" grpId="0"/>
      <p:bldP spid="9226" grpId="0"/>
      <p:bldP spid="9227" grpId="0"/>
      <p:bldP spid="9231" grpId="0"/>
      <p:bldP spid="923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B6702-AA2E-39F1-3A19-7A4CAF0676D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78C7673-C2AE-7397-1FEB-537683B306DA}"/>
              </a:ext>
            </a:extLst>
          </p:cNvPr>
          <p:cNvSpPr>
            <a:spLocks noGrp="1"/>
          </p:cNvSpPr>
          <p:nvPr>
            <p:ph type="ctrTitle"/>
          </p:nvPr>
        </p:nvSpPr>
        <p:spPr>
          <a:xfrm>
            <a:off x="149629" y="182880"/>
            <a:ext cx="11006051" cy="650972"/>
          </a:xfrm>
        </p:spPr>
        <p:txBody>
          <a:bodyPr>
            <a:noAutofit/>
          </a:bodyPr>
          <a:lstStyle/>
          <a:p>
            <a:pPr algn="l">
              <a:lnSpc>
                <a:spcPct val="130000"/>
              </a:lnSpc>
            </a:pPr>
            <a:r>
              <a:rPr lang="en-US" altLang="zh-CN" sz="3600" b="1" dirty="0">
                <a:latin typeface="Calibri" panose="020F0502020204030204" pitchFamily="34" charset="0"/>
                <a:ea typeface="SimHei" charset="-122"/>
                <a:cs typeface="Calibri" panose="020F0502020204030204" pitchFamily="34" charset="0"/>
              </a:rPr>
              <a:t>Mixture-of-Experts (</a:t>
            </a:r>
            <a:r>
              <a:rPr lang="en-US" altLang="zh-CN" sz="3600" b="1" dirty="0" err="1">
                <a:latin typeface="Calibri" panose="020F0502020204030204" pitchFamily="34" charset="0"/>
                <a:ea typeface="SimHei" charset="-122"/>
                <a:cs typeface="Calibri" panose="020F0502020204030204" pitchFamily="34" charset="0"/>
              </a:rPr>
              <a:t>MoE</a:t>
            </a:r>
            <a:r>
              <a:rPr lang="en-US" altLang="zh-CN" sz="3600" b="1" dirty="0">
                <a:latin typeface="Calibri" panose="020F0502020204030204" pitchFamily="34" charset="0"/>
                <a:ea typeface="SimHei" charset="-122"/>
                <a:cs typeface="Calibri" panose="020F0502020204030204" pitchFamily="34" charset="0"/>
              </a:rPr>
              <a:t>)</a:t>
            </a:r>
            <a:endParaRPr lang="en" altLang="zh-CN" sz="3600" b="1" dirty="0">
              <a:latin typeface="Calibri" panose="020F0502020204030204" pitchFamily="34" charset="0"/>
              <a:ea typeface="SimHei" charset="-122"/>
              <a:cs typeface="Calibri" panose="020F0502020204030204" pitchFamily="34" charset="0"/>
            </a:endParaRPr>
          </a:p>
        </p:txBody>
      </p:sp>
      <p:sp>
        <p:nvSpPr>
          <p:cNvPr id="7" name="灯片编号占位符 6">
            <a:extLst>
              <a:ext uri="{FF2B5EF4-FFF2-40B4-BE49-F238E27FC236}">
                <a16:creationId xmlns:a16="http://schemas.microsoft.com/office/drawing/2014/main" id="{6EAB680B-F4AF-CAEF-DC39-8CE76BFFEA5B}"/>
              </a:ext>
            </a:extLst>
          </p:cNvPr>
          <p:cNvSpPr>
            <a:spLocks noGrp="1"/>
          </p:cNvSpPr>
          <p:nvPr>
            <p:ph type="sldNum" sz="quarter" idx="12"/>
          </p:nvPr>
        </p:nvSpPr>
        <p:spPr/>
        <p:txBody>
          <a:bodyPr/>
          <a:lstStyle/>
          <a:p>
            <a:fld id="{24910F54-69FC-A944-93E9-EFB57972FC5C}" type="slidenum">
              <a:rPr kumimoji="1" lang="zh-CN" altLang="en-US" smtClean="0"/>
              <a:t>3</a:t>
            </a:fld>
            <a:endParaRPr kumimoji="1" lang="zh-CN" altLang="en-US" dirty="0"/>
          </a:p>
        </p:txBody>
      </p:sp>
      <p:sp>
        <p:nvSpPr>
          <p:cNvPr id="5" name="标题 1">
            <a:extLst>
              <a:ext uri="{FF2B5EF4-FFF2-40B4-BE49-F238E27FC236}">
                <a16:creationId xmlns:a16="http://schemas.microsoft.com/office/drawing/2014/main" id="{A4A378FA-F4D0-4540-AE45-346E860F4934}"/>
              </a:ext>
            </a:extLst>
          </p:cNvPr>
          <p:cNvSpPr txBox="1">
            <a:spLocks/>
          </p:cNvSpPr>
          <p:nvPr/>
        </p:nvSpPr>
        <p:spPr>
          <a:xfrm>
            <a:off x="1382945" y="1025768"/>
            <a:ext cx="1326026" cy="650972"/>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30000"/>
              </a:lnSpc>
            </a:pPr>
            <a:r>
              <a:rPr lang="en-US" altLang="zh-CN" sz="3200" dirty="0">
                <a:latin typeface="Calibri" panose="020F0502020204030204" pitchFamily="34" charset="0"/>
                <a:ea typeface="SimHei" charset="-122"/>
                <a:cs typeface="Calibri" panose="020F0502020204030204" pitchFamily="34" charset="0"/>
              </a:rPr>
              <a:t>Dense</a:t>
            </a:r>
            <a:endParaRPr lang="en" altLang="zh-CN" sz="3200" dirty="0">
              <a:latin typeface="Calibri" panose="020F0502020204030204" pitchFamily="34" charset="0"/>
              <a:ea typeface="SimHei" charset="-122"/>
              <a:cs typeface="Calibri" panose="020F0502020204030204" pitchFamily="34" charset="0"/>
            </a:endParaRPr>
          </a:p>
        </p:txBody>
      </p:sp>
      <p:pic>
        <p:nvPicPr>
          <p:cNvPr id="11" name="图片 10">
            <a:extLst>
              <a:ext uri="{FF2B5EF4-FFF2-40B4-BE49-F238E27FC236}">
                <a16:creationId xmlns:a16="http://schemas.microsoft.com/office/drawing/2014/main" id="{685C9C95-1DDE-83FB-5BE6-7E907247883C}"/>
              </a:ext>
            </a:extLst>
          </p:cNvPr>
          <p:cNvPicPr>
            <a:picLocks noChangeAspect="1"/>
          </p:cNvPicPr>
          <p:nvPr/>
        </p:nvPicPr>
        <p:blipFill>
          <a:blip r:embed="rId3"/>
          <a:stretch>
            <a:fillRect/>
          </a:stretch>
        </p:blipFill>
        <p:spPr>
          <a:xfrm>
            <a:off x="585864" y="1868656"/>
            <a:ext cx="4205287" cy="3930326"/>
          </a:xfrm>
          <a:prstGeom prst="rect">
            <a:avLst/>
          </a:prstGeom>
        </p:spPr>
      </p:pic>
      <p:sp>
        <p:nvSpPr>
          <p:cNvPr id="12" name="标题 1">
            <a:extLst>
              <a:ext uri="{FF2B5EF4-FFF2-40B4-BE49-F238E27FC236}">
                <a16:creationId xmlns:a16="http://schemas.microsoft.com/office/drawing/2014/main" id="{D39CC910-B9DC-4C32-A08C-5211260C145D}"/>
              </a:ext>
            </a:extLst>
          </p:cNvPr>
          <p:cNvSpPr txBox="1">
            <a:spLocks/>
          </p:cNvSpPr>
          <p:nvPr/>
        </p:nvSpPr>
        <p:spPr>
          <a:xfrm>
            <a:off x="5093570" y="3182847"/>
            <a:ext cx="754389" cy="650972"/>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30000"/>
              </a:lnSpc>
            </a:pPr>
            <a:r>
              <a:rPr lang="en-US" altLang="zh-CN" sz="3200" dirty="0">
                <a:latin typeface="Calibri" panose="020F0502020204030204" pitchFamily="34" charset="0"/>
                <a:ea typeface="SimHei" charset="-122"/>
                <a:cs typeface="Calibri" panose="020F0502020204030204" pitchFamily="34" charset="0"/>
              </a:rPr>
              <a:t>vs.</a:t>
            </a:r>
            <a:endParaRPr lang="en" altLang="zh-CN" sz="3200" dirty="0">
              <a:latin typeface="Calibri" panose="020F0502020204030204" pitchFamily="34" charset="0"/>
              <a:ea typeface="SimHei" charset="-122"/>
              <a:cs typeface="Calibri" panose="020F0502020204030204" pitchFamily="34" charset="0"/>
            </a:endParaRPr>
          </a:p>
        </p:txBody>
      </p:sp>
      <p:sp>
        <p:nvSpPr>
          <p:cNvPr id="13" name="标题 1">
            <a:extLst>
              <a:ext uri="{FF2B5EF4-FFF2-40B4-BE49-F238E27FC236}">
                <a16:creationId xmlns:a16="http://schemas.microsoft.com/office/drawing/2014/main" id="{DE560C75-3677-A4C2-4378-A630CFBEA1A7}"/>
              </a:ext>
            </a:extLst>
          </p:cNvPr>
          <p:cNvSpPr txBox="1">
            <a:spLocks/>
          </p:cNvSpPr>
          <p:nvPr/>
        </p:nvSpPr>
        <p:spPr>
          <a:xfrm>
            <a:off x="8322397" y="1025768"/>
            <a:ext cx="1023376" cy="650972"/>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30000"/>
              </a:lnSpc>
            </a:pPr>
            <a:r>
              <a:rPr lang="en-US" altLang="zh-CN" sz="3200" dirty="0" err="1">
                <a:latin typeface="Calibri" panose="020F0502020204030204" pitchFamily="34" charset="0"/>
                <a:ea typeface="SimHei" charset="-122"/>
                <a:cs typeface="Calibri" panose="020F0502020204030204" pitchFamily="34" charset="0"/>
              </a:rPr>
              <a:t>MoE</a:t>
            </a:r>
            <a:endParaRPr lang="en" altLang="zh-CN" sz="3200" dirty="0">
              <a:latin typeface="Calibri" panose="020F0502020204030204" pitchFamily="34" charset="0"/>
              <a:ea typeface="SimHei" charset="-122"/>
              <a:cs typeface="Calibri" panose="020F0502020204030204" pitchFamily="34" charset="0"/>
            </a:endParaRPr>
          </a:p>
        </p:txBody>
      </p:sp>
      <p:pic>
        <p:nvPicPr>
          <p:cNvPr id="15" name="图片 14">
            <a:extLst>
              <a:ext uri="{FF2B5EF4-FFF2-40B4-BE49-F238E27FC236}">
                <a16:creationId xmlns:a16="http://schemas.microsoft.com/office/drawing/2014/main" id="{02AD88AE-518F-A3E4-706A-CFA60A1832F8}"/>
              </a:ext>
            </a:extLst>
          </p:cNvPr>
          <p:cNvPicPr>
            <a:picLocks noChangeAspect="1"/>
          </p:cNvPicPr>
          <p:nvPr/>
        </p:nvPicPr>
        <p:blipFill>
          <a:blip r:embed="rId4"/>
          <a:stretch>
            <a:fillRect/>
          </a:stretch>
        </p:blipFill>
        <p:spPr>
          <a:xfrm>
            <a:off x="6150378" y="1868657"/>
            <a:ext cx="5505638" cy="3930326"/>
          </a:xfrm>
          <a:prstGeom prst="rect">
            <a:avLst/>
          </a:prstGeom>
        </p:spPr>
      </p:pic>
      <p:pic>
        <p:nvPicPr>
          <p:cNvPr id="4" name="图片 3">
            <a:extLst>
              <a:ext uri="{FF2B5EF4-FFF2-40B4-BE49-F238E27FC236}">
                <a16:creationId xmlns:a16="http://schemas.microsoft.com/office/drawing/2014/main" id="{3D5144D9-DB78-FE8C-B702-05B930962C6E}"/>
              </a:ext>
            </a:extLst>
          </p:cNvPr>
          <p:cNvPicPr>
            <a:picLocks noChangeAspect="1"/>
          </p:cNvPicPr>
          <p:nvPr/>
        </p:nvPicPr>
        <p:blipFill>
          <a:blip r:embed="rId5"/>
          <a:stretch>
            <a:fillRect/>
          </a:stretch>
        </p:blipFill>
        <p:spPr>
          <a:xfrm>
            <a:off x="9433687" y="331968"/>
            <a:ext cx="2743200" cy="387856"/>
          </a:xfrm>
          <a:prstGeom prst="rect">
            <a:avLst/>
          </a:prstGeom>
        </p:spPr>
      </p:pic>
      <p:pic>
        <p:nvPicPr>
          <p:cNvPr id="6" name="图片 5">
            <a:extLst>
              <a:ext uri="{FF2B5EF4-FFF2-40B4-BE49-F238E27FC236}">
                <a16:creationId xmlns:a16="http://schemas.microsoft.com/office/drawing/2014/main" id="{E3CA41D8-DD5C-CF61-4826-8FCD32CA87E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927450" y="335419"/>
            <a:ext cx="1366300" cy="384405"/>
          </a:xfrm>
          <a:prstGeom prst="rect">
            <a:avLst/>
          </a:prstGeom>
        </p:spPr>
      </p:pic>
    </p:spTree>
    <p:extLst>
      <p:ext uri="{BB962C8B-B14F-4D97-AF65-F5344CB8AC3E}">
        <p14:creationId xmlns:p14="http://schemas.microsoft.com/office/powerpoint/2010/main" val="1427428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ppt_x"/>
                                          </p:val>
                                        </p:tav>
                                        <p:tav tm="100000">
                                          <p:val>
                                            <p:strVal val="#ppt_x"/>
                                          </p:val>
                                        </p:tav>
                                      </p:tavLst>
                                    </p:anim>
                                    <p:anim calcmode="lin" valueType="num">
                                      <p:cBhvr additive="base">
                                        <p:cTn id="1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3FD86-2699-ADCC-64E0-7B86A985BB5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32C373E-7C97-123B-6154-C2D6F3BBCA5D}"/>
              </a:ext>
            </a:extLst>
          </p:cNvPr>
          <p:cNvSpPr>
            <a:spLocks noGrp="1"/>
          </p:cNvSpPr>
          <p:nvPr>
            <p:ph type="ctrTitle"/>
          </p:nvPr>
        </p:nvSpPr>
        <p:spPr>
          <a:xfrm>
            <a:off x="149629" y="182880"/>
            <a:ext cx="11006051" cy="650972"/>
          </a:xfrm>
        </p:spPr>
        <p:txBody>
          <a:bodyPr>
            <a:noAutofit/>
          </a:bodyPr>
          <a:lstStyle/>
          <a:p>
            <a:pPr algn="l">
              <a:lnSpc>
                <a:spcPct val="130000"/>
              </a:lnSpc>
            </a:pPr>
            <a:r>
              <a:rPr lang="en-US" altLang="zh-CN" sz="3600" b="1" dirty="0">
                <a:latin typeface="Calibri" panose="020F0502020204030204" pitchFamily="34" charset="0"/>
                <a:ea typeface="SimHei" charset="-122"/>
                <a:cs typeface="Calibri" panose="020F0502020204030204" pitchFamily="34" charset="0"/>
              </a:rPr>
              <a:t>Communication Bottleneck </a:t>
            </a:r>
            <a:endParaRPr lang="en" altLang="zh-CN" sz="3600" b="1" dirty="0">
              <a:latin typeface="Calibri" panose="020F0502020204030204" pitchFamily="34" charset="0"/>
              <a:ea typeface="SimHei" charset="-122"/>
              <a:cs typeface="Calibri" panose="020F0502020204030204" pitchFamily="34" charset="0"/>
            </a:endParaRPr>
          </a:p>
        </p:txBody>
      </p:sp>
      <p:sp>
        <p:nvSpPr>
          <p:cNvPr id="7" name="灯片编号占位符 6">
            <a:extLst>
              <a:ext uri="{FF2B5EF4-FFF2-40B4-BE49-F238E27FC236}">
                <a16:creationId xmlns:a16="http://schemas.microsoft.com/office/drawing/2014/main" id="{9C66A335-7CB9-81C8-9425-E00150E15019}"/>
              </a:ext>
            </a:extLst>
          </p:cNvPr>
          <p:cNvSpPr>
            <a:spLocks noGrp="1"/>
          </p:cNvSpPr>
          <p:nvPr>
            <p:ph type="sldNum" sz="quarter" idx="12"/>
          </p:nvPr>
        </p:nvSpPr>
        <p:spPr/>
        <p:txBody>
          <a:bodyPr/>
          <a:lstStyle/>
          <a:p>
            <a:fld id="{24910F54-69FC-A944-93E9-EFB57972FC5C}" type="slidenum">
              <a:rPr kumimoji="1" lang="zh-CN" altLang="en-US" smtClean="0"/>
              <a:t>4</a:t>
            </a:fld>
            <a:endParaRPr kumimoji="1" lang="zh-CN" altLang="en-US" dirty="0"/>
          </a:p>
        </p:txBody>
      </p:sp>
      <p:sp>
        <p:nvSpPr>
          <p:cNvPr id="9" name="Rectangle 10">
            <a:extLst>
              <a:ext uri="{FF2B5EF4-FFF2-40B4-BE49-F238E27FC236}">
                <a16:creationId xmlns:a16="http://schemas.microsoft.com/office/drawing/2014/main" id="{58B53288-7957-F2C1-35FD-2AB7E51E3596}"/>
              </a:ext>
            </a:extLst>
          </p:cNvPr>
          <p:cNvSpPr/>
          <p:nvPr/>
        </p:nvSpPr>
        <p:spPr>
          <a:xfrm>
            <a:off x="2616458" y="3044195"/>
            <a:ext cx="8784000" cy="1195097"/>
          </a:xfrm>
          <a:prstGeom prst="rect">
            <a:avLst/>
          </a:prstGeom>
          <a:solidFill>
            <a:schemeClr val="bg1"/>
          </a:solidFill>
          <a:ln w="381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0" name="Rectangle 10">
            <a:extLst>
              <a:ext uri="{FF2B5EF4-FFF2-40B4-BE49-F238E27FC236}">
                <a16:creationId xmlns:a16="http://schemas.microsoft.com/office/drawing/2014/main" id="{A7E10E94-1F00-765E-F396-E5D5080E8691}"/>
              </a:ext>
            </a:extLst>
          </p:cNvPr>
          <p:cNvSpPr/>
          <p:nvPr/>
        </p:nvSpPr>
        <p:spPr>
          <a:xfrm>
            <a:off x="2841396" y="3355416"/>
            <a:ext cx="1850721" cy="557049"/>
          </a:xfrm>
          <a:prstGeom prst="roundRect">
            <a:avLst/>
          </a:prstGeom>
          <a:solidFill>
            <a:schemeClr val="tx2">
              <a:lumMod val="10000"/>
              <a:lumOff val="9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tx1"/>
                </a:solidFill>
                <a:latin typeface="Arial" panose="020B0604020202020204" pitchFamily="34" charset="0"/>
                <a:cs typeface="Arial" panose="020B0604020202020204" pitchFamily="34" charset="0"/>
              </a:rPr>
              <a:t>Attention</a:t>
            </a:r>
            <a:endParaRPr lang="en-CN" sz="2800" b="1">
              <a:solidFill>
                <a:schemeClr val="tx1"/>
              </a:solidFill>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8468649A-CBBB-7EA4-A008-AAB433D3D2F7}"/>
              </a:ext>
            </a:extLst>
          </p:cNvPr>
          <p:cNvSpPr/>
          <p:nvPr/>
        </p:nvSpPr>
        <p:spPr>
          <a:xfrm>
            <a:off x="4970135" y="3433522"/>
            <a:ext cx="1233154" cy="400835"/>
          </a:xfrm>
          <a:prstGeom prst="roundRect">
            <a:avLst/>
          </a:prstGeom>
          <a:solidFill>
            <a:schemeClr val="accent2">
              <a:lumMod val="60000"/>
              <a:lumOff val="4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tx1"/>
                </a:solidFill>
                <a:latin typeface="Arial" panose="020B0604020202020204" pitchFamily="34" charset="0"/>
                <a:cs typeface="Arial" panose="020B0604020202020204" pitchFamily="34" charset="0"/>
              </a:rPr>
              <a:t>Router</a:t>
            </a:r>
            <a:endParaRPr lang="en-CN" sz="2400" b="1">
              <a:solidFill>
                <a:schemeClr val="tx1"/>
              </a:solidFill>
              <a:latin typeface="Arial" panose="020B0604020202020204" pitchFamily="34" charset="0"/>
              <a:cs typeface="Arial" panose="020B0604020202020204" pitchFamily="34" charset="0"/>
            </a:endParaRPr>
          </a:p>
        </p:txBody>
      </p:sp>
      <p:sp>
        <p:nvSpPr>
          <p:cNvPr id="12" name="Rectangle 10">
            <a:extLst>
              <a:ext uri="{FF2B5EF4-FFF2-40B4-BE49-F238E27FC236}">
                <a16:creationId xmlns:a16="http://schemas.microsoft.com/office/drawing/2014/main" id="{3EDF3226-5159-E231-D03B-EABB8BFF17E5}"/>
              </a:ext>
            </a:extLst>
          </p:cNvPr>
          <p:cNvSpPr/>
          <p:nvPr/>
        </p:nvSpPr>
        <p:spPr>
          <a:xfrm>
            <a:off x="7677464" y="3160844"/>
            <a:ext cx="1682859" cy="389139"/>
          </a:xfrm>
          <a:prstGeom prst="roundRect">
            <a:avLst/>
          </a:prstGeom>
          <a:solidFill>
            <a:srgbClr val="FCB5B6"/>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tx1"/>
                </a:solidFill>
                <a:latin typeface="Arial" panose="020B0604020202020204" pitchFamily="34" charset="0"/>
                <a:cs typeface="Arial" panose="020B0604020202020204" pitchFamily="34" charset="0"/>
              </a:rPr>
              <a:t>Expert 0</a:t>
            </a:r>
            <a:endParaRPr lang="en-CN" sz="2800" b="1">
              <a:solidFill>
                <a:schemeClr val="tx1"/>
              </a:solidFill>
              <a:latin typeface="Arial" panose="020B0604020202020204" pitchFamily="34" charset="0"/>
              <a:cs typeface="Arial" panose="020B0604020202020204" pitchFamily="34" charset="0"/>
            </a:endParaRPr>
          </a:p>
        </p:txBody>
      </p:sp>
      <p:sp>
        <p:nvSpPr>
          <p:cNvPr id="13" name="Rectangle 10">
            <a:extLst>
              <a:ext uri="{FF2B5EF4-FFF2-40B4-BE49-F238E27FC236}">
                <a16:creationId xmlns:a16="http://schemas.microsoft.com/office/drawing/2014/main" id="{390453F1-9E79-7D1A-29B2-A7EAFD572555}"/>
              </a:ext>
            </a:extLst>
          </p:cNvPr>
          <p:cNvSpPr/>
          <p:nvPr/>
        </p:nvSpPr>
        <p:spPr>
          <a:xfrm>
            <a:off x="10868296" y="3435939"/>
            <a:ext cx="396000" cy="396000"/>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ial" panose="020B0604020202020204" pitchFamily="34" charset="0"/>
                <a:cs typeface="Arial" panose="020B0604020202020204" pitchFamily="34" charset="0"/>
              </a:rPr>
              <a:t>+</a:t>
            </a:r>
            <a:endParaRPr lang="en-CN" sz="2800" b="1">
              <a:solidFill>
                <a:schemeClr val="tx1"/>
              </a:solidFill>
              <a:latin typeface="Arial" panose="020B0604020202020204" pitchFamily="34" charset="0"/>
              <a:cs typeface="Arial" panose="020B0604020202020204" pitchFamily="34" charset="0"/>
            </a:endParaRPr>
          </a:p>
        </p:txBody>
      </p:sp>
      <p:sp>
        <p:nvSpPr>
          <p:cNvPr id="14" name="Rectangle 10">
            <a:extLst>
              <a:ext uri="{FF2B5EF4-FFF2-40B4-BE49-F238E27FC236}">
                <a16:creationId xmlns:a16="http://schemas.microsoft.com/office/drawing/2014/main" id="{02E64ABD-D76A-B644-FE19-B5EF6F65CAB6}"/>
              </a:ext>
            </a:extLst>
          </p:cNvPr>
          <p:cNvSpPr/>
          <p:nvPr/>
        </p:nvSpPr>
        <p:spPr>
          <a:xfrm>
            <a:off x="1776414" y="3355413"/>
            <a:ext cx="583842" cy="557049"/>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2">
                    <a:lumMod val="75000"/>
                    <a:lumOff val="25000"/>
                  </a:schemeClr>
                </a:solidFill>
                <a:latin typeface="Arial" panose="020B0604020202020204" pitchFamily="34" charset="0"/>
                <a:cs typeface="Arial" panose="020B0604020202020204" pitchFamily="34" charset="0"/>
              </a:rPr>
              <a:t>A</a:t>
            </a:r>
            <a:endParaRPr lang="en-CN" sz="2800" b="1">
              <a:solidFill>
                <a:schemeClr val="tx2">
                  <a:lumMod val="75000"/>
                  <a:lumOff val="25000"/>
                </a:schemeClr>
              </a:solidFill>
              <a:latin typeface="Arial" panose="020B0604020202020204" pitchFamily="34" charset="0"/>
              <a:cs typeface="Arial" panose="020B0604020202020204" pitchFamily="34" charset="0"/>
            </a:endParaRPr>
          </a:p>
        </p:txBody>
      </p:sp>
      <p:pic>
        <p:nvPicPr>
          <p:cNvPr id="15" name="图片 14">
            <a:extLst>
              <a:ext uri="{FF2B5EF4-FFF2-40B4-BE49-F238E27FC236}">
                <a16:creationId xmlns:a16="http://schemas.microsoft.com/office/drawing/2014/main" id="{28C9ED11-424D-31DA-5018-829A16F2B217}"/>
              </a:ext>
            </a:extLst>
          </p:cNvPr>
          <p:cNvPicPr>
            <a:picLocks noChangeAspect="1"/>
          </p:cNvPicPr>
          <p:nvPr/>
        </p:nvPicPr>
        <p:blipFill>
          <a:blip r:embed="rId3"/>
          <a:stretch>
            <a:fillRect/>
          </a:stretch>
        </p:blipFill>
        <p:spPr>
          <a:xfrm>
            <a:off x="508075" y="3249342"/>
            <a:ext cx="784800" cy="784800"/>
          </a:xfrm>
          <a:prstGeom prst="rect">
            <a:avLst/>
          </a:prstGeom>
        </p:spPr>
      </p:pic>
      <p:sp>
        <p:nvSpPr>
          <p:cNvPr id="16" name="Rectangle 10">
            <a:extLst>
              <a:ext uri="{FF2B5EF4-FFF2-40B4-BE49-F238E27FC236}">
                <a16:creationId xmlns:a16="http://schemas.microsoft.com/office/drawing/2014/main" id="{C2A810CB-2DD6-BCA4-30FE-A6F24367423E}"/>
              </a:ext>
            </a:extLst>
          </p:cNvPr>
          <p:cNvSpPr/>
          <p:nvPr/>
        </p:nvSpPr>
        <p:spPr>
          <a:xfrm>
            <a:off x="7668121" y="3749498"/>
            <a:ext cx="1682859" cy="389139"/>
          </a:xfrm>
          <a:prstGeom prst="roundRect">
            <a:avLst/>
          </a:prstGeom>
          <a:solidFill>
            <a:srgbClr val="FCB5B6"/>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tx1"/>
                </a:solidFill>
                <a:latin typeface="Arial" panose="020B0604020202020204" pitchFamily="34" charset="0"/>
                <a:cs typeface="Arial" panose="020B0604020202020204" pitchFamily="34" charset="0"/>
              </a:rPr>
              <a:t>Expert 1</a:t>
            </a:r>
            <a:endParaRPr lang="en-CN" sz="2800" b="1">
              <a:solidFill>
                <a:schemeClr val="tx1"/>
              </a:solidFill>
              <a:latin typeface="Arial" panose="020B0604020202020204" pitchFamily="34" charset="0"/>
              <a:cs typeface="Arial" panose="020B0604020202020204" pitchFamily="34" charset="0"/>
            </a:endParaRPr>
          </a:p>
        </p:txBody>
      </p:sp>
      <p:cxnSp>
        <p:nvCxnSpPr>
          <p:cNvPr id="17" name="直线箭头连接符 39">
            <a:extLst>
              <a:ext uri="{FF2B5EF4-FFF2-40B4-BE49-F238E27FC236}">
                <a16:creationId xmlns:a16="http://schemas.microsoft.com/office/drawing/2014/main" id="{0EA34730-7DB8-42A5-5714-30E2405AF04A}"/>
              </a:ext>
            </a:extLst>
          </p:cNvPr>
          <p:cNvCxnSpPr>
            <a:cxnSpLocks/>
            <a:stCxn id="10" idx="3"/>
            <a:endCxn id="11" idx="1"/>
          </p:cNvCxnSpPr>
          <p:nvPr/>
        </p:nvCxnSpPr>
        <p:spPr>
          <a:xfrm flipV="1">
            <a:off x="4692117" y="3633940"/>
            <a:ext cx="278018" cy="1"/>
          </a:xfrm>
          <a:prstGeom prst="straightConnector1">
            <a:avLst/>
          </a:prstGeom>
          <a:ln w="50800">
            <a:solidFill>
              <a:schemeClr val="tx2">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线箭头连接符 39">
            <a:extLst>
              <a:ext uri="{FF2B5EF4-FFF2-40B4-BE49-F238E27FC236}">
                <a16:creationId xmlns:a16="http://schemas.microsoft.com/office/drawing/2014/main" id="{185BCC25-9854-43C3-4ACF-3AEC1BADC95A}"/>
              </a:ext>
            </a:extLst>
          </p:cNvPr>
          <p:cNvCxnSpPr>
            <a:cxnSpLocks/>
            <a:stCxn id="11" idx="3"/>
          </p:cNvCxnSpPr>
          <p:nvPr/>
        </p:nvCxnSpPr>
        <p:spPr>
          <a:xfrm flipV="1">
            <a:off x="6203289" y="3633939"/>
            <a:ext cx="278018" cy="1"/>
          </a:xfrm>
          <a:prstGeom prst="straightConnector1">
            <a:avLst/>
          </a:prstGeom>
          <a:ln w="50800">
            <a:solidFill>
              <a:schemeClr val="tx2">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线箭头连接符 39">
            <a:extLst>
              <a:ext uri="{FF2B5EF4-FFF2-40B4-BE49-F238E27FC236}">
                <a16:creationId xmlns:a16="http://schemas.microsoft.com/office/drawing/2014/main" id="{CE292C76-EEF6-2AAD-94D1-8CC949B3CCA6}"/>
              </a:ext>
            </a:extLst>
          </p:cNvPr>
          <p:cNvCxnSpPr>
            <a:cxnSpLocks/>
            <a:endCxn id="12" idx="1"/>
          </p:cNvCxnSpPr>
          <p:nvPr/>
        </p:nvCxnSpPr>
        <p:spPr>
          <a:xfrm flipV="1">
            <a:off x="7268640" y="3355414"/>
            <a:ext cx="408824" cy="286328"/>
          </a:xfrm>
          <a:prstGeom prst="straightConnector1">
            <a:avLst/>
          </a:prstGeom>
          <a:ln w="50800">
            <a:solidFill>
              <a:schemeClr val="tx2">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0">
            <a:extLst>
              <a:ext uri="{FF2B5EF4-FFF2-40B4-BE49-F238E27FC236}">
                <a16:creationId xmlns:a16="http://schemas.microsoft.com/office/drawing/2014/main" id="{EC2E0031-FC12-F19D-9EA2-4C7CB96C7470}"/>
              </a:ext>
            </a:extLst>
          </p:cNvPr>
          <p:cNvSpPr/>
          <p:nvPr/>
        </p:nvSpPr>
        <p:spPr>
          <a:xfrm>
            <a:off x="2616457" y="4829036"/>
            <a:ext cx="8784000" cy="1195097"/>
          </a:xfrm>
          <a:prstGeom prst="rect">
            <a:avLst/>
          </a:prstGeom>
          <a:solidFill>
            <a:schemeClr val="bg1"/>
          </a:solidFill>
          <a:ln w="381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1" name="Rectangle 10">
            <a:extLst>
              <a:ext uri="{FF2B5EF4-FFF2-40B4-BE49-F238E27FC236}">
                <a16:creationId xmlns:a16="http://schemas.microsoft.com/office/drawing/2014/main" id="{40DC2CE1-6960-1671-320F-AF559AC8B7FF}"/>
              </a:ext>
            </a:extLst>
          </p:cNvPr>
          <p:cNvSpPr/>
          <p:nvPr/>
        </p:nvSpPr>
        <p:spPr>
          <a:xfrm>
            <a:off x="2841396" y="5140257"/>
            <a:ext cx="1850721" cy="557049"/>
          </a:xfrm>
          <a:prstGeom prst="roundRect">
            <a:avLst/>
          </a:prstGeom>
          <a:solidFill>
            <a:schemeClr val="tx2">
              <a:lumMod val="10000"/>
              <a:lumOff val="9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tx1"/>
                </a:solidFill>
                <a:latin typeface="Arial" panose="020B0604020202020204" pitchFamily="34" charset="0"/>
                <a:cs typeface="Arial" panose="020B0604020202020204" pitchFamily="34" charset="0"/>
              </a:rPr>
              <a:t>Attention</a:t>
            </a:r>
            <a:endParaRPr lang="en-CN" sz="2800" b="1">
              <a:solidFill>
                <a:schemeClr val="tx1"/>
              </a:solidFill>
              <a:latin typeface="Arial" panose="020B0604020202020204" pitchFamily="34" charset="0"/>
              <a:cs typeface="Arial" panose="020B0604020202020204" pitchFamily="34" charset="0"/>
            </a:endParaRPr>
          </a:p>
        </p:txBody>
      </p:sp>
      <p:sp>
        <p:nvSpPr>
          <p:cNvPr id="22" name="Rectangle 10">
            <a:extLst>
              <a:ext uri="{FF2B5EF4-FFF2-40B4-BE49-F238E27FC236}">
                <a16:creationId xmlns:a16="http://schemas.microsoft.com/office/drawing/2014/main" id="{C8818E23-07C6-3221-ED24-17C4D3C6496B}"/>
              </a:ext>
            </a:extLst>
          </p:cNvPr>
          <p:cNvSpPr/>
          <p:nvPr/>
        </p:nvSpPr>
        <p:spPr>
          <a:xfrm>
            <a:off x="4970135" y="5218363"/>
            <a:ext cx="1233154" cy="400835"/>
          </a:xfrm>
          <a:prstGeom prst="roundRect">
            <a:avLst/>
          </a:prstGeom>
          <a:solidFill>
            <a:schemeClr val="accent2">
              <a:lumMod val="60000"/>
              <a:lumOff val="4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tx1"/>
                </a:solidFill>
                <a:latin typeface="Arial" panose="020B0604020202020204" pitchFamily="34" charset="0"/>
                <a:cs typeface="Arial" panose="020B0604020202020204" pitchFamily="34" charset="0"/>
              </a:rPr>
              <a:t>Router</a:t>
            </a:r>
            <a:endParaRPr lang="en-CN" sz="2400" b="1">
              <a:solidFill>
                <a:schemeClr val="tx1"/>
              </a:solidFill>
              <a:latin typeface="Arial" panose="020B0604020202020204" pitchFamily="34" charset="0"/>
              <a:cs typeface="Arial" panose="020B0604020202020204" pitchFamily="34" charset="0"/>
            </a:endParaRPr>
          </a:p>
        </p:txBody>
      </p:sp>
      <p:sp>
        <p:nvSpPr>
          <p:cNvPr id="23" name="Rectangle 10">
            <a:extLst>
              <a:ext uri="{FF2B5EF4-FFF2-40B4-BE49-F238E27FC236}">
                <a16:creationId xmlns:a16="http://schemas.microsoft.com/office/drawing/2014/main" id="{9A2E1783-7CF8-C5C4-4CA3-12887D4EF78F}"/>
              </a:ext>
            </a:extLst>
          </p:cNvPr>
          <p:cNvSpPr/>
          <p:nvPr/>
        </p:nvSpPr>
        <p:spPr>
          <a:xfrm>
            <a:off x="7677464" y="4945685"/>
            <a:ext cx="1682859" cy="389139"/>
          </a:xfrm>
          <a:prstGeom prst="roundRect">
            <a:avLst/>
          </a:prstGeom>
          <a:solidFill>
            <a:srgbClr val="FCB5B6"/>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tx1"/>
                </a:solidFill>
                <a:latin typeface="Arial" panose="020B0604020202020204" pitchFamily="34" charset="0"/>
                <a:cs typeface="Arial" panose="020B0604020202020204" pitchFamily="34" charset="0"/>
              </a:rPr>
              <a:t>Expert 2</a:t>
            </a:r>
            <a:endParaRPr lang="en-CN" sz="2800" b="1">
              <a:solidFill>
                <a:schemeClr val="tx1"/>
              </a:solidFill>
              <a:latin typeface="Arial" panose="020B0604020202020204" pitchFamily="34" charset="0"/>
              <a:cs typeface="Arial" panose="020B0604020202020204" pitchFamily="34" charset="0"/>
            </a:endParaRPr>
          </a:p>
        </p:txBody>
      </p:sp>
      <p:sp>
        <p:nvSpPr>
          <p:cNvPr id="24" name="Rectangle 10">
            <a:extLst>
              <a:ext uri="{FF2B5EF4-FFF2-40B4-BE49-F238E27FC236}">
                <a16:creationId xmlns:a16="http://schemas.microsoft.com/office/drawing/2014/main" id="{036CDEE8-D3F6-E8FE-9C37-F158AA84A1BD}"/>
              </a:ext>
            </a:extLst>
          </p:cNvPr>
          <p:cNvSpPr/>
          <p:nvPr/>
        </p:nvSpPr>
        <p:spPr>
          <a:xfrm>
            <a:off x="10868296" y="5220780"/>
            <a:ext cx="396000" cy="396000"/>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ial" panose="020B0604020202020204" pitchFamily="34" charset="0"/>
                <a:cs typeface="Arial" panose="020B0604020202020204" pitchFamily="34" charset="0"/>
              </a:rPr>
              <a:t>+</a:t>
            </a:r>
            <a:endParaRPr lang="en-CN" sz="2800" b="1">
              <a:solidFill>
                <a:schemeClr val="tx1"/>
              </a:solidFill>
              <a:latin typeface="Arial" panose="020B0604020202020204" pitchFamily="34" charset="0"/>
              <a:cs typeface="Arial" panose="020B0604020202020204" pitchFamily="34" charset="0"/>
            </a:endParaRPr>
          </a:p>
        </p:txBody>
      </p:sp>
      <p:sp>
        <p:nvSpPr>
          <p:cNvPr id="25" name="Rectangle 10">
            <a:extLst>
              <a:ext uri="{FF2B5EF4-FFF2-40B4-BE49-F238E27FC236}">
                <a16:creationId xmlns:a16="http://schemas.microsoft.com/office/drawing/2014/main" id="{0AE3B181-6AE5-B781-262A-8D826EFA6DEF}"/>
              </a:ext>
            </a:extLst>
          </p:cNvPr>
          <p:cNvSpPr/>
          <p:nvPr/>
        </p:nvSpPr>
        <p:spPr>
          <a:xfrm>
            <a:off x="7668121" y="5534339"/>
            <a:ext cx="1682859" cy="389139"/>
          </a:xfrm>
          <a:prstGeom prst="roundRect">
            <a:avLst/>
          </a:prstGeom>
          <a:solidFill>
            <a:srgbClr val="FCB5B6"/>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tx1"/>
                </a:solidFill>
                <a:latin typeface="Arial" panose="020B0604020202020204" pitchFamily="34" charset="0"/>
                <a:cs typeface="Arial" panose="020B0604020202020204" pitchFamily="34" charset="0"/>
              </a:rPr>
              <a:t>Expert 3</a:t>
            </a:r>
            <a:endParaRPr lang="en-CN" sz="2800" b="1">
              <a:solidFill>
                <a:schemeClr val="tx1"/>
              </a:solidFill>
              <a:latin typeface="Arial" panose="020B0604020202020204" pitchFamily="34" charset="0"/>
              <a:cs typeface="Arial" panose="020B0604020202020204" pitchFamily="34" charset="0"/>
            </a:endParaRPr>
          </a:p>
        </p:txBody>
      </p:sp>
      <p:cxnSp>
        <p:nvCxnSpPr>
          <p:cNvPr id="26" name="直线箭头连接符 39">
            <a:extLst>
              <a:ext uri="{FF2B5EF4-FFF2-40B4-BE49-F238E27FC236}">
                <a16:creationId xmlns:a16="http://schemas.microsoft.com/office/drawing/2014/main" id="{72633D1D-88A1-15F9-D0AE-1CB4DB27629D}"/>
              </a:ext>
            </a:extLst>
          </p:cNvPr>
          <p:cNvCxnSpPr>
            <a:cxnSpLocks/>
            <a:stCxn id="21" idx="3"/>
            <a:endCxn id="22" idx="1"/>
          </p:cNvCxnSpPr>
          <p:nvPr/>
        </p:nvCxnSpPr>
        <p:spPr>
          <a:xfrm flipV="1">
            <a:off x="4692117" y="5418781"/>
            <a:ext cx="278018" cy="1"/>
          </a:xfrm>
          <a:prstGeom prst="straightConnector1">
            <a:avLst/>
          </a:prstGeom>
          <a:ln w="508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线箭头连接符 39">
            <a:extLst>
              <a:ext uri="{FF2B5EF4-FFF2-40B4-BE49-F238E27FC236}">
                <a16:creationId xmlns:a16="http://schemas.microsoft.com/office/drawing/2014/main" id="{CF87E0A0-6498-0147-B441-401285E81505}"/>
              </a:ext>
            </a:extLst>
          </p:cNvPr>
          <p:cNvCxnSpPr>
            <a:cxnSpLocks/>
            <a:stCxn id="22" idx="3"/>
          </p:cNvCxnSpPr>
          <p:nvPr/>
        </p:nvCxnSpPr>
        <p:spPr>
          <a:xfrm flipV="1">
            <a:off x="6203289" y="5418780"/>
            <a:ext cx="278018" cy="1"/>
          </a:xfrm>
          <a:prstGeom prst="straightConnector1">
            <a:avLst/>
          </a:prstGeom>
          <a:ln w="508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线箭头连接符 39">
            <a:extLst>
              <a:ext uri="{FF2B5EF4-FFF2-40B4-BE49-F238E27FC236}">
                <a16:creationId xmlns:a16="http://schemas.microsoft.com/office/drawing/2014/main" id="{B81490A3-3D13-2A3C-7953-380EFDD8A023}"/>
              </a:ext>
            </a:extLst>
          </p:cNvPr>
          <p:cNvCxnSpPr>
            <a:cxnSpLocks/>
            <a:endCxn id="16" idx="1"/>
          </p:cNvCxnSpPr>
          <p:nvPr/>
        </p:nvCxnSpPr>
        <p:spPr>
          <a:xfrm flipV="1">
            <a:off x="7268640" y="3944068"/>
            <a:ext cx="399481" cy="1482515"/>
          </a:xfrm>
          <a:prstGeom prst="straightConnector1">
            <a:avLst/>
          </a:prstGeom>
          <a:ln w="508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9" name="Rectangle 10">
            <a:extLst>
              <a:ext uri="{FF2B5EF4-FFF2-40B4-BE49-F238E27FC236}">
                <a16:creationId xmlns:a16="http://schemas.microsoft.com/office/drawing/2014/main" id="{54F7F384-B5F2-4B33-FE1E-82587911C83E}"/>
              </a:ext>
            </a:extLst>
          </p:cNvPr>
          <p:cNvSpPr/>
          <p:nvPr/>
        </p:nvSpPr>
        <p:spPr>
          <a:xfrm rot="16200000">
            <a:off x="5490342" y="4160223"/>
            <a:ext cx="2762628" cy="763869"/>
          </a:xfrm>
          <a:custGeom>
            <a:avLst/>
            <a:gdLst>
              <a:gd name="connsiteX0" fmla="*/ 0 w 2762628"/>
              <a:gd name="connsiteY0" fmla="*/ 127314 h 763869"/>
              <a:gd name="connsiteX1" fmla="*/ 127314 w 2762628"/>
              <a:gd name="connsiteY1" fmla="*/ 0 h 763869"/>
              <a:gd name="connsiteX2" fmla="*/ 779394 w 2762628"/>
              <a:gd name="connsiteY2" fmla="*/ 0 h 763869"/>
              <a:gd name="connsiteX3" fmla="*/ 1356234 w 2762628"/>
              <a:gd name="connsiteY3" fmla="*/ 0 h 763869"/>
              <a:gd name="connsiteX4" fmla="*/ 2033394 w 2762628"/>
              <a:gd name="connsiteY4" fmla="*/ 0 h 763869"/>
              <a:gd name="connsiteX5" fmla="*/ 2635314 w 2762628"/>
              <a:gd name="connsiteY5" fmla="*/ 0 h 763869"/>
              <a:gd name="connsiteX6" fmla="*/ 2762628 w 2762628"/>
              <a:gd name="connsiteY6" fmla="*/ 127314 h 763869"/>
              <a:gd name="connsiteX7" fmla="*/ 2762628 w 2762628"/>
              <a:gd name="connsiteY7" fmla="*/ 636555 h 763869"/>
              <a:gd name="connsiteX8" fmla="*/ 2635314 w 2762628"/>
              <a:gd name="connsiteY8" fmla="*/ 763869 h 763869"/>
              <a:gd name="connsiteX9" fmla="*/ 1958154 w 2762628"/>
              <a:gd name="connsiteY9" fmla="*/ 763869 h 763869"/>
              <a:gd name="connsiteX10" fmla="*/ 1306074 w 2762628"/>
              <a:gd name="connsiteY10" fmla="*/ 763869 h 763869"/>
              <a:gd name="connsiteX11" fmla="*/ 729234 w 2762628"/>
              <a:gd name="connsiteY11" fmla="*/ 763869 h 763869"/>
              <a:gd name="connsiteX12" fmla="*/ 127314 w 2762628"/>
              <a:gd name="connsiteY12" fmla="*/ 763869 h 763869"/>
              <a:gd name="connsiteX13" fmla="*/ 0 w 2762628"/>
              <a:gd name="connsiteY13" fmla="*/ 636555 h 763869"/>
              <a:gd name="connsiteX14" fmla="*/ 0 w 2762628"/>
              <a:gd name="connsiteY14" fmla="*/ 127314 h 763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762628" h="763869" fill="none" extrusionOk="0">
                <a:moveTo>
                  <a:pt x="0" y="127314"/>
                </a:moveTo>
                <a:cubicBezTo>
                  <a:pt x="-3615" y="49631"/>
                  <a:pt x="57285" y="-3849"/>
                  <a:pt x="127314" y="0"/>
                </a:cubicBezTo>
                <a:cubicBezTo>
                  <a:pt x="385800" y="24240"/>
                  <a:pt x="586760" y="-7697"/>
                  <a:pt x="779394" y="0"/>
                </a:cubicBezTo>
                <a:cubicBezTo>
                  <a:pt x="972028" y="7697"/>
                  <a:pt x="1117319" y="7837"/>
                  <a:pt x="1356234" y="0"/>
                </a:cubicBezTo>
                <a:cubicBezTo>
                  <a:pt x="1595149" y="-7837"/>
                  <a:pt x="1893354" y="29846"/>
                  <a:pt x="2033394" y="0"/>
                </a:cubicBezTo>
                <a:cubicBezTo>
                  <a:pt x="2173434" y="-29846"/>
                  <a:pt x="2440818" y="5867"/>
                  <a:pt x="2635314" y="0"/>
                </a:cubicBezTo>
                <a:cubicBezTo>
                  <a:pt x="2712712" y="14027"/>
                  <a:pt x="2748600" y="64398"/>
                  <a:pt x="2762628" y="127314"/>
                </a:cubicBezTo>
                <a:cubicBezTo>
                  <a:pt x="2786166" y="336589"/>
                  <a:pt x="2787073" y="424494"/>
                  <a:pt x="2762628" y="636555"/>
                </a:cubicBezTo>
                <a:cubicBezTo>
                  <a:pt x="2766732" y="694246"/>
                  <a:pt x="2710176" y="768787"/>
                  <a:pt x="2635314" y="763869"/>
                </a:cubicBezTo>
                <a:cubicBezTo>
                  <a:pt x="2347513" y="730214"/>
                  <a:pt x="2198630" y="765362"/>
                  <a:pt x="1958154" y="763869"/>
                </a:cubicBezTo>
                <a:cubicBezTo>
                  <a:pt x="1717678" y="762376"/>
                  <a:pt x="1582755" y="751504"/>
                  <a:pt x="1306074" y="763869"/>
                </a:cubicBezTo>
                <a:cubicBezTo>
                  <a:pt x="1029393" y="776234"/>
                  <a:pt x="997063" y="740371"/>
                  <a:pt x="729234" y="763869"/>
                </a:cubicBezTo>
                <a:cubicBezTo>
                  <a:pt x="461405" y="787367"/>
                  <a:pt x="263587" y="765327"/>
                  <a:pt x="127314" y="763869"/>
                </a:cubicBezTo>
                <a:cubicBezTo>
                  <a:pt x="46041" y="774962"/>
                  <a:pt x="-2054" y="711264"/>
                  <a:pt x="0" y="636555"/>
                </a:cubicBezTo>
                <a:cubicBezTo>
                  <a:pt x="-15597" y="468528"/>
                  <a:pt x="6058" y="365082"/>
                  <a:pt x="0" y="127314"/>
                </a:cubicBezTo>
                <a:close/>
              </a:path>
              <a:path w="2762628" h="763869" stroke="0" extrusionOk="0">
                <a:moveTo>
                  <a:pt x="0" y="127314"/>
                </a:moveTo>
                <a:cubicBezTo>
                  <a:pt x="-12232" y="49455"/>
                  <a:pt x="45571" y="4290"/>
                  <a:pt x="127314" y="0"/>
                </a:cubicBezTo>
                <a:cubicBezTo>
                  <a:pt x="298689" y="29797"/>
                  <a:pt x="484498" y="-121"/>
                  <a:pt x="804474" y="0"/>
                </a:cubicBezTo>
                <a:cubicBezTo>
                  <a:pt x="1124450" y="121"/>
                  <a:pt x="1218255" y="-4180"/>
                  <a:pt x="1406394" y="0"/>
                </a:cubicBezTo>
                <a:cubicBezTo>
                  <a:pt x="1594533" y="4180"/>
                  <a:pt x="1828394" y="22622"/>
                  <a:pt x="1983234" y="0"/>
                </a:cubicBezTo>
                <a:cubicBezTo>
                  <a:pt x="2138074" y="-22622"/>
                  <a:pt x="2394392" y="-15073"/>
                  <a:pt x="2635314" y="0"/>
                </a:cubicBezTo>
                <a:cubicBezTo>
                  <a:pt x="2712250" y="-13628"/>
                  <a:pt x="2748965" y="54908"/>
                  <a:pt x="2762628" y="127314"/>
                </a:cubicBezTo>
                <a:cubicBezTo>
                  <a:pt x="2746079" y="332859"/>
                  <a:pt x="2760145" y="383480"/>
                  <a:pt x="2762628" y="636555"/>
                </a:cubicBezTo>
                <a:cubicBezTo>
                  <a:pt x="2759803" y="711543"/>
                  <a:pt x="2704506" y="762567"/>
                  <a:pt x="2635314" y="763869"/>
                </a:cubicBezTo>
                <a:cubicBezTo>
                  <a:pt x="2483908" y="747324"/>
                  <a:pt x="2266296" y="748705"/>
                  <a:pt x="2058474" y="763869"/>
                </a:cubicBezTo>
                <a:cubicBezTo>
                  <a:pt x="1850652" y="779033"/>
                  <a:pt x="1614616" y="767485"/>
                  <a:pt x="1431474" y="763869"/>
                </a:cubicBezTo>
                <a:cubicBezTo>
                  <a:pt x="1248332" y="760253"/>
                  <a:pt x="1065226" y="744083"/>
                  <a:pt x="829554" y="763869"/>
                </a:cubicBezTo>
                <a:cubicBezTo>
                  <a:pt x="593882" y="783655"/>
                  <a:pt x="429440" y="737617"/>
                  <a:pt x="127314" y="763869"/>
                </a:cubicBezTo>
                <a:cubicBezTo>
                  <a:pt x="58290" y="762268"/>
                  <a:pt x="-9258" y="703290"/>
                  <a:pt x="0" y="636555"/>
                </a:cubicBezTo>
                <a:cubicBezTo>
                  <a:pt x="-1890" y="518862"/>
                  <a:pt x="-2296" y="287073"/>
                  <a:pt x="0" y="127314"/>
                </a:cubicBezTo>
                <a:close/>
              </a:path>
            </a:pathLst>
          </a:custGeom>
          <a:solidFill>
            <a:schemeClr val="accent6">
              <a:lumMod val="20000"/>
              <a:lumOff val="80000"/>
            </a:schemeClr>
          </a:solidFill>
          <a:ln w="38100">
            <a:solidFill>
              <a:schemeClr val="tx1"/>
            </a:solidFill>
            <a:prstDash val="solid"/>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tx1"/>
                </a:solidFill>
                <a:latin typeface="Arial" panose="020B0604020202020204" pitchFamily="34" charset="0"/>
                <a:cs typeface="Arial" panose="020B0604020202020204" pitchFamily="34" charset="0"/>
              </a:rPr>
              <a:t>All-to-All</a:t>
            </a:r>
            <a:endParaRPr lang="en-CN" sz="2800" b="1">
              <a:solidFill>
                <a:schemeClr val="tx1"/>
              </a:solidFill>
              <a:latin typeface="Arial" panose="020B0604020202020204" pitchFamily="34" charset="0"/>
              <a:cs typeface="Arial" panose="020B0604020202020204" pitchFamily="34" charset="0"/>
            </a:endParaRPr>
          </a:p>
        </p:txBody>
      </p:sp>
      <p:sp>
        <p:nvSpPr>
          <p:cNvPr id="30" name="Rectangle 10">
            <a:extLst>
              <a:ext uri="{FF2B5EF4-FFF2-40B4-BE49-F238E27FC236}">
                <a16:creationId xmlns:a16="http://schemas.microsoft.com/office/drawing/2014/main" id="{FC99A538-9047-8BEB-3308-53288B45E157}"/>
              </a:ext>
            </a:extLst>
          </p:cNvPr>
          <p:cNvSpPr/>
          <p:nvPr/>
        </p:nvSpPr>
        <p:spPr>
          <a:xfrm rot="16200000">
            <a:off x="8684975" y="4160222"/>
            <a:ext cx="2762628" cy="763869"/>
          </a:xfrm>
          <a:custGeom>
            <a:avLst/>
            <a:gdLst>
              <a:gd name="connsiteX0" fmla="*/ 0 w 2762628"/>
              <a:gd name="connsiteY0" fmla="*/ 127314 h 763869"/>
              <a:gd name="connsiteX1" fmla="*/ 127314 w 2762628"/>
              <a:gd name="connsiteY1" fmla="*/ 0 h 763869"/>
              <a:gd name="connsiteX2" fmla="*/ 779394 w 2762628"/>
              <a:gd name="connsiteY2" fmla="*/ 0 h 763869"/>
              <a:gd name="connsiteX3" fmla="*/ 1356234 w 2762628"/>
              <a:gd name="connsiteY3" fmla="*/ 0 h 763869"/>
              <a:gd name="connsiteX4" fmla="*/ 2033394 w 2762628"/>
              <a:gd name="connsiteY4" fmla="*/ 0 h 763869"/>
              <a:gd name="connsiteX5" fmla="*/ 2635314 w 2762628"/>
              <a:gd name="connsiteY5" fmla="*/ 0 h 763869"/>
              <a:gd name="connsiteX6" fmla="*/ 2762628 w 2762628"/>
              <a:gd name="connsiteY6" fmla="*/ 127314 h 763869"/>
              <a:gd name="connsiteX7" fmla="*/ 2762628 w 2762628"/>
              <a:gd name="connsiteY7" fmla="*/ 636555 h 763869"/>
              <a:gd name="connsiteX8" fmla="*/ 2635314 w 2762628"/>
              <a:gd name="connsiteY8" fmla="*/ 763869 h 763869"/>
              <a:gd name="connsiteX9" fmla="*/ 1958154 w 2762628"/>
              <a:gd name="connsiteY9" fmla="*/ 763869 h 763869"/>
              <a:gd name="connsiteX10" fmla="*/ 1306074 w 2762628"/>
              <a:gd name="connsiteY10" fmla="*/ 763869 h 763869"/>
              <a:gd name="connsiteX11" fmla="*/ 729234 w 2762628"/>
              <a:gd name="connsiteY11" fmla="*/ 763869 h 763869"/>
              <a:gd name="connsiteX12" fmla="*/ 127314 w 2762628"/>
              <a:gd name="connsiteY12" fmla="*/ 763869 h 763869"/>
              <a:gd name="connsiteX13" fmla="*/ 0 w 2762628"/>
              <a:gd name="connsiteY13" fmla="*/ 636555 h 763869"/>
              <a:gd name="connsiteX14" fmla="*/ 0 w 2762628"/>
              <a:gd name="connsiteY14" fmla="*/ 127314 h 763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762628" h="763869" fill="none" extrusionOk="0">
                <a:moveTo>
                  <a:pt x="0" y="127314"/>
                </a:moveTo>
                <a:cubicBezTo>
                  <a:pt x="-3615" y="49631"/>
                  <a:pt x="57285" y="-3849"/>
                  <a:pt x="127314" y="0"/>
                </a:cubicBezTo>
                <a:cubicBezTo>
                  <a:pt x="385800" y="24240"/>
                  <a:pt x="586760" y="-7697"/>
                  <a:pt x="779394" y="0"/>
                </a:cubicBezTo>
                <a:cubicBezTo>
                  <a:pt x="972028" y="7697"/>
                  <a:pt x="1117319" y="7837"/>
                  <a:pt x="1356234" y="0"/>
                </a:cubicBezTo>
                <a:cubicBezTo>
                  <a:pt x="1595149" y="-7837"/>
                  <a:pt x="1893354" y="29846"/>
                  <a:pt x="2033394" y="0"/>
                </a:cubicBezTo>
                <a:cubicBezTo>
                  <a:pt x="2173434" y="-29846"/>
                  <a:pt x="2440818" y="5867"/>
                  <a:pt x="2635314" y="0"/>
                </a:cubicBezTo>
                <a:cubicBezTo>
                  <a:pt x="2712712" y="14027"/>
                  <a:pt x="2748600" y="64398"/>
                  <a:pt x="2762628" y="127314"/>
                </a:cubicBezTo>
                <a:cubicBezTo>
                  <a:pt x="2786166" y="336589"/>
                  <a:pt x="2787073" y="424494"/>
                  <a:pt x="2762628" y="636555"/>
                </a:cubicBezTo>
                <a:cubicBezTo>
                  <a:pt x="2766732" y="694246"/>
                  <a:pt x="2710176" y="768787"/>
                  <a:pt x="2635314" y="763869"/>
                </a:cubicBezTo>
                <a:cubicBezTo>
                  <a:pt x="2347513" y="730214"/>
                  <a:pt x="2198630" y="765362"/>
                  <a:pt x="1958154" y="763869"/>
                </a:cubicBezTo>
                <a:cubicBezTo>
                  <a:pt x="1717678" y="762376"/>
                  <a:pt x="1582755" y="751504"/>
                  <a:pt x="1306074" y="763869"/>
                </a:cubicBezTo>
                <a:cubicBezTo>
                  <a:pt x="1029393" y="776234"/>
                  <a:pt x="997063" y="740371"/>
                  <a:pt x="729234" y="763869"/>
                </a:cubicBezTo>
                <a:cubicBezTo>
                  <a:pt x="461405" y="787367"/>
                  <a:pt x="263587" y="765327"/>
                  <a:pt x="127314" y="763869"/>
                </a:cubicBezTo>
                <a:cubicBezTo>
                  <a:pt x="46041" y="774962"/>
                  <a:pt x="-2054" y="711264"/>
                  <a:pt x="0" y="636555"/>
                </a:cubicBezTo>
                <a:cubicBezTo>
                  <a:pt x="-15597" y="468528"/>
                  <a:pt x="6058" y="365082"/>
                  <a:pt x="0" y="127314"/>
                </a:cubicBezTo>
                <a:close/>
              </a:path>
              <a:path w="2762628" h="763869" stroke="0" extrusionOk="0">
                <a:moveTo>
                  <a:pt x="0" y="127314"/>
                </a:moveTo>
                <a:cubicBezTo>
                  <a:pt x="-12232" y="49455"/>
                  <a:pt x="45571" y="4290"/>
                  <a:pt x="127314" y="0"/>
                </a:cubicBezTo>
                <a:cubicBezTo>
                  <a:pt x="298689" y="29797"/>
                  <a:pt x="484498" y="-121"/>
                  <a:pt x="804474" y="0"/>
                </a:cubicBezTo>
                <a:cubicBezTo>
                  <a:pt x="1124450" y="121"/>
                  <a:pt x="1218255" y="-4180"/>
                  <a:pt x="1406394" y="0"/>
                </a:cubicBezTo>
                <a:cubicBezTo>
                  <a:pt x="1594533" y="4180"/>
                  <a:pt x="1828394" y="22622"/>
                  <a:pt x="1983234" y="0"/>
                </a:cubicBezTo>
                <a:cubicBezTo>
                  <a:pt x="2138074" y="-22622"/>
                  <a:pt x="2394392" y="-15073"/>
                  <a:pt x="2635314" y="0"/>
                </a:cubicBezTo>
                <a:cubicBezTo>
                  <a:pt x="2712250" y="-13628"/>
                  <a:pt x="2748965" y="54908"/>
                  <a:pt x="2762628" y="127314"/>
                </a:cubicBezTo>
                <a:cubicBezTo>
                  <a:pt x="2746079" y="332859"/>
                  <a:pt x="2760145" y="383480"/>
                  <a:pt x="2762628" y="636555"/>
                </a:cubicBezTo>
                <a:cubicBezTo>
                  <a:pt x="2759803" y="711543"/>
                  <a:pt x="2704506" y="762567"/>
                  <a:pt x="2635314" y="763869"/>
                </a:cubicBezTo>
                <a:cubicBezTo>
                  <a:pt x="2483908" y="747324"/>
                  <a:pt x="2266296" y="748705"/>
                  <a:pt x="2058474" y="763869"/>
                </a:cubicBezTo>
                <a:cubicBezTo>
                  <a:pt x="1850652" y="779033"/>
                  <a:pt x="1614616" y="767485"/>
                  <a:pt x="1431474" y="763869"/>
                </a:cubicBezTo>
                <a:cubicBezTo>
                  <a:pt x="1248332" y="760253"/>
                  <a:pt x="1065226" y="744083"/>
                  <a:pt x="829554" y="763869"/>
                </a:cubicBezTo>
                <a:cubicBezTo>
                  <a:pt x="593882" y="783655"/>
                  <a:pt x="429440" y="737617"/>
                  <a:pt x="127314" y="763869"/>
                </a:cubicBezTo>
                <a:cubicBezTo>
                  <a:pt x="58290" y="762268"/>
                  <a:pt x="-9258" y="703290"/>
                  <a:pt x="0" y="636555"/>
                </a:cubicBezTo>
                <a:cubicBezTo>
                  <a:pt x="-1890" y="518862"/>
                  <a:pt x="-2296" y="287073"/>
                  <a:pt x="0" y="127314"/>
                </a:cubicBezTo>
                <a:close/>
              </a:path>
            </a:pathLst>
          </a:custGeom>
          <a:solidFill>
            <a:schemeClr val="accent6">
              <a:lumMod val="20000"/>
              <a:lumOff val="80000"/>
            </a:schemeClr>
          </a:solidFill>
          <a:ln w="38100">
            <a:solidFill>
              <a:schemeClr val="tx1"/>
            </a:solidFill>
            <a:prstDash val="solid"/>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tx1"/>
                </a:solidFill>
                <a:latin typeface="Arial" panose="020B0604020202020204" pitchFamily="34" charset="0"/>
                <a:cs typeface="Arial" panose="020B0604020202020204" pitchFamily="34" charset="0"/>
              </a:rPr>
              <a:t>All-to-All</a:t>
            </a:r>
            <a:endParaRPr lang="en-CN" sz="2800" b="1">
              <a:solidFill>
                <a:schemeClr val="tx1"/>
              </a:solidFill>
              <a:latin typeface="Arial" panose="020B0604020202020204" pitchFamily="34" charset="0"/>
              <a:cs typeface="Arial" panose="020B0604020202020204" pitchFamily="34" charset="0"/>
            </a:endParaRPr>
          </a:p>
        </p:txBody>
      </p:sp>
      <p:cxnSp>
        <p:nvCxnSpPr>
          <p:cNvPr id="31" name="直线箭头连接符 39">
            <a:extLst>
              <a:ext uri="{FF2B5EF4-FFF2-40B4-BE49-F238E27FC236}">
                <a16:creationId xmlns:a16="http://schemas.microsoft.com/office/drawing/2014/main" id="{95BD2514-CF94-0E09-B9B1-B3353FC906F4}"/>
              </a:ext>
            </a:extLst>
          </p:cNvPr>
          <p:cNvCxnSpPr>
            <a:cxnSpLocks/>
            <a:endCxn id="23" idx="1"/>
          </p:cNvCxnSpPr>
          <p:nvPr/>
        </p:nvCxnSpPr>
        <p:spPr>
          <a:xfrm flipV="1">
            <a:off x="7268640" y="5140255"/>
            <a:ext cx="408824" cy="286328"/>
          </a:xfrm>
          <a:prstGeom prst="straightConnector1">
            <a:avLst/>
          </a:prstGeom>
          <a:ln w="508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线箭头连接符 39">
            <a:extLst>
              <a:ext uri="{FF2B5EF4-FFF2-40B4-BE49-F238E27FC236}">
                <a16:creationId xmlns:a16="http://schemas.microsoft.com/office/drawing/2014/main" id="{78884109-4487-C4FD-CB0A-B48F13DE72B3}"/>
              </a:ext>
            </a:extLst>
          </p:cNvPr>
          <p:cNvCxnSpPr>
            <a:cxnSpLocks/>
            <a:endCxn id="25" idx="1"/>
          </p:cNvCxnSpPr>
          <p:nvPr/>
        </p:nvCxnSpPr>
        <p:spPr>
          <a:xfrm>
            <a:off x="7253590" y="3641742"/>
            <a:ext cx="414531" cy="2087167"/>
          </a:xfrm>
          <a:prstGeom prst="straightConnector1">
            <a:avLst/>
          </a:prstGeom>
          <a:ln w="50800">
            <a:solidFill>
              <a:schemeClr val="tx2">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线箭头连接符 39">
            <a:extLst>
              <a:ext uri="{FF2B5EF4-FFF2-40B4-BE49-F238E27FC236}">
                <a16:creationId xmlns:a16="http://schemas.microsoft.com/office/drawing/2014/main" id="{1F71042D-8120-A4FB-6673-688555342887}"/>
              </a:ext>
            </a:extLst>
          </p:cNvPr>
          <p:cNvCxnSpPr>
            <a:cxnSpLocks/>
          </p:cNvCxnSpPr>
          <p:nvPr/>
        </p:nvCxnSpPr>
        <p:spPr>
          <a:xfrm>
            <a:off x="9378658" y="3944067"/>
            <a:ext cx="305695" cy="0"/>
          </a:xfrm>
          <a:prstGeom prst="straightConnector1">
            <a:avLst/>
          </a:prstGeom>
          <a:ln w="508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线箭头连接符 39">
            <a:extLst>
              <a:ext uri="{FF2B5EF4-FFF2-40B4-BE49-F238E27FC236}">
                <a16:creationId xmlns:a16="http://schemas.microsoft.com/office/drawing/2014/main" id="{584DD396-6FAF-B69E-AB90-EDD2AF751CCA}"/>
              </a:ext>
            </a:extLst>
          </p:cNvPr>
          <p:cNvCxnSpPr>
            <a:cxnSpLocks/>
            <a:stCxn id="12" idx="3"/>
          </p:cNvCxnSpPr>
          <p:nvPr/>
        </p:nvCxnSpPr>
        <p:spPr>
          <a:xfrm>
            <a:off x="9360323" y="3355414"/>
            <a:ext cx="333373" cy="0"/>
          </a:xfrm>
          <a:prstGeom prst="straightConnector1">
            <a:avLst/>
          </a:prstGeom>
          <a:ln w="50800">
            <a:solidFill>
              <a:schemeClr val="tx2">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线箭头连接符 39">
            <a:extLst>
              <a:ext uri="{FF2B5EF4-FFF2-40B4-BE49-F238E27FC236}">
                <a16:creationId xmlns:a16="http://schemas.microsoft.com/office/drawing/2014/main" id="{87A2AC7D-3E77-E6D5-5308-518DD66710BE}"/>
              </a:ext>
            </a:extLst>
          </p:cNvPr>
          <p:cNvCxnSpPr>
            <a:cxnSpLocks/>
            <a:stCxn id="23" idx="3"/>
          </p:cNvCxnSpPr>
          <p:nvPr/>
        </p:nvCxnSpPr>
        <p:spPr>
          <a:xfrm>
            <a:off x="9360323" y="5140255"/>
            <a:ext cx="314687" cy="0"/>
          </a:xfrm>
          <a:prstGeom prst="straightConnector1">
            <a:avLst/>
          </a:prstGeom>
          <a:ln w="508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线箭头连接符 39">
            <a:extLst>
              <a:ext uri="{FF2B5EF4-FFF2-40B4-BE49-F238E27FC236}">
                <a16:creationId xmlns:a16="http://schemas.microsoft.com/office/drawing/2014/main" id="{7DF0F1EE-E942-AB07-8D5A-E9C30702B2F0}"/>
              </a:ext>
            </a:extLst>
          </p:cNvPr>
          <p:cNvCxnSpPr>
            <a:cxnSpLocks/>
            <a:stCxn id="25" idx="3"/>
          </p:cNvCxnSpPr>
          <p:nvPr/>
        </p:nvCxnSpPr>
        <p:spPr>
          <a:xfrm>
            <a:off x="9350980" y="5728909"/>
            <a:ext cx="342716" cy="0"/>
          </a:xfrm>
          <a:prstGeom prst="straightConnector1">
            <a:avLst/>
          </a:prstGeom>
          <a:ln w="50800">
            <a:solidFill>
              <a:schemeClr val="tx2">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线箭头连接符 39">
            <a:extLst>
              <a:ext uri="{FF2B5EF4-FFF2-40B4-BE49-F238E27FC236}">
                <a16:creationId xmlns:a16="http://schemas.microsoft.com/office/drawing/2014/main" id="{F2AEE593-6583-C980-F91F-2B02E67E7201}"/>
              </a:ext>
            </a:extLst>
          </p:cNvPr>
          <p:cNvCxnSpPr>
            <a:cxnSpLocks/>
            <a:endCxn id="13" idx="2"/>
          </p:cNvCxnSpPr>
          <p:nvPr/>
        </p:nvCxnSpPr>
        <p:spPr>
          <a:xfrm flipV="1">
            <a:off x="10448223" y="3633939"/>
            <a:ext cx="420073" cy="2094969"/>
          </a:xfrm>
          <a:prstGeom prst="straightConnector1">
            <a:avLst/>
          </a:prstGeom>
          <a:ln w="50800">
            <a:solidFill>
              <a:schemeClr val="tx2">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线箭头连接符 39">
            <a:extLst>
              <a:ext uri="{FF2B5EF4-FFF2-40B4-BE49-F238E27FC236}">
                <a16:creationId xmlns:a16="http://schemas.microsoft.com/office/drawing/2014/main" id="{8621A6E1-B3FE-FB4E-CF94-560F9793EF86}"/>
              </a:ext>
            </a:extLst>
          </p:cNvPr>
          <p:cNvCxnSpPr>
            <a:cxnSpLocks/>
            <a:endCxn id="24" idx="2"/>
          </p:cNvCxnSpPr>
          <p:nvPr/>
        </p:nvCxnSpPr>
        <p:spPr>
          <a:xfrm>
            <a:off x="10448223" y="3944067"/>
            <a:ext cx="420073" cy="1474713"/>
          </a:xfrm>
          <a:prstGeom prst="straightConnector1">
            <a:avLst/>
          </a:prstGeom>
          <a:ln w="508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线箭头连接符 39">
            <a:extLst>
              <a:ext uri="{FF2B5EF4-FFF2-40B4-BE49-F238E27FC236}">
                <a16:creationId xmlns:a16="http://schemas.microsoft.com/office/drawing/2014/main" id="{D9C5A8E3-F9D2-7EA3-5E01-2A4FF6D9A2AC}"/>
              </a:ext>
            </a:extLst>
          </p:cNvPr>
          <p:cNvCxnSpPr>
            <a:cxnSpLocks/>
            <a:endCxn id="24" idx="2"/>
          </p:cNvCxnSpPr>
          <p:nvPr/>
        </p:nvCxnSpPr>
        <p:spPr>
          <a:xfrm>
            <a:off x="10448223" y="5140254"/>
            <a:ext cx="420073" cy="278526"/>
          </a:xfrm>
          <a:prstGeom prst="straightConnector1">
            <a:avLst/>
          </a:prstGeom>
          <a:ln w="508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线箭头连接符 39">
            <a:extLst>
              <a:ext uri="{FF2B5EF4-FFF2-40B4-BE49-F238E27FC236}">
                <a16:creationId xmlns:a16="http://schemas.microsoft.com/office/drawing/2014/main" id="{DE2A20FB-549E-728B-36EE-894436ED7AAE}"/>
              </a:ext>
            </a:extLst>
          </p:cNvPr>
          <p:cNvCxnSpPr>
            <a:cxnSpLocks/>
            <a:stCxn id="24" idx="6"/>
          </p:cNvCxnSpPr>
          <p:nvPr/>
        </p:nvCxnSpPr>
        <p:spPr>
          <a:xfrm>
            <a:off x="11264296" y="5418780"/>
            <a:ext cx="419628" cy="0"/>
          </a:xfrm>
          <a:prstGeom prst="straightConnector1">
            <a:avLst/>
          </a:prstGeom>
          <a:ln w="508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线箭头连接符 39">
            <a:extLst>
              <a:ext uri="{FF2B5EF4-FFF2-40B4-BE49-F238E27FC236}">
                <a16:creationId xmlns:a16="http://schemas.microsoft.com/office/drawing/2014/main" id="{AFBFF312-838C-2184-72CC-DF29D26604A9}"/>
              </a:ext>
            </a:extLst>
          </p:cNvPr>
          <p:cNvCxnSpPr>
            <a:cxnSpLocks/>
            <a:endCxn id="13" idx="2"/>
          </p:cNvCxnSpPr>
          <p:nvPr/>
        </p:nvCxnSpPr>
        <p:spPr>
          <a:xfrm>
            <a:off x="10448223" y="3355414"/>
            <a:ext cx="420073" cy="278525"/>
          </a:xfrm>
          <a:prstGeom prst="straightConnector1">
            <a:avLst/>
          </a:prstGeom>
          <a:ln w="50800">
            <a:solidFill>
              <a:schemeClr val="tx2">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线箭头连接符 39">
            <a:extLst>
              <a:ext uri="{FF2B5EF4-FFF2-40B4-BE49-F238E27FC236}">
                <a16:creationId xmlns:a16="http://schemas.microsoft.com/office/drawing/2014/main" id="{8BB90294-5BD6-9A4E-F7F1-48E71F129B48}"/>
              </a:ext>
            </a:extLst>
          </p:cNvPr>
          <p:cNvCxnSpPr>
            <a:cxnSpLocks/>
            <a:stCxn id="13" idx="6"/>
          </p:cNvCxnSpPr>
          <p:nvPr/>
        </p:nvCxnSpPr>
        <p:spPr>
          <a:xfrm>
            <a:off x="11264296" y="3633939"/>
            <a:ext cx="419628" cy="0"/>
          </a:xfrm>
          <a:prstGeom prst="straightConnector1">
            <a:avLst/>
          </a:prstGeom>
          <a:ln w="50800">
            <a:solidFill>
              <a:schemeClr val="tx2">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43" name="图片 42">
            <a:extLst>
              <a:ext uri="{FF2B5EF4-FFF2-40B4-BE49-F238E27FC236}">
                <a16:creationId xmlns:a16="http://schemas.microsoft.com/office/drawing/2014/main" id="{FE39F010-6F80-ACC6-910D-C686E1677059}"/>
              </a:ext>
            </a:extLst>
          </p:cNvPr>
          <p:cNvPicPr>
            <a:picLocks noChangeAspect="1"/>
          </p:cNvPicPr>
          <p:nvPr/>
        </p:nvPicPr>
        <p:blipFill>
          <a:blip r:embed="rId3"/>
          <a:stretch>
            <a:fillRect/>
          </a:stretch>
        </p:blipFill>
        <p:spPr>
          <a:xfrm>
            <a:off x="508075" y="5034183"/>
            <a:ext cx="784800" cy="784800"/>
          </a:xfrm>
          <a:prstGeom prst="rect">
            <a:avLst/>
          </a:prstGeom>
        </p:spPr>
      </p:pic>
      <p:cxnSp>
        <p:nvCxnSpPr>
          <p:cNvPr id="44" name="直线箭头连接符 39">
            <a:extLst>
              <a:ext uri="{FF2B5EF4-FFF2-40B4-BE49-F238E27FC236}">
                <a16:creationId xmlns:a16="http://schemas.microsoft.com/office/drawing/2014/main" id="{2C5B5E07-CDCD-1E1E-701D-F14A866C257B}"/>
              </a:ext>
            </a:extLst>
          </p:cNvPr>
          <p:cNvCxnSpPr>
            <a:cxnSpLocks/>
            <a:stCxn id="14" idx="3"/>
            <a:endCxn id="10" idx="1"/>
          </p:cNvCxnSpPr>
          <p:nvPr/>
        </p:nvCxnSpPr>
        <p:spPr>
          <a:xfrm>
            <a:off x="2360256" y="3633938"/>
            <a:ext cx="481140" cy="3"/>
          </a:xfrm>
          <a:prstGeom prst="straightConnector1">
            <a:avLst/>
          </a:prstGeom>
          <a:ln w="50800">
            <a:solidFill>
              <a:schemeClr val="tx2">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5" name="Rectangle 10">
            <a:extLst>
              <a:ext uri="{FF2B5EF4-FFF2-40B4-BE49-F238E27FC236}">
                <a16:creationId xmlns:a16="http://schemas.microsoft.com/office/drawing/2014/main" id="{3A1DEAF5-2225-0530-F810-A7E0D43A945D}"/>
              </a:ext>
            </a:extLst>
          </p:cNvPr>
          <p:cNvSpPr/>
          <p:nvPr/>
        </p:nvSpPr>
        <p:spPr>
          <a:xfrm>
            <a:off x="1776414" y="5140254"/>
            <a:ext cx="583842" cy="557049"/>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C00000"/>
                </a:solidFill>
                <a:latin typeface="Arial" panose="020B0604020202020204" pitchFamily="34" charset="0"/>
                <a:cs typeface="Arial" panose="020B0604020202020204" pitchFamily="34" charset="0"/>
              </a:rPr>
              <a:t>B</a:t>
            </a:r>
            <a:endParaRPr lang="en-CN" sz="2800" b="1">
              <a:solidFill>
                <a:srgbClr val="C00000"/>
              </a:solidFill>
              <a:latin typeface="Arial" panose="020B0604020202020204" pitchFamily="34" charset="0"/>
              <a:cs typeface="Arial" panose="020B0604020202020204" pitchFamily="34" charset="0"/>
            </a:endParaRPr>
          </a:p>
        </p:txBody>
      </p:sp>
      <p:cxnSp>
        <p:nvCxnSpPr>
          <p:cNvPr id="46" name="直线箭头连接符 39">
            <a:extLst>
              <a:ext uri="{FF2B5EF4-FFF2-40B4-BE49-F238E27FC236}">
                <a16:creationId xmlns:a16="http://schemas.microsoft.com/office/drawing/2014/main" id="{1CD3F39C-2C96-2336-2729-DF278C901D1F}"/>
              </a:ext>
            </a:extLst>
          </p:cNvPr>
          <p:cNvCxnSpPr>
            <a:cxnSpLocks/>
            <a:stCxn id="45" idx="3"/>
            <a:endCxn id="21" idx="1"/>
          </p:cNvCxnSpPr>
          <p:nvPr/>
        </p:nvCxnSpPr>
        <p:spPr>
          <a:xfrm>
            <a:off x="2360256" y="5418779"/>
            <a:ext cx="481140" cy="3"/>
          </a:xfrm>
          <a:prstGeom prst="straightConnector1">
            <a:avLst/>
          </a:prstGeom>
          <a:ln w="508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7" name="文本框 46">
            <a:extLst>
              <a:ext uri="{FF2B5EF4-FFF2-40B4-BE49-F238E27FC236}">
                <a16:creationId xmlns:a16="http://schemas.microsoft.com/office/drawing/2014/main" id="{04828420-2F9F-3197-67D4-C06F711E9186}"/>
              </a:ext>
            </a:extLst>
          </p:cNvPr>
          <p:cNvSpPr txBox="1"/>
          <p:nvPr/>
        </p:nvSpPr>
        <p:spPr>
          <a:xfrm>
            <a:off x="1331551" y="2390185"/>
            <a:ext cx="1509845" cy="523220"/>
          </a:xfrm>
          <a:prstGeom prst="rect">
            <a:avLst/>
          </a:prstGeom>
          <a:noFill/>
        </p:spPr>
        <p:txBody>
          <a:bodyPr wrap="square">
            <a:spAutoFit/>
          </a:bodyPr>
          <a:lstStyle/>
          <a:p>
            <a:pPr algn="ctr"/>
            <a:r>
              <a:rPr lang="en-US" altLang="zh-CN" sz="2800" b="1" dirty="0">
                <a:latin typeface="Arial" panose="020B0604020202020204" pitchFamily="34" charset="0"/>
                <a:cs typeface="Arial" panose="020B0604020202020204" pitchFamily="34" charset="0"/>
              </a:rPr>
              <a:t>Tokens</a:t>
            </a:r>
            <a:endParaRPr lang="en-CN" altLang="zh-CN" sz="2800" b="1">
              <a:latin typeface="Arial" panose="020B0604020202020204" pitchFamily="34" charset="0"/>
              <a:cs typeface="Arial" panose="020B0604020202020204" pitchFamily="34" charset="0"/>
            </a:endParaRPr>
          </a:p>
        </p:txBody>
      </p:sp>
      <p:sp>
        <p:nvSpPr>
          <p:cNvPr id="48" name="文本框 47">
            <a:extLst>
              <a:ext uri="{FF2B5EF4-FFF2-40B4-BE49-F238E27FC236}">
                <a16:creationId xmlns:a16="http://schemas.microsoft.com/office/drawing/2014/main" id="{E297A3A6-140F-2C27-D9A1-FE2BD3D2B7EB}"/>
              </a:ext>
            </a:extLst>
          </p:cNvPr>
          <p:cNvSpPr txBox="1"/>
          <p:nvPr/>
        </p:nvSpPr>
        <p:spPr>
          <a:xfrm>
            <a:off x="6051549" y="2060418"/>
            <a:ext cx="1788005" cy="523220"/>
          </a:xfrm>
          <a:prstGeom prst="rect">
            <a:avLst/>
          </a:prstGeom>
          <a:noFill/>
        </p:spPr>
        <p:txBody>
          <a:bodyPr wrap="square">
            <a:spAutoFit/>
          </a:bodyPr>
          <a:lstStyle/>
          <a:p>
            <a:pPr algn="ctr"/>
            <a:r>
              <a:rPr lang="en-US" altLang="zh-CN" sz="2800" b="1" dirty="0">
                <a:solidFill>
                  <a:srgbClr val="F30000"/>
                </a:solidFill>
                <a:latin typeface="Arial" panose="020B0604020202020204" pitchFamily="34" charset="0"/>
                <a:cs typeface="Arial" panose="020B0604020202020204" pitchFamily="34" charset="0"/>
              </a:rPr>
              <a:t>Dispatch</a:t>
            </a:r>
            <a:endParaRPr lang="en-CN" altLang="zh-CN" sz="2800" b="1">
              <a:solidFill>
                <a:srgbClr val="F30000"/>
              </a:solidFill>
              <a:latin typeface="Arial" panose="020B0604020202020204" pitchFamily="34" charset="0"/>
              <a:cs typeface="Arial" panose="020B0604020202020204" pitchFamily="34" charset="0"/>
            </a:endParaRPr>
          </a:p>
        </p:txBody>
      </p:sp>
      <p:sp>
        <p:nvSpPr>
          <p:cNvPr id="49" name="文本框 48">
            <a:extLst>
              <a:ext uri="{FF2B5EF4-FFF2-40B4-BE49-F238E27FC236}">
                <a16:creationId xmlns:a16="http://schemas.microsoft.com/office/drawing/2014/main" id="{3E4BBA08-9C88-A387-239C-5C8C7CB98D82}"/>
              </a:ext>
            </a:extLst>
          </p:cNvPr>
          <p:cNvSpPr txBox="1"/>
          <p:nvPr/>
        </p:nvSpPr>
        <p:spPr>
          <a:xfrm>
            <a:off x="9261702" y="2081140"/>
            <a:ext cx="1788005" cy="523220"/>
          </a:xfrm>
          <a:prstGeom prst="rect">
            <a:avLst/>
          </a:prstGeom>
          <a:noFill/>
        </p:spPr>
        <p:txBody>
          <a:bodyPr wrap="square">
            <a:spAutoFit/>
          </a:bodyPr>
          <a:lstStyle/>
          <a:p>
            <a:pPr algn="ctr"/>
            <a:r>
              <a:rPr lang="en-US" altLang="zh-CN" sz="2800" b="1" dirty="0">
                <a:solidFill>
                  <a:srgbClr val="F30000"/>
                </a:solidFill>
                <a:latin typeface="Arial" panose="020B0604020202020204" pitchFamily="34" charset="0"/>
                <a:cs typeface="Arial" panose="020B0604020202020204" pitchFamily="34" charset="0"/>
              </a:rPr>
              <a:t>Combine</a:t>
            </a:r>
            <a:endParaRPr lang="en-CN" altLang="zh-CN" sz="2800" b="1">
              <a:solidFill>
                <a:srgbClr val="F30000"/>
              </a:solidFill>
              <a:latin typeface="Arial" panose="020B0604020202020204" pitchFamily="34" charset="0"/>
              <a:cs typeface="Arial" panose="020B0604020202020204" pitchFamily="34" charset="0"/>
            </a:endParaRPr>
          </a:p>
        </p:txBody>
      </p:sp>
      <p:sp>
        <p:nvSpPr>
          <p:cNvPr id="53" name="椭圆 52">
            <a:extLst>
              <a:ext uri="{FF2B5EF4-FFF2-40B4-BE49-F238E27FC236}">
                <a16:creationId xmlns:a16="http://schemas.microsoft.com/office/drawing/2014/main" id="{68C5619C-56CA-91F9-88EE-9FAE3ED59906}"/>
              </a:ext>
            </a:extLst>
          </p:cNvPr>
          <p:cNvSpPr/>
          <p:nvPr/>
        </p:nvSpPr>
        <p:spPr>
          <a:xfrm rot="5400000">
            <a:off x="4962391" y="3794863"/>
            <a:ext cx="3902402" cy="1613001"/>
          </a:xfrm>
          <a:prstGeom prst="ellipse">
            <a:avLst/>
          </a:prstGeom>
          <a:noFill/>
          <a:ln w="38100">
            <a:solidFill>
              <a:srgbClr val="F30000">
                <a:alpha val="80000"/>
              </a:srgbClr>
            </a:solidFill>
            <a:prstDash val="solid"/>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solidFill>
                <a:srgbClr val="F30000"/>
              </a:solidFill>
            </a:endParaRPr>
          </a:p>
        </p:txBody>
      </p:sp>
      <p:sp>
        <p:nvSpPr>
          <p:cNvPr id="54" name="椭圆 53">
            <a:extLst>
              <a:ext uri="{FF2B5EF4-FFF2-40B4-BE49-F238E27FC236}">
                <a16:creationId xmlns:a16="http://schemas.microsoft.com/office/drawing/2014/main" id="{1F777EB2-E614-286C-1C83-3CDC7673291C}"/>
              </a:ext>
            </a:extLst>
          </p:cNvPr>
          <p:cNvSpPr/>
          <p:nvPr/>
        </p:nvSpPr>
        <p:spPr>
          <a:xfrm rot="5400000">
            <a:off x="8185824" y="3802291"/>
            <a:ext cx="3902402" cy="1613001"/>
          </a:xfrm>
          <a:prstGeom prst="ellipse">
            <a:avLst/>
          </a:prstGeom>
          <a:noFill/>
          <a:ln w="38100">
            <a:solidFill>
              <a:srgbClr val="F30000">
                <a:alpha val="80000"/>
              </a:srgbClr>
            </a:solidFill>
            <a:prstDash val="solid"/>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solidFill>
                <a:srgbClr val="F30000"/>
              </a:solidFill>
            </a:endParaRPr>
          </a:p>
        </p:txBody>
      </p:sp>
      <p:sp>
        <p:nvSpPr>
          <p:cNvPr id="56" name="文本框 55">
            <a:extLst>
              <a:ext uri="{FF2B5EF4-FFF2-40B4-BE49-F238E27FC236}">
                <a16:creationId xmlns:a16="http://schemas.microsoft.com/office/drawing/2014/main" id="{F3BAAFAE-C0A6-9AEF-C6E8-7179DFBE6A2B}"/>
              </a:ext>
            </a:extLst>
          </p:cNvPr>
          <p:cNvSpPr txBox="1"/>
          <p:nvPr/>
        </p:nvSpPr>
        <p:spPr>
          <a:xfrm>
            <a:off x="400774" y="1088899"/>
            <a:ext cx="11283150" cy="584775"/>
          </a:xfrm>
          <a:prstGeom prst="rect">
            <a:avLst/>
          </a:prstGeom>
          <a:noFill/>
        </p:spPr>
        <p:txBody>
          <a:bodyPr wrap="square">
            <a:spAutoFit/>
          </a:bodyPr>
          <a:lstStyle/>
          <a:p>
            <a:r>
              <a:rPr lang="en-US" altLang="zh-CN" sz="3200" dirty="0">
                <a:latin typeface="Calibri" panose="020F0502020204030204" pitchFamily="34" charset="0"/>
                <a:cs typeface="Calibri" panose="020F0502020204030204" pitchFamily="34" charset="0"/>
              </a:rPr>
              <a:t>1. Dispatch &amp; combine communication</a:t>
            </a:r>
          </a:p>
        </p:txBody>
      </p:sp>
      <p:pic>
        <p:nvPicPr>
          <p:cNvPr id="4" name="图片 3">
            <a:extLst>
              <a:ext uri="{FF2B5EF4-FFF2-40B4-BE49-F238E27FC236}">
                <a16:creationId xmlns:a16="http://schemas.microsoft.com/office/drawing/2014/main" id="{6396D2B0-FA6C-DA88-7B1D-520D7945ACAC}"/>
              </a:ext>
            </a:extLst>
          </p:cNvPr>
          <p:cNvPicPr>
            <a:picLocks noChangeAspect="1"/>
          </p:cNvPicPr>
          <p:nvPr/>
        </p:nvPicPr>
        <p:blipFill>
          <a:blip r:embed="rId4"/>
          <a:stretch>
            <a:fillRect/>
          </a:stretch>
        </p:blipFill>
        <p:spPr>
          <a:xfrm>
            <a:off x="9433687" y="331968"/>
            <a:ext cx="2743200" cy="387856"/>
          </a:xfrm>
          <a:prstGeom prst="rect">
            <a:avLst/>
          </a:prstGeom>
        </p:spPr>
      </p:pic>
      <p:pic>
        <p:nvPicPr>
          <p:cNvPr id="5" name="图片 4">
            <a:extLst>
              <a:ext uri="{FF2B5EF4-FFF2-40B4-BE49-F238E27FC236}">
                <a16:creationId xmlns:a16="http://schemas.microsoft.com/office/drawing/2014/main" id="{5C9336D7-5373-F1C5-CBAB-DE0D75023ED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927450" y="335419"/>
            <a:ext cx="1366300" cy="384405"/>
          </a:xfrm>
          <a:prstGeom prst="rect">
            <a:avLst/>
          </a:prstGeom>
        </p:spPr>
      </p:pic>
    </p:spTree>
    <p:extLst>
      <p:ext uri="{BB962C8B-B14F-4D97-AF65-F5344CB8AC3E}">
        <p14:creationId xmlns:p14="http://schemas.microsoft.com/office/powerpoint/2010/main" val="4159285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blinds(horizontal)">
                                      <p:cBhvr>
                                        <p:cTn id="10" dur="500"/>
                                        <p:tgtEl>
                                          <p:spTgt spid="10"/>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linds(horizontal)">
                                      <p:cBhvr>
                                        <p:cTn id="13" dur="500"/>
                                        <p:tgtEl>
                                          <p:spTgt spid="11"/>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blinds(horizontal)">
                                      <p:cBhvr>
                                        <p:cTn id="16" dur="500"/>
                                        <p:tgtEl>
                                          <p:spTgt spid="12"/>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blinds(horizontal)">
                                      <p:cBhvr>
                                        <p:cTn id="19" dur="500"/>
                                        <p:tgtEl>
                                          <p:spTgt spid="13"/>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blinds(horizontal)">
                                      <p:cBhvr>
                                        <p:cTn id="22" dur="500"/>
                                        <p:tgtEl>
                                          <p:spTgt spid="14"/>
                                        </p:tgtEl>
                                      </p:cBhvr>
                                    </p:animEffect>
                                  </p:childTnLst>
                                </p:cTn>
                              </p:par>
                              <p:par>
                                <p:cTn id="23" presetID="3" presetClass="entr" presetSubtype="1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blinds(horizontal)">
                                      <p:cBhvr>
                                        <p:cTn id="25" dur="500"/>
                                        <p:tgtEl>
                                          <p:spTgt spid="15"/>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blinds(horizontal)">
                                      <p:cBhvr>
                                        <p:cTn id="28" dur="500"/>
                                        <p:tgtEl>
                                          <p:spTgt spid="16"/>
                                        </p:tgtEl>
                                      </p:cBhvr>
                                    </p:animEffect>
                                  </p:childTnLst>
                                </p:cTn>
                              </p:par>
                              <p:par>
                                <p:cTn id="29" presetID="3" presetClass="entr" presetSubtype="1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blinds(horizontal)">
                                      <p:cBhvr>
                                        <p:cTn id="31" dur="500"/>
                                        <p:tgtEl>
                                          <p:spTgt spid="17"/>
                                        </p:tgtEl>
                                      </p:cBhvr>
                                    </p:animEffect>
                                  </p:childTnLst>
                                </p:cTn>
                              </p:par>
                              <p:par>
                                <p:cTn id="32" presetID="3" presetClass="entr" presetSubtype="10" fill="hold"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blinds(horizontal)">
                                      <p:cBhvr>
                                        <p:cTn id="34" dur="500"/>
                                        <p:tgtEl>
                                          <p:spTgt spid="18"/>
                                        </p:tgtEl>
                                      </p:cBhvr>
                                    </p:animEffect>
                                  </p:childTnLst>
                                </p:cTn>
                              </p:par>
                              <p:par>
                                <p:cTn id="35" presetID="3" presetClass="entr" presetSubtype="10" fill="hold"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blinds(horizontal)">
                                      <p:cBhvr>
                                        <p:cTn id="37" dur="500"/>
                                        <p:tgtEl>
                                          <p:spTgt spid="19"/>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blinds(horizontal)">
                                      <p:cBhvr>
                                        <p:cTn id="40" dur="500"/>
                                        <p:tgtEl>
                                          <p:spTgt spid="20"/>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blinds(horizontal)">
                                      <p:cBhvr>
                                        <p:cTn id="43" dur="500"/>
                                        <p:tgtEl>
                                          <p:spTgt spid="21"/>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blinds(horizontal)">
                                      <p:cBhvr>
                                        <p:cTn id="46" dur="500"/>
                                        <p:tgtEl>
                                          <p:spTgt spid="22"/>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animEffect transition="in" filter="blinds(horizontal)">
                                      <p:cBhvr>
                                        <p:cTn id="49" dur="500"/>
                                        <p:tgtEl>
                                          <p:spTgt spid="23"/>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blinds(horizontal)">
                                      <p:cBhvr>
                                        <p:cTn id="52" dur="500"/>
                                        <p:tgtEl>
                                          <p:spTgt spid="24"/>
                                        </p:tgtEl>
                                      </p:cBhvr>
                                    </p:animEffect>
                                  </p:childTnLst>
                                </p:cTn>
                              </p:par>
                              <p:par>
                                <p:cTn id="53" presetID="3" presetClass="entr" presetSubtype="10" fill="hold" grpId="0" nodeType="with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blinds(horizontal)">
                                      <p:cBhvr>
                                        <p:cTn id="55" dur="500"/>
                                        <p:tgtEl>
                                          <p:spTgt spid="25"/>
                                        </p:tgtEl>
                                      </p:cBhvr>
                                    </p:animEffect>
                                  </p:childTnLst>
                                </p:cTn>
                              </p:par>
                              <p:par>
                                <p:cTn id="56" presetID="3" presetClass="entr" presetSubtype="10" fill="hold" nodeType="with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blinds(horizontal)">
                                      <p:cBhvr>
                                        <p:cTn id="58" dur="500"/>
                                        <p:tgtEl>
                                          <p:spTgt spid="26"/>
                                        </p:tgtEl>
                                      </p:cBhvr>
                                    </p:animEffect>
                                  </p:childTnLst>
                                </p:cTn>
                              </p:par>
                              <p:par>
                                <p:cTn id="59" presetID="3" presetClass="entr" presetSubtype="10" fill="hold" nodeType="with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blinds(horizontal)">
                                      <p:cBhvr>
                                        <p:cTn id="61" dur="500"/>
                                        <p:tgtEl>
                                          <p:spTgt spid="27"/>
                                        </p:tgtEl>
                                      </p:cBhvr>
                                    </p:animEffect>
                                  </p:childTnLst>
                                </p:cTn>
                              </p:par>
                              <p:par>
                                <p:cTn id="62" presetID="3" presetClass="entr" presetSubtype="10" fill="hold" nodeType="with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blinds(horizontal)">
                                      <p:cBhvr>
                                        <p:cTn id="64" dur="500"/>
                                        <p:tgtEl>
                                          <p:spTgt spid="28"/>
                                        </p:tgtEl>
                                      </p:cBhvr>
                                    </p:animEffect>
                                  </p:childTnLst>
                                </p:cTn>
                              </p:par>
                              <p:par>
                                <p:cTn id="65" presetID="3" presetClass="entr" presetSubtype="10" fill="hold" grpId="0" nodeType="with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blinds(horizontal)">
                                      <p:cBhvr>
                                        <p:cTn id="67" dur="500"/>
                                        <p:tgtEl>
                                          <p:spTgt spid="29"/>
                                        </p:tgtEl>
                                      </p:cBhvr>
                                    </p:animEffect>
                                  </p:childTnLst>
                                </p:cTn>
                              </p:par>
                              <p:par>
                                <p:cTn id="68" presetID="3" presetClass="entr" presetSubtype="10" fill="hold" grpId="0" nodeType="with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blinds(horizontal)">
                                      <p:cBhvr>
                                        <p:cTn id="70" dur="500"/>
                                        <p:tgtEl>
                                          <p:spTgt spid="30"/>
                                        </p:tgtEl>
                                      </p:cBhvr>
                                    </p:animEffect>
                                  </p:childTnLst>
                                </p:cTn>
                              </p:par>
                              <p:par>
                                <p:cTn id="71" presetID="3" presetClass="entr" presetSubtype="10" fill="hold" nodeType="with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blinds(horizontal)">
                                      <p:cBhvr>
                                        <p:cTn id="73" dur="500"/>
                                        <p:tgtEl>
                                          <p:spTgt spid="31"/>
                                        </p:tgtEl>
                                      </p:cBhvr>
                                    </p:animEffect>
                                  </p:childTnLst>
                                </p:cTn>
                              </p:par>
                              <p:par>
                                <p:cTn id="74" presetID="3" presetClass="entr" presetSubtype="10" fill="hold" nodeType="withEffect">
                                  <p:stCondLst>
                                    <p:cond delay="0"/>
                                  </p:stCondLst>
                                  <p:childTnLst>
                                    <p:set>
                                      <p:cBhvr>
                                        <p:cTn id="75" dur="1" fill="hold">
                                          <p:stCondLst>
                                            <p:cond delay="0"/>
                                          </p:stCondLst>
                                        </p:cTn>
                                        <p:tgtEl>
                                          <p:spTgt spid="32"/>
                                        </p:tgtEl>
                                        <p:attrNameLst>
                                          <p:attrName>style.visibility</p:attrName>
                                        </p:attrNameLst>
                                      </p:cBhvr>
                                      <p:to>
                                        <p:strVal val="visible"/>
                                      </p:to>
                                    </p:set>
                                    <p:animEffect transition="in" filter="blinds(horizontal)">
                                      <p:cBhvr>
                                        <p:cTn id="76" dur="500"/>
                                        <p:tgtEl>
                                          <p:spTgt spid="32"/>
                                        </p:tgtEl>
                                      </p:cBhvr>
                                    </p:animEffect>
                                  </p:childTnLst>
                                </p:cTn>
                              </p:par>
                              <p:par>
                                <p:cTn id="77" presetID="3" presetClass="entr" presetSubtype="10" fill="hold" nodeType="withEffect">
                                  <p:stCondLst>
                                    <p:cond delay="0"/>
                                  </p:stCondLst>
                                  <p:childTnLst>
                                    <p:set>
                                      <p:cBhvr>
                                        <p:cTn id="78" dur="1" fill="hold">
                                          <p:stCondLst>
                                            <p:cond delay="0"/>
                                          </p:stCondLst>
                                        </p:cTn>
                                        <p:tgtEl>
                                          <p:spTgt spid="33"/>
                                        </p:tgtEl>
                                        <p:attrNameLst>
                                          <p:attrName>style.visibility</p:attrName>
                                        </p:attrNameLst>
                                      </p:cBhvr>
                                      <p:to>
                                        <p:strVal val="visible"/>
                                      </p:to>
                                    </p:set>
                                    <p:animEffect transition="in" filter="blinds(horizontal)">
                                      <p:cBhvr>
                                        <p:cTn id="79" dur="500"/>
                                        <p:tgtEl>
                                          <p:spTgt spid="33"/>
                                        </p:tgtEl>
                                      </p:cBhvr>
                                    </p:animEffect>
                                  </p:childTnLst>
                                </p:cTn>
                              </p:par>
                              <p:par>
                                <p:cTn id="80" presetID="3" presetClass="entr" presetSubtype="10" fill="hold" nodeType="withEffect">
                                  <p:stCondLst>
                                    <p:cond delay="0"/>
                                  </p:stCondLst>
                                  <p:childTnLst>
                                    <p:set>
                                      <p:cBhvr>
                                        <p:cTn id="81" dur="1" fill="hold">
                                          <p:stCondLst>
                                            <p:cond delay="0"/>
                                          </p:stCondLst>
                                        </p:cTn>
                                        <p:tgtEl>
                                          <p:spTgt spid="34"/>
                                        </p:tgtEl>
                                        <p:attrNameLst>
                                          <p:attrName>style.visibility</p:attrName>
                                        </p:attrNameLst>
                                      </p:cBhvr>
                                      <p:to>
                                        <p:strVal val="visible"/>
                                      </p:to>
                                    </p:set>
                                    <p:animEffect transition="in" filter="blinds(horizontal)">
                                      <p:cBhvr>
                                        <p:cTn id="82" dur="500"/>
                                        <p:tgtEl>
                                          <p:spTgt spid="34"/>
                                        </p:tgtEl>
                                      </p:cBhvr>
                                    </p:animEffect>
                                  </p:childTnLst>
                                </p:cTn>
                              </p:par>
                              <p:par>
                                <p:cTn id="83" presetID="3" presetClass="entr" presetSubtype="10" fill="hold" nodeType="withEffect">
                                  <p:stCondLst>
                                    <p:cond delay="0"/>
                                  </p:stCondLst>
                                  <p:childTnLst>
                                    <p:set>
                                      <p:cBhvr>
                                        <p:cTn id="84" dur="1" fill="hold">
                                          <p:stCondLst>
                                            <p:cond delay="0"/>
                                          </p:stCondLst>
                                        </p:cTn>
                                        <p:tgtEl>
                                          <p:spTgt spid="35"/>
                                        </p:tgtEl>
                                        <p:attrNameLst>
                                          <p:attrName>style.visibility</p:attrName>
                                        </p:attrNameLst>
                                      </p:cBhvr>
                                      <p:to>
                                        <p:strVal val="visible"/>
                                      </p:to>
                                    </p:set>
                                    <p:animEffect transition="in" filter="blinds(horizontal)">
                                      <p:cBhvr>
                                        <p:cTn id="85" dur="500"/>
                                        <p:tgtEl>
                                          <p:spTgt spid="35"/>
                                        </p:tgtEl>
                                      </p:cBhvr>
                                    </p:animEffect>
                                  </p:childTnLst>
                                </p:cTn>
                              </p:par>
                              <p:par>
                                <p:cTn id="86" presetID="3" presetClass="entr" presetSubtype="10" fill="hold" nodeType="withEffect">
                                  <p:stCondLst>
                                    <p:cond delay="0"/>
                                  </p:stCondLst>
                                  <p:childTnLst>
                                    <p:set>
                                      <p:cBhvr>
                                        <p:cTn id="87" dur="1" fill="hold">
                                          <p:stCondLst>
                                            <p:cond delay="0"/>
                                          </p:stCondLst>
                                        </p:cTn>
                                        <p:tgtEl>
                                          <p:spTgt spid="36"/>
                                        </p:tgtEl>
                                        <p:attrNameLst>
                                          <p:attrName>style.visibility</p:attrName>
                                        </p:attrNameLst>
                                      </p:cBhvr>
                                      <p:to>
                                        <p:strVal val="visible"/>
                                      </p:to>
                                    </p:set>
                                    <p:animEffect transition="in" filter="blinds(horizontal)">
                                      <p:cBhvr>
                                        <p:cTn id="88" dur="500"/>
                                        <p:tgtEl>
                                          <p:spTgt spid="36"/>
                                        </p:tgtEl>
                                      </p:cBhvr>
                                    </p:animEffect>
                                  </p:childTnLst>
                                </p:cTn>
                              </p:par>
                              <p:par>
                                <p:cTn id="89" presetID="3" presetClass="entr" presetSubtype="10" fill="hold" nodeType="withEffect">
                                  <p:stCondLst>
                                    <p:cond delay="0"/>
                                  </p:stCondLst>
                                  <p:childTnLst>
                                    <p:set>
                                      <p:cBhvr>
                                        <p:cTn id="90" dur="1" fill="hold">
                                          <p:stCondLst>
                                            <p:cond delay="0"/>
                                          </p:stCondLst>
                                        </p:cTn>
                                        <p:tgtEl>
                                          <p:spTgt spid="37"/>
                                        </p:tgtEl>
                                        <p:attrNameLst>
                                          <p:attrName>style.visibility</p:attrName>
                                        </p:attrNameLst>
                                      </p:cBhvr>
                                      <p:to>
                                        <p:strVal val="visible"/>
                                      </p:to>
                                    </p:set>
                                    <p:animEffect transition="in" filter="blinds(horizontal)">
                                      <p:cBhvr>
                                        <p:cTn id="91" dur="500"/>
                                        <p:tgtEl>
                                          <p:spTgt spid="37"/>
                                        </p:tgtEl>
                                      </p:cBhvr>
                                    </p:animEffect>
                                  </p:childTnLst>
                                </p:cTn>
                              </p:par>
                              <p:par>
                                <p:cTn id="92" presetID="3" presetClass="entr" presetSubtype="10" fill="hold" nodeType="withEffect">
                                  <p:stCondLst>
                                    <p:cond delay="0"/>
                                  </p:stCondLst>
                                  <p:childTnLst>
                                    <p:set>
                                      <p:cBhvr>
                                        <p:cTn id="93" dur="1" fill="hold">
                                          <p:stCondLst>
                                            <p:cond delay="0"/>
                                          </p:stCondLst>
                                        </p:cTn>
                                        <p:tgtEl>
                                          <p:spTgt spid="38"/>
                                        </p:tgtEl>
                                        <p:attrNameLst>
                                          <p:attrName>style.visibility</p:attrName>
                                        </p:attrNameLst>
                                      </p:cBhvr>
                                      <p:to>
                                        <p:strVal val="visible"/>
                                      </p:to>
                                    </p:set>
                                    <p:animEffect transition="in" filter="blinds(horizontal)">
                                      <p:cBhvr>
                                        <p:cTn id="94" dur="500"/>
                                        <p:tgtEl>
                                          <p:spTgt spid="38"/>
                                        </p:tgtEl>
                                      </p:cBhvr>
                                    </p:animEffect>
                                  </p:childTnLst>
                                </p:cTn>
                              </p:par>
                              <p:par>
                                <p:cTn id="95" presetID="3" presetClass="entr" presetSubtype="10" fill="hold" nodeType="withEffect">
                                  <p:stCondLst>
                                    <p:cond delay="0"/>
                                  </p:stCondLst>
                                  <p:childTnLst>
                                    <p:set>
                                      <p:cBhvr>
                                        <p:cTn id="96" dur="1" fill="hold">
                                          <p:stCondLst>
                                            <p:cond delay="0"/>
                                          </p:stCondLst>
                                        </p:cTn>
                                        <p:tgtEl>
                                          <p:spTgt spid="39"/>
                                        </p:tgtEl>
                                        <p:attrNameLst>
                                          <p:attrName>style.visibility</p:attrName>
                                        </p:attrNameLst>
                                      </p:cBhvr>
                                      <p:to>
                                        <p:strVal val="visible"/>
                                      </p:to>
                                    </p:set>
                                    <p:animEffect transition="in" filter="blinds(horizontal)">
                                      <p:cBhvr>
                                        <p:cTn id="97" dur="500"/>
                                        <p:tgtEl>
                                          <p:spTgt spid="39"/>
                                        </p:tgtEl>
                                      </p:cBhvr>
                                    </p:animEffect>
                                  </p:childTnLst>
                                </p:cTn>
                              </p:par>
                              <p:par>
                                <p:cTn id="98" presetID="3" presetClass="entr" presetSubtype="10" fill="hold" nodeType="withEffect">
                                  <p:stCondLst>
                                    <p:cond delay="0"/>
                                  </p:stCondLst>
                                  <p:childTnLst>
                                    <p:set>
                                      <p:cBhvr>
                                        <p:cTn id="99" dur="1" fill="hold">
                                          <p:stCondLst>
                                            <p:cond delay="0"/>
                                          </p:stCondLst>
                                        </p:cTn>
                                        <p:tgtEl>
                                          <p:spTgt spid="40"/>
                                        </p:tgtEl>
                                        <p:attrNameLst>
                                          <p:attrName>style.visibility</p:attrName>
                                        </p:attrNameLst>
                                      </p:cBhvr>
                                      <p:to>
                                        <p:strVal val="visible"/>
                                      </p:to>
                                    </p:set>
                                    <p:animEffect transition="in" filter="blinds(horizontal)">
                                      <p:cBhvr>
                                        <p:cTn id="100" dur="500"/>
                                        <p:tgtEl>
                                          <p:spTgt spid="40"/>
                                        </p:tgtEl>
                                      </p:cBhvr>
                                    </p:animEffect>
                                  </p:childTnLst>
                                </p:cTn>
                              </p:par>
                              <p:par>
                                <p:cTn id="101" presetID="3" presetClass="entr" presetSubtype="10" fill="hold" nodeType="withEffect">
                                  <p:stCondLst>
                                    <p:cond delay="0"/>
                                  </p:stCondLst>
                                  <p:childTnLst>
                                    <p:set>
                                      <p:cBhvr>
                                        <p:cTn id="102" dur="1" fill="hold">
                                          <p:stCondLst>
                                            <p:cond delay="0"/>
                                          </p:stCondLst>
                                        </p:cTn>
                                        <p:tgtEl>
                                          <p:spTgt spid="41"/>
                                        </p:tgtEl>
                                        <p:attrNameLst>
                                          <p:attrName>style.visibility</p:attrName>
                                        </p:attrNameLst>
                                      </p:cBhvr>
                                      <p:to>
                                        <p:strVal val="visible"/>
                                      </p:to>
                                    </p:set>
                                    <p:animEffect transition="in" filter="blinds(horizontal)">
                                      <p:cBhvr>
                                        <p:cTn id="103" dur="500"/>
                                        <p:tgtEl>
                                          <p:spTgt spid="41"/>
                                        </p:tgtEl>
                                      </p:cBhvr>
                                    </p:animEffect>
                                  </p:childTnLst>
                                </p:cTn>
                              </p:par>
                              <p:par>
                                <p:cTn id="104" presetID="3" presetClass="entr" presetSubtype="10" fill="hold" nodeType="withEffect">
                                  <p:stCondLst>
                                    <p:cond delay="0"/>
                                  </p:stCondLst>
                                  <p:childTnLst>
                                    <p:set>
                                      <p:cBhvr>
                                        <p:cTn id="105" dur="1" fill="hold">
                                          <p:stCondLst>
                                            <p:cond delay="0"/>
                                          </p:stCondLst>
                                        </p:cTn>
                                        <p:tgtEl>
                                          <p:spTgt spid="42"/>
                                        </p:tgtEl>
                                        <p:attrNameLst>
                                          <p:attrName>style.visibility</p:attrName>
                                        </p:attrNameLst>
                                      </p:cBhvr>
                                      <p:to>
                                        <p:strVal val="visible"/>
                                      </p:to>
                                    </p:set>
                                    <p:animEffect transition="in" filter="blinds(horizontal)">
                                      <p:cBhvr>
                                        <p:cTn id="106" dur="500"/>
                                        <p:tgtEl>
                                          <p:spTgt spid="42"/>
                                        </p:tgtEl>
                                      </p:cBhvr>
                                    </p:animEffect>
                                  </p:childTnLst>
                                </p:cTn>
                              </p:par>
                              <p:par>
                                <p:cTn id="107" presetID="3" presetClass="entr" presetSubtype="10" fill="hold" nodeType="withEffect">
                                  <p:stCondLst>
                                    <p:cond delay="0"/>
                                  </p:stCondLst>
                                  <p:childTnLst>
                                    <p:set>
                                      <p:cBhvr>
                                        <p:cTn id="108" dur="1" fill="hold">
                                          <p:stCondLst>
                                            <p:cond delay="0"/>
                                          </p:stCondLst>
                                        </p:cTn>
                                        <p:tgtEl>
                                          <p:spTgt spid="43"/>
                                        </p:tgtEl>
                                        <p:attrNameLst>
                                          <p:attrName>style.visibility</p:attrName>
                                        </p:attrNameLst>
                                      </p:cBhvr>
                                      <p:to>
                                        <p:strVal val="visible"/>
                                      </p:to>
                                    </p:set>
                                    <p:animEffect transition="in" filter="blinds(horizontal)">
                                      <p:cBhvr>
                                        <p:cTn id="109" dur="500"/>
                                        <p:tgtEl>
                                          <p:spTgt spid="43"/>
                                        </p:tgtEl>
                                      </p:cBhvr>
                                    </p:animEffect>
                                  </p:childTnLst>
                                </p:cTn>
                              </p:par>
                              <p:par>
                                <p:cTn id="110" presetID="3" presetClass="entr" presetSubtype="10" fill="hold" nodeType="withEffect">
                                  <p:stCondLst>
                                    <p:cond delay="0"/>
                                  </p:stCondLst>
                                  <p:childTnLst>
                                    <p:set>
                                      <p:cBhvr>
                                        <p:cTn id="111" dur="1" fill="hold">
                                          <p:stCondLst>
                                            <p:cond delay="0"/>
                                          </p:stCondLst>
                                        </p:cTn>
                                        <p:tgtEl>
                                          <p:spTgt spid="44"/>
                                        </p:tgtEl>
                                        <p:attrNameLst>
                                          <p:attrName>style.visibility</p:attrName>
                                        </p:attrNameLst>
                                      </p:cBhvr>
                                      <p:to>
                                        <p:strVal val="visible"/>
                                      </p:to>
                                    </p:set>
                                    <p:animEffect transition="in" filter="blinds(horizontal)">
                                      <p:cBhvr>
                                        <p:cTn id="112" dur="500"/>
                                        <p:tgtEl>
                                          <p:spTgt spid="44"/>
                                        </p:tgtEl>
                                      </p:cBhvr>
                                    </p:animEffect>
                                  </p:childTnLst>
                                </p:cTn>
                              </p:par>
                              <p:par>
                                <p:cTn id="113" presetID="3" presetClass="entr" presetSubtype="10" fill="hold" grpId="0" nodeType="withEffect">
                                  <p:stCondLst>
                                    <p:cond delay="0"/>
                                  </p:stCondLst>
                                  <p:childTnLst>
                                    <p:set>
                                      <p:cBhvr>
                                        <p:cTn id="114" dur="1" fill="hold">
                                          <p:stCondLst>
                                            <p:cond delay="0"/>
                                          </p:stCondLst>
                                        </p:cTn>
                                        <p:tgtEl>
                                          <p:spTgt spid="45"/>
                                        </p:tgtEl>
                                        <p:attrNameLst>
                                          <p:attrName>style.visibility</p:attrName>
                                        </p:attrNameLst>
                                      </p:cBhvr>
                                      <p:to>
                                        <p:strVal val="visible"/>
                                      </p:to>
                                    </p:set>
                                    <p:animEffect transition="in" filter="blinds(horizontal)">
                                      <p:cBhvr>
                                        <p:cTn id="115" dur="500"/>
                                        <p:tgtEl>
                                          <p:spTgt spid="45"/>
                                        </p:tgtEl>
                                      </p:cBhvr>
                                    </p:animEffect>
                                  </p:childTnLst>
                                </p:cTn>
                              </p:par>
                              <p:par>
                                <p:cTn id="116" presetID="3" presetClass="entr" presetSubtype="10" fill="hold" nodeType="withEffect">
                                  <p:stCondLst>
                                    <p:cond delay="0"/>
                                  </p:stCondLst>
                                  <p:childTnLst>
                                    <p:set>
                                      <p:cBhvr>
                                        <p:cTn id="117" dur="1" fill="hold">
                                          <p:stCondLst>
                                            <p:cond delay="0"/>
                                          </p:stCondLst>
                                        </p:cTn>
                                        <p:tgtEl>
                                          <p:spTgt spid="46"/>
                                        </p:tgtEl>
                                        <p:attrNameLst>
                                          <p:attrName>style.visibility</p:attrName>
                                        </p:attrNameLst>
                                      </p:cBhvr>
                                      <p:to>
                                        <p:strVal val="visible"/>
                                      </p:to>
                                    </p:set>
                                    <p:animEffect transition="in" filter="blinds(horizontal)">
                                      <p:cBhvr>
                                        <p:cTn id="118" dur="500"/>
                                        <p:tgtEl>
                                          <p:spTgt spid="46"/>
                                        </p:tgtEl>
                                      </p:cBhvr>
                                    </p:animEffect>
                                  </p:childTnLst>
                                </p:cTn>
                              </p:par>
                              <p:par>
                                <p:cTn id="119" presetID="3" presetClass="entr" presetSubtype="10" fill="hold" grpId="0" nodeType="withEffect">
                                  <p:stCondLst>
                                    <p:cond delay="0"/>
                                  </p:stCondLst>
                                  <p:childTnLst>
                                    <p:set>
                                      <p:cBhvr>
                                        <p:cTn id="120" dur="1" fill="hold">
                                          <p:stCondLst>
                                            <p:cond delay="0"/>
                                          </p:stCondLst>
                                        </p:cTn>
                                        <p:tgtEl>
                                          <p:spTgt spid="47"/>
                                        </p:tgtEl>
                                        <p:attrNameLst>
                                          <p:attrName>style.visibility</p:attrName>
                                        </p:attrNameLst>
                                      </p:cBhvr>
                                      <p:to>
                                        <p:strVal val="visible"/>
                                      </p:to>
                                    </p:set>
                                    <p:animEffect transition="in" filter="blinds(horizontal)">
                                      <p:cBhvr>
                                        <p:cTn id="121" dur="500"/>
                                        <p:tgtEl>
                                          <p:spTgt spid="47"/>
                                        </p:tgtEl>
                                      </p:cBhvr>
                                    </p:animEffect>
                                  </p:childTnLst>
                                </p:cTn>
                              </p:par>
                            </p:childTnLst>
                          </p:cTn>
                        </p:par>
                      </p:childTnLst>
                    </p:cTn>
                  </p:par>
                  <p:par>
                    <p:cTn id="122" fill="hold">
                      <p:stCondLst>
                        <p:cond delay="indefinite"/>
                      </p:stCondLst>
                      <p:childTnLst>
                        <p:par>
                          <p:cTn id="123" fill="hold">
                            <p:stCondLst>
                              <p:cond delay="0"/>
                            </p:stCondLst>
                            <p:childTnLst>
                              <p:par>
                                <p:cTn id="124" presetID="3" presetClass="entr" presetSubtype="10" fill="hold" grpId="0" nodeType="clickEffect">
                                  <p:stCondLst>
                                    <p:cond delay="0"/>
                                  </p:stCondLst>
                                  <p:childTnLst>
                                    <p:set>
                                      <p:cBhvr>
                                        <p:cTn id="125" dur="1" fill="hold">
                                          <p:stCondLst>
                                            <p:cond delay="0"/>
                                          </p:stCondLst>
                                        </p:cTn>
                                        <p:tgtEl>
                                          <p:spTgt spid="48"/>
                                        </p:tgtEl>
                                        <p:attrNameLst>
                                          <p:attrName>style.visibility</p:attrName>
                                        </p:attrNameLst>
                                      </p:cBhvr>
                                      <p:to>
                                        <p:strVal val="visible"/>
                                      </p:to>
                                    </p:set>
                                    <p:animEffect transition="in" filter="blinds(horizontal)">
                                      <p:cBhvr>
                                        <p:cTn id="126" dur="500"/>
                                        <p:tgtEl>
                                          <p:spTgt spid="48"/>
                                        </p:tgtEl>
                                      </p:cBhvr>
                                    </p:animEffect>
                                  </p:childTnLst>
                                </p:cTn>
                              </p:par>
                              <p:par>
                                <p:cTn id="127" presetID="3" presetClass="entr" presetSubtype="10" fill="hold" grpId="0" nodeType="withEffect">
                                  <p:stCondLst>
                                    <p:cond delay="0"/>
                                  </p:stCondLst>
                                  <p:childTnLst>
                                    <p:set>
                                      <p:cBhvr>
                                        <p:cTn id="128" dur="1" fill="hold">
                                          <p:stCondLst>
                                            <p:cond delay="0"/>
                                          </p:stCondLst>
                                        </p:cTn>
                                        <p:tgtEl>
                                          <p:spTgt spid="49"/>
                                        </p:tgtEl>
                                        <p:attrNameLst>
                                          <p:attrName>style.visibility</p:attrName>
                                        </p:attrNameLst>
                                      </p:cBhvr>
                                      <p:to>
                                        <p:strVal val="visible"/>
                                      </p:to>
                                    </p:set>
                                    <p:animEffect transition="in" filter="blinds(horizontal)">
                                      <p:cBhvr>
                                        <p:cTn id="129" dur="500"/>
                                        <p:tgtEl>
                                          <p:spTgt spid="49"/>
                                        </p:tgtEl>
                                      </p:cBhvr>
                                    </p:animEffect>
                                  </p:childTnLst>
                                </p:cTn>
                              </p:par>
                              <p:par>
                                <p:cTn id="130" presetID="3" presetClass="entr" presetSubtype="10" fill="hold" grpId="0" nodeType="withEffect">
                                  <p:stCondLst>
                                    <p:cond delay="0"/>
                                  </p:stCondLst>
                                  <p:childTnLst>
                                    <p:set>
                                      <p:cBhvr>
                                        <p:cTn id="131" dur="1" fill="hold">
                                          <p:stCondLst>
                                            <p:cond delay="0"/>
                                          </p:stCondLst>
                                        </p:cTn>
                                        <p:tgtEl>
                                          <p:spTgt spid="53"/>
                                        </p:tgtEl>
                                        <p:attrNameLst>
                                          <p:attrName>style.visibility</p:attrName>
                                        </p:attrNameLst>
                                      </p:cBhvr>
                                      <p:to>
                                        <p:strVal val="visible"/>
                                      </p:to>
                                    </p:set>
                                    <p:animEffect transition="in" filter="blinds(horizontal)">
                                      <p:cBhvr>
                                        <p:cTn id="132" dur="500"/>
                                        <p:tgtEl>
                                          <p:spTgt spid="53"/>
                                        </p:tgtEl>
                                      </p:cBhvr>
                                    </p:animEffect>
                                  </p:childTnLst>
                                </p:cTn>
                              </p:par>
                              <p:par>
                                <p:cTn id="133" presetID="3" presetClass="entr" presetSubtype="10" fill="hold" grpId="0" nodeType="withEffect">
                                  <p:stCondLst>
                                    <p:cond delay="0"/>
                                  </p:stCondLst>
                                  <p:childTnLst>
                                    <p:set>
                                      <p:cBhvr>
                                        <p:cTn id="134" dur="1" fill="hold">
                                          <p:stCondLst>
                                            <p:cond delay="0"/>
                                          </p:stCondLst>
                                        </p:cTn>
                                        <p:tgtEl>
                                          <p:spTgt spid="54"/>
                                        </p:tgtEl>
                                        <p:attrNameLst>
                                          <p:attrName>style.visibility</p:attrName>
                                        </p:attrNameLst>
                                      </p:cBhvr>
                                      <p:to>
                                        <p:strVal val="visible"/>
                                      </p:to>
                                    </p:set>
                                    <p:animEffect transition="in" filter="blinds(horizontal)">
                                      <p:cBhvr>
                                        <p:cTn id="135"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6" grpId="0" animBg="1"/>
      <p:bldP spid="20" grpId="0" animBg="1"/>
      <p:bldP spid="21" grpId="0" animBg="1"/>
      <p:bldP spid="22" grpId="0" animBg="1"/>
      <p:bldP spid="23" grpId="0" animBg="1"/>
      <p:bldP spid="24" grpId="0" animBg="1"/>
      <p:bldP spid="25" grpId="0" animBg="1"/>
      <p:bldP spid="29" grpId="0" animBg="1"/>
      <p:bldP spid="30" grpId="0" animBg="1"/>
      <p:bldP spid="45" grpId="0" animBg="1"/>
      <p:bldP spid="47" grpId="0"/>
      <p:bldP spid="48" grpId="0"/>
      <p:bldP spid="49" grpId="0"/>
      <p:bldP spid="53" grpId="0" animBg="1"/>
      <p:bldP spid="5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4BB66-BCA5-26D5-6A17-85B9AA6AD98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B94B1DB-978D-62D2-6213-9B1897B87049}"/>
              </a:ext>
            </a:extLst>
          </p:cNvPr>
          <p:cNvSpPr>
            <a:spLocks noGrp="1"/>
          </p:cNvSpPr>
          <p:nvPr>
            <p:ph type="ctrTitle"/>
          </p:nvPr>
        </p:nvSpPr>
        <p:spPr>
          <a:xfrm>
            <a:off x="149629" y="182880"/>
            <a:ext cx="11006051" cy="650972"/>
          </a:xfrm>
        </p:spPr>
        <p:txBody>
          <a:bodyPr>
            <a:noAutofit/>
          </a:bodyPr>
          <a:lstStyle/>
          <a:p>
            <a:pPr algn="l">
              <a:lnSpc>
                <a:spcPct val="130000"/>
              </a:lnSpc>
            </a:pPr>
            <a:r>
              <a:rPr lang="en-US" altLang="zh-CN" sz="3600" b="1" dirty="0">
                <a:latin typeface="Calibri" panose="020F0502020204030204" pitchFamily="34" charset="0"/>
                <a:ea typeface="SimHei" charset="-122"/>
                <a:cs typeface="Calibri" panose="020F0502020204030204" pitchFamily="34" charset="0"/>
              </a:rPr>
              <a:t>Communication Bottleneck </a:t>
            </a:r>
            <a:endParaRPr lang="en" altLang="zh-CN" sz="3600" b="1" dirty="0">
              <a:latin typeface="Calibri" panose="020F0502020204030204" pitchFamily="34" charset="0"/>
              <a:ea typeface="SimHei" charset="-122"/>
              <a:cs typeface="Calibri" panose="020F0502020204030204" pitchFamily="34" charset="0"/>
            </a:endParaRPr>
          </a:p>
        </p:txBody>
      </p:sp>
      <p:sp>
        <p:nvSpPr>
          <p:cNvPr id="7" name="灯片编号占位符 6">
            <a:extLst>
              <a:ext uri="{FF2B5EF4-FFF2-40B4-BE49-F238E27FC236}">
                <a16:creationId xmlns:a16="http://schemas.microsoft.com/office/drawing/2014/main" id="{3375D0CC-A586-6F58-3717-CE997C64F026}"/>
              </a:ext>
            </a:extLst>
          </p:cNvPr>
          <p:cNvSpPr>
            <a:spLocks noGrp="1"/>
          </p:cNvSpPr>
          <p:nvPr>
            <p:ph type="sldNum" sz="quarter" idx="12"/>
          </p:nvPr>
        </p:nvSpPr>
        <p:spPr/>
        <p:txBody>
          <a:bodyPr/>
          <a:lstStyle/>
          <a:p>
            <a:fld id="{24910F54-69FC-A944-93E9-EFB57972FC5C}" type="slidenum">
              <a:rPr kumimoji="1" lang="zh-CN" altLang="en-US" smtClean="0"/>
              <a:t>5</a:t>
            </a:fld>
            <a:endParaRPr kumimoji="1" lang="zh-CN" altLang="en-US" dirty="0"/>
          </a:p>
        </p:txBody>
      </p:sp>
      <p:sp>
        <p:nvSpPr>
          <p:cNvPr id="56" name="文本框 55">
            <a:extLst>
              <a:ext uri="{FF2B5EF4-FFF2-40B4-BE49-F238E27FC236}">
                <a16:creationId xmlns:a16="http://schemas.microsoft.com/office/drawing/2014/main" id="{AFE3D42C-C7B8-504B-6CC5-80C62B9FBF61}"/>
              </a:ext>
            </a:extLst>
          </p:cNvPr>
          <p:cNvSpPr txBox="1"/>
          <p:nvPr/>
        </p:nvSpPr>
        <p:spPr>
          <a:xfrm>
            <a:off x="400774" y="1088899"/>
            <a:ext cx="11283150" cy="584775"/>
          </a:xfrm>
          <a:prstGeom prst="rect">
            <a:avLst/>
          </a:prstGeom>
          <a:noFill/>
        </p:spPr>
        <p:txBody>
          <a:bodyPr wrap="square">
            <a:spAutoFit/>
          </a:bodyPr>
          <a:lstStyle/>
          <a:p>
            <a:r>
              <a:rPr lang="en-US" altLang="zh-CN" sz="3200" dirty="0">
                <a:latin typeface="Calibri" panose="020F0502020204030204" pitchFamily="34" charset="0"/>
                <a:cs typeface="Calibri" panose="020F0502020204030204" pitchFamily="34" charset="0"/>
              </a:rPr>
              <a:t>2. Hardware</a:t>
            </a:r>
            <a:r>
              <a:rPr lang="zh-CN" altLang="en-US" sz="3200" dirty="0">
                <a:latin typeface="Calibri" panose="020F0502020204030204" pitchFamily="34" charset="0"/>
                <a:cs typeface="Calibri" panose="020F0502020204030204" pitchFamily="34" charset="0"/>
              </a:rPr>
              <a:t> </a:t>
            </a:r>
            <a:r>
              <a:rPr lang="en-US" altLang="zh-CN" sz="3200" dirty="0">
                <a:latin typeface="Calibri" panose="020F0502020204030204" pitchFamily="34" charset="0"/>
                <a:cs typeface="Calibri" panose="020F0502020204030204" pitchFamily="34" charset="0"/>
              </a:rPr>
              <a:t>evolution &amp; low-precision training </a:t>
            </a:r>
          </a:p>
        </p:txBody>
      </p:sp>
      <p:pic>
        <p:nvPicPr>
          <p:cNvPr id="4" name="图片 3">
            <a:extLst>
              <a:ext uri="{FF2B5EF4-FFF2-40B4-BE49-F238E27FC236}">
                <a16:creationId xmlns:a16="http://schemas.microsoft.com/office/drawing/2014/main" id="{84222540-3A85-8B36-1BD3-312E65D13D04}"/>
              </a:ext>
            </a:extLst>
          </p:cNvPr>
          <p:cNvPicPr>
            <a:picLocks noChangeAspect="1"/>
          </p:cNvPicPr>
          <p:nvPr/>
        </p:nvPicPr>
        <p:blipFill>
          <a:blip r:embed="rId3"/>
          <a:stretch>
            <a:fillRect/>
          </a:stretch>
        </p:blipFill>
        <p:spPr>
          <a:xfrm>
            <a:off x="2513676" y="2218440"/>
            <a:ext cx="7164648" cy="3909643"/>
          </a:xfrm>
          <a:prstGeom prst="rect">
            <a:avLst/>
          </a:prstGeom>
        </p:spPr>
      </p:pic>
      <p:sp>
        <p:nvSpPr>
          <p:cNvPr id="5" name="Rectangle 18">
            <a:extLst>
              <a:ext uri="{FF2B5EF4-FFF2-40B4-BE49-F238E27FC236}">
                <a16:creationId xmlns:a16="http://schemas.microsoft.com/office/drawing/2014/main" id="{00FD2177-4703-9CC7-15EC-15C34643AE58}"/>
              </a:ext>
            </a:extLst>
          </p:cNvPr>
          <p:cNvSpPr/>
          <p:nvPr/>
        </p:nvSpPr>
        <p:spPr>
          <a:xfrm>
            <a:off x="0" y="965411"/>
            <a:ext cx="12192000" cy="5390940"/>
          </a:xfrm>
          <a:prstGeom prst="rect">
            <a:avLst/>
          </a:prstGeom>
          <a:solidFill>
            <a:srgbClr val="EAEAEA">
              <a:alpha val="89553"/>
            </a:srgb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文本框 5">
            <a:extLst>
              <a:ext uri="{FF2B5EF4-FFF2-40B4-BE49-F238E27FC236}">
                <a16:creationId xmlns:a16="http://schemas.microsoft.com/office/drawing/2014/main" id="{5249C020-4F9C-CD3D-78B6-EBAF82889641}"/>
              </a:ext>
            </a:extLst>
          </p:cNvPr>
          <p:cNvSpPr txBox="1"/>
          <p:nvPr/>
        </p:nvSpPr>
        <p:spPr>
          <a:xfrm>
            <a:off x="953585" y="3122272"/>
            <a:ext cx="10177527" cy="1077218"/>
          </a:xfrm>
          <a:prstGeom prst="rect">
            <a:avLst/>
          </a:prstGeom>
          <a:noFill/>
        </p:spPr>
        <p:txBody>
          <a:bodyPr wrap="square">
            <a:spAutoFit/>
          </a:bodyPr>
          <a:lstStyle/>
          <a:p>
            <a:pPr algn="ctr"/>
            <a:r>
              <a:rPr lang="en" altLang="zh-CN" sz="3200" b="1" dirty="0">
                <a:solidFill>
                  <a:srgbClr val="C00000"/>
                </a:solidFill>
                <a:latin typeface="Calibri" panose="020F0502020204030204" pitchFamily="34" charset="0"/>
                <a:cs typeface="Calibri" panose="020F0502020204030204" pitchFamily="34" charset="0"/>
              </a:rPr>
              <a:t>Communication takes 43.6% of the forward pass time and 32% of the entire training time for an internal model</a:t>
            </a:r>
            <a:endParaRPr lang="en-US" altLang="zh-CN" sz="3200" b="1" dirty="0">
              <a:solidFill>
                <a:srgbClr val="C00000"/>
              </a:solidFill>
              <a:latin typeface="Calibri" panose="020F0502020204030204" pitchFamily="34" charset="0"/>
              <a:cs typeface="Calibri" panose="020F0502020204030204" pitchFamily="34" charset="0"/>
            </a:endParaRPr>
          </a:p>
        </p:txBody>
      </p:sp>
      <p:pic>
        <p:nvPicPr>
          <p:cNvPr id="8" name="图片 7">
            <a:extLst>
              <a:ext uri="{FF2B5EF4-FFF2-40B4-BE49-F238E27FC236}">
                <a16:creationId xmlns:a16="http://schemas.microsoft.com/office/drawing/2014/main" id="{9EF450CF-2D03-A113-82EF-B8F6A28E0441}"/>
              </a:ext>
            </a:extLst>
          </p:cNvPr>
          <p:cNvPicPr>
            <a:picLocks noChangeAspect="1"/>
          </p:cNvPicPr>
          <p:nvPr/>
        </p:nvPicPr>
        <p:blipFill>
          <a:blip r:embed="rId4"/>
          <a:stretch>
            <a:fillRect/>
          </a:stretch>
        </p:blipFill>
        <p:spPr>
          <a:xfrm>
            <a:off x="9433687" y="331968"/>
            <a:ext cx="2743200" cy="387856"/>
          </a:xfrm>
          <a:prstGeom prst="rect">
            <a:avLst/>
          </a:prstGeom>
        </p:spPr>
      </p:pic>
      <p:pic>
        <p:nvPicPr>
          <p:cNvPr id="9" name="图片 8">
            <a:extLst>
              <a:ext uri="{FF2B5EF4-FFF2-40B4-BE49-F238E27FC236}">
                <a16:creationId xmlns:a16="http://schemas.microsoft.com/office/drawing/2014/main" id="{EA26ED01-FEAF-D437-E550-A3C1E3F32C2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927450" y="335419"/>
            <a:ext cx="1366300" cy="384405"/>
          </a:xfrm>
          <a:prstGeom prst="rect">
            <a:avLst/>
          </a:prstGeom>
        </p:spPr>
      </p:pic>
    </p:spTree>
    <p:extLst>
      <p:ext uri="{BB962C8B-B14F-4D97-AF65-F5344CB8AC3E}">
        <p14:creationId xmlns:p14="http://schemas.microsoft.com/office/powerpoint/2010/main" val="1930010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checkerboard(across)">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2A5CD-2C53-1CBF-2D80-3CDF0ACD87B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A11D0E1-647C-2037-FEB9-FEEE0F131CA0}"/>
              </a:ext>
            </a:extLst>
          </p:cNvPr>
          <p:cNvSpPr>
            <a:spLocks noGrp="1"/>
          </p:cNvSpPr>
          <p:nvPr>
            <p:ph type="ctrTitle"/>
          </p:nvPr>
        </p:nvSpPr>
        <p:spPr>
          <a:xfrm>
            <a:off x="149629" y="182880"/>
            <a:ext cx="11006051" cy="650972"/>
          </a:xfrm>
        </p:spPr>
        <p:txBody>
          <a:bodyPr>
            <a:noAutofit/>
          </a:bodyPr>
          <a:lstStyle/>
          <a:p>
            <a:pPr algn="l">
              <a:lnSpc>
                <a:spcPct val="130000"/>
              </a:lnSpc>
            </a:pPr>
            <a:r>
              <a:rPr lang="en-US" altLang="zh-CN" sz="3600" b="1" dirty="0">
                <a:latin typeface="Calibri" panose="020F0502020204030204" pitchFamily="34" charset="0"/>
                <a:ea typeface="SimHei" charset="-122"/>
                <a:cs typeface="Calibri" panose="020F0502020204030204" pitchFamily="34" charset="0"/>
              </a:rPr>
              <a:t>Our solution: </a:t>
            </a:r>
            <a:r>
              <a:rPr lang="en-US" altLang="zh-CN" sz="3600" b="1" dirty="0" err="1">
                <a:latin typeface="Calibri" panose="020F0502020204030204" pitchFamily="34" charset="0"/>
                <a:ea typeface="SimHei" charset="-122"/>
                <a:cs typeface="Calibri" panose="020F0502020204030204" pitchFamily="34" charset="0"/>
              </a:rPr>
              <a:t>MegaScale-MoE</a:t>
            </a:r>
            <a:endParaRPr lang="en" altLang="zh-CN" sz="3600" b="1" dirty="0">
              <a:latin typeface="Calibri" panose="020F0502020204030204" pitchFamily="34" charset="0"/>
              <a:ea typeface="SimHei" charset="-122"/>
              <a:cs typeface="Calibri" panose="020F0502020204030204" pitchFamily="34" charset="0"/>
            </a:endParaRPr>
          </a:p>
        </p:txBody>
      </p:sp>
      <p:sp>
        <p:nvSpPr>
          <p:cNvPr id="7" name="灯片编号占位符 6">
            <a:extLst>
              <a:ext uri="{FF2B5EF4-FFF2-40B4-BE49-F238E27FC236}">
                <a16:creationId xmlns:a16="http://schemas.microsoft.com/office/drawing/2014/main" id="{CD389733-CC50-90C6-FF8E-BAF02FC55A20}"/>
              </a:ext>
            </a:extLst>
          </p:cNvPr>
          <p:cNvSpPr>
            <a:spLocks noGrp="1"/>
          </p:cNvSpPr>
          <p:nvPr>
            <p:ph type="sldNum" sz="quarter" idx="12"/>
          </p:nvPr>
        </p:nvSpPr>
        <p:spPr/>
        <p:txBody>
          <a:bodyPr/>
          <a:lstStyle/>
          <a:p>
            <a:fld id="{24910F54-69FC-A944-93E9-EFB57972FC5C}" type="slidenum">
              <a:rPr kumimoji="1" lang="zh-CN" altLang="en-US" smtClean="0"/>
              <a:t>6</a:t>
            </a:fld>
            <a:endParaRPr kumimoji="1" lang="zh-CN" altLang="en-US" dirty="0"/>
          </a:p>
        </p:txBody>
      </p:sp>
      <p:sp>
        <p:nvSpPr>
          <p:cNvPr id="5" name="文本框 4">
            <a:extLst>
              <a:ext uri="{FF2B5EF4-FFF2-40B4-BE49-F238E27FC236}">
                <a16:creationId xmlns:a16="http://schemas.microsoft.com/office/drawing/2014/main" id="{B09CD742-71FF-85A5-AC59-7ED7A6A656D0}"/>
              </a:ext>
            </a:extLst>
          </p:cNvPr>
          <p:cNvSpPr txBox="1"/>
          <p:nvPr/>
        </p:nvSpPr>
        <p:spPr>
          <a:xfrm>
            <a:off x="255937" y="1289953"/>
            <a:ext cx="11680125" cy="4278094"/>
          </a:xfrm>
          <a:prstGeom prst="rect">
            <a:avLst/>
          </a:prstGeom>
          <a:noFill/>
        </p:spPr>
        <p:txBody>
          <a:bodyPr wrap="square">
            <a:spAutoFit/>
          </a:bodyPr>
          <a:lstStyle/>
          <a:p>
            <a:pPr marL="457200" indent="-457200">
              <a:buFont typeface="Arial" panose="020B0604020202020204" pitchFamily="34" charset="0"/>
              <a:buChar char="•"/>
            </a:pPr>
            <a:r>
              <a:rPr lang="en-US" altLang="zh-CN" sz="3200" b="1" dirty="0">
                <a:latin typeface="Calibri" panose="020F0502020204030204" pitchFamily="34" charset="0"/>
                <a:cs typeface="Calibri" panose="020F0502020204030204" pitchFamily="34" charset="0"/>
              </a:rPr>
              <a:t>Communication-efficient parallelism </a:t>
            </a:r>
          </a:p>
          <a:p>
            <a:pPr marL="914400" lvl="1" indent="-457200">
              <a:buFont typeface="Arial" panose="020B0604020202020204" pitchFamily="34" charset="0"/>
              <a:buChar char="•"/>
            </a:pPr>
            <a:r>
              <a:rPr lang="en-US" altLang="zh-CN" sz="2800" b="1" dirty="0">
                <a:latin typeface="Calibri" panose="020F0502020204030204" pitchFamily="34" charset="0"/>
                <a:cs typeface="Calibri" panose="020F0502020204030204" pitchFamily="34" charset="0"/>
              </a:rPr>
              <a:t>Reduce</a:t>
            </a:r>
            <a:r>
              <a:rPr lang="en-US" altLang="zh-CN" sz="2800" dirty="0">
                <a:latin typeface="Calibri" panose="020F0502020204030204" pitchFamily="34" charset="0"/>
                <a:cs typeface="Calibri" panose="020F0502020204030204" pitchFamily="34" charset="0"/>
              </a:rPr>
              <a:t> communication volume by choosing better parallelism strategies</a:t>
            </a:r>
          </a:p>
          <a:p>
            <a:pPr marL="914400" lvl="1" indent="-457200">
              <a:buFont typeface="Arial" panose="020B0604020202020204" pitchFamily="34" charset="0"/>
              <a:buChar char="•"/>
            </a:pPr>
            <a:endParaRPr lang="en-US" altLang="zh-CN" sz="3200" dirty="0">
              <a:latin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en-US" altLang="zh-CN" sz="3200" b="1" dirty="0">
                <a:latin typeface="Calibri" panose="020F0502020204030204" pitchFamily="34" charset="0"/>
                <a:cs typeface="Calibri" panose="020F0502020204030204" pitchFamily="34" charset="0"/>
              </a:rPr>
              <a:t>Communication-computation overlap</a:t>
            </a:r>
          </a:p>
          <a:p>
            <a:pPr marL="914400" lvl="1" indent="-457200">
              <a:buFont typeface="Arial" panose="020B0604020202020204" pitchFamily="34" charset="0"/>
              <a:buChar char="•"/>
            </a:pPr>
            <a:r>
              <a:rPr lang="en-US" altLang="zh-CN" sz="2800" b="1" dirty="0">
                <a:latin typeface="Calibri" panose="020F0502020204030204" pitchFamily="34" charset="0"/>
                <a:cs typeface="Calibri" panose="020F0502020204030204" pitchFamily="34" charset="0"/>
              </a:rPr>
              <a:t>Hide</a:t>
            </a:r>
            <a:r>
              <a:rPr lang="en-US" altLang="zh-CN" sz="2800" dirty="0">
                <a:latin typeface="Calibri" panose="020F0502020204030204" pitchFamily="34" charset="0"/>
                <a:cs typeface="Calibri" panose="020F0502020204030204" pitchFamily="34" charset="0"/>
              </a:rPr>
              <a:t> the communication latency through operator scheduling and fusion</a:t>
            </a:r>
          </a:p>
          <a:p>
            <a:pPr marL="914400" lvl="1" indent="-457200">
              <a:buFont typeface="Arial" panose="020B0604020202020204" pitchFamily="34" charset="0"/>
              <a:buChar char="•"/>
            </a:pPr>
            <a:endParaRPr lang="en-US" altLang="zh-CN" sz="3200" dirty="0">
              <a:latin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en-US" altLang="zh-CN" sz="3200" b="1" dirty="0">
                <a:latin typeface="Calibri" panose="020F0502020204030204" pitchFamily="34" charset="0"/>
                <a:cs typeface="Calibri" panose="020F0502020204030204" pitchFamily="34" charset="0"/>
              </a:rPr>
              <a:t>Communication compression</a:t>
            </a:r>
          </a:p>
          <a:p>
            <a:pPr marL="914400" lvl="1" indent="-457200">
              <a:buFont typeface="Arial" panose="020B0604020202020204" pitchFamily="34" charset="0"/>
              <a:buChar char="•"/>
            </a:pPr>
            <a:r>
              <a:rPr lang="en-US" altLang="zh-CN" sz="2800" b="1" dirty="0">
                <a:latin typeface="Calibri" panose="020F0502020204030204" pitchFamily="34" charset="0"/>
                <a:cs typeface="Calibri" panose="020F0502020204030204" pitchFamily="34" charset="0"/>
              </a:rPr>
              <a:t>Compress</a:t>
            </a:r>
            <a:r>
              <a:rPr lang="en-US" altLang="zh-CN" sz="2800" dirty="0">
                <a:latin typeface="Calibri" panose="020F0502020204030204" pitchFamily="34" charset="0"/>
                <a:cs typeface="Calibri" panose="020F0502020204030204" pitchFamily="34" charset="0"/>
              </a:rPr>
              <a:t> bandwidth cost by lowering communication precision while preserving convergence</a:t>
            </a:r>
          </a:p>
        </p:txBody>
      </p:sp>
      <p:pic>
        <p:nvPicPr>
          <p:cNvPr id="4" name="图片 3">
            <a:extLst>
              <a:ext uri="{FF2B5EF4-FFF2-40B4-BE49-F238E27FC236}">
                <a16:creationId xmlns:a16="http://schemas.microsoft.com/office/drawing/2014/main" id="{6E1038D5-666F-D359-EE2A-4CE29DA902DF}"/>
              </a:ext>
            </a:extLst>
          </p:cNvPr>
          <p:cNvPicPr>
            <a:picLocks noChangeAspect="1"/>
          </p:cNvPicPr>
          <p:nvPr/>
        </p:nvPicPr>
        <p:blipFill>
          <a:blip r:embed="rId3"/>
          <a:stretch>
            <a:fillRect/>
          </a:stretch>
        </p:blipFill>
        <p:spPr>
          <a:xfrm>
            <a:off x="9433687" y="331968"/>
            <a:ext cx="2743200" cy="387856"/>
          </a:xfrm>
          <a:prstGeom prst="rect">
            <a:avLst/>
          </a:prstGeom>
        </p:spPr>
      </p:pic>
      <p:pic>
        <p:nvPicPr>
          <p:cNvPr id="8" name="图片 7">
            <a:extLst>
              <a:ext uri="{FF2B5EF4-FFF2-40B4-BE49-F238E27FC236}">
                <a16:creationId xmlns:a16="http://schemas.microsoft.com/office/drawing/2014/main" id="{EA7990AA-7F28-46B3-EF8B-DA56D5F70ED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927450" y="335419"/>
            <a:ext cx="1366300" cy="384405"/>
          </a:xfrm>
          <a:prstGeom prst="rect">
            <a:avLst/>
          </a:prstGeom>
        </p:spPr>
      </p:pic>
    </p:spTree>
    <p:extLst>
      <p:ext uri="{BB962C8B-B14F-4D97-AF65-F5344CB8AC3E}">
        <p14:creationId xmlns:p14="http://schemas.microsoft.com/office/powerpoint/2010/main" val="8398828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84C28-5E4C-F94B-D027-13A67F1E9C2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52BDBDA-286C-10D6-439F-1ECCD5BDC996}"/>
              </a:ext>
            </a:extLst>
          </p:cNvPr>
          <p:cNvSpPr>
            <a:spLocks noGrp="1"/>
          </p:cNvSpPr>
          <p:nvPr>
            <p:ph type="ctrTitle"/>
          </p:nvPr>
        </p:nvSpPr>
        <p:spPr>
          <a:xfrm>
            <a:off x="149629" y="182880"/>
            <a:ext cx="11006051" cy="650972"/>
          </a:xfrm>
        </p:spPr>
        <p:txBody>
          <a:bodyPr>
            <a:noAutofit/>
          </a:bodyPr>
          <a:lstStyle/>
          <a:p>
            <a:pPr algn="l">
              <a:lnSpc>
                <a:spcPct val="130000"/>
              </a:lnSpc>
            </a:pPr>
            <a:r>
              <a:rPr lang="en-US" altLang="zh-CN" sz="3600" b="1" dirty="0">
                <a:latin typeface="Calibri" panose="020F0502020204030204" pitchFamily="34" charset="0"/>
                <a:ea typeface="SimHei" charset="-122"/>
                <a:cs typeface="Calibri" panose="020F0502020204030204" pitchFamily="34" charset="0"/>
              </a:rPr>
              <a:t>Our solution: </a:t>
            </a:r>
            <a:r>
              <a:rPr lang="en-US" altLang="zh-CN" sz="3600" b="1" dirty="0" err="1">
                <a:latin typeface="Calibri" panose="020F0502020204030204" pitchFamily="34" charset="0"/>
                <a:ea typeface="SimHei" charset="-122"/>
                <a:cs typeface="Calibri" panose="020F0502020204030204" pitchFamily="34" charset="0"/>
              </a:rPr>
              <a:t>MegaScale-MoE</a:t>
            </a:r>
            <a:endParaRPr lang="en" altLang="zh-CN" sz="3600" b="1" dirty="0">
              <a:latin typeface="Calibri" panose="020F0502020204030204" pitchFamily="34" charset="0"/>
              <a:ea typeface="SimHei" charset="-122"/>
              <a:cs typeface="Calibri" panose="020F0502020204030204" pitchFamily="34" charset="0"/>
            </a:endParaRPr>
          </a:p>
        </p:txBody>
      </p:sp>
      <p:sp>
        <p:nvSpPr>
          <p:cNvPr id="7" name="灯片编号占位符 6">
            <a:extLst>
              <a:ext uri="{FF2B5EF4-FFF2-40B4-BE49-F238E27FC236}">
                <a16:creationId xmlns:a16="http://schemas.microsoft.com/office/drawing/2014/main" id="{AA21933F-41CB-9BCE-F088-F263417F00CA}"/>
              </a:ext>
            </a:extLst>
          </p:cNvPr>
          <p:cNvSpPr>
            <a:spLocks noGrp="1"/>
          </p:cNvSpPr>
          <p:nvPr>
            <p:ph type="sldNum" sz="quarter" idx="12"/>
          </p:nvPr>
        </p:nvSpPr>
        <p:spPr/>
        <p:txBody>
          <a:bodyPr/>
          <a:lstStyle/>
          <a:p>
            <a:fld id="{24910F54-69FC-A944-93E9-EFB57972FC5C}" type="slidenum">
              <a:rPr kumimoji="1" lang="zh-CN" altLang="en-US" smtClean="0"/>
              <a:t>7</a:t>
            </a:fld>
            <a:endParaRPr kumimoji="1" lang="zh-CN" altLang="en-US" dirty="0"/>
          </a:p>
        </p:txBody>
      </p:sp>
      <p:sp>
        <p:nvSpPr>
          <p:cNvPr id="5" name="文本框 4">
            <a:extLst>
              <a:ext uri="{FF2B5EF4-FFF2-40B4-BE49-F238E27FC236}">
                <a16:creationId xmlns:a16="http://schemas.microsoft.com/office/drawing/2014/main" id="{5C940E26-576F-ABEC-5B7F-CE1ED3A006DD}"/>
              </a:ext>
            </a:extLst>
          </p:cNvPr>
          <p:cNvSpPr txBox="1"/>
          <p:nvPr/>
        </p:nvSpPr>
        <p:spPr>
          <a:xfrm>
            <a:off x="255937" y="1289953"/>
            <a:ext cx="11680125" cy="4278094"/>
          </a:xfrm>
          <a:prstGeom prst="rect">
            <a:avLst/>
          </a:prstGeom>
          <a:noFill/>
        </p:spPr>
        <p:txBody>
          <a:bodyPr wrap="square">
            <a:spAutoFit/>
          </a:bodyPr>
          <a:lstStyle/>
          <a:p>
            <a:pPr marL="457200" indent="-457200">
              <a:buFont typeface="Arial" panose="020B0604020202020204" pitchFamily="34" charset="0"/>
              <a:buChar char="•"/>
            </a:pPr>
            <a:r>
              <a:rPr lang="en-US" altLang="zh-CN" sz="3200" b="1" dirty="0">
                <a:latin typeface="Calibri" panose="020F0502020204030204" pitchFamily="34" charset="0"/>
                <a:cs typeface="Calibri" panose="020F0502020204030204" pitchFamily="34" charset="0"/>
              </a:rPr>
              <a:t>Communication-efficient parallelism </a:t>
            </a:r>
          </a:p>
          <a:p>
            <a:pPr marL="914400" lvl="1" indent="-457200">
              <a:buFont typeface="Arial" panose="020B0604020202020204" pitchFamily="34" charset="0"/>
              <a:buChar char="•"/>
            </a:pPr>
            <a:r>
              <a:rPr lang="en-US" altLang="zh-CN" sz="2800" b="1" dirty="0">
                <a:latin typeface="Calibri" panose="020F0502020204030204" pitchFamily="34" charset="0"/>
                <a:cs typeface="Calibri" panose="020F0502020204030204" pitchFamily="34" charset="0"/>
              </a:rPr>
              <a:t>Reduce</a:t>
            </a:r>
            <a:r>
              <a:rPr lang="en-US" altLang="zh-CN" sz="2800" dirty="0">
                <a:latin typeface="Calibri" panose="020F0502020204030204" pitchFamily="34" charset="0"/>
                <a:cs typeface="Calibri" panose="020F0502020204030204" pitchFamily="34" charset="0"/>
              </a:rPr>
              <a:t> communication volume by choosing better parallelism strategies</a:t>
            </a:r>
          </a:p>
          <a:p>
            <a:pPr marL="914400" lvl="1" indent="-457200">
              <a:buFont typeface="Arial" panose="020B0604020202020204" pitchFamily="34" charset="0"/>
              <a:buChar char="•"/>
            </a:pPr>
            <a:endParaRPr lang="en-US" altLang="zh-CN" sz="3200" dirty="0">
              <a:latin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en-US" altLang="zh-CN" sz="3200" b="1" dirty="0">
                <a:latin typeface="Calibri" panose="020F0502020204030204" pitchFamily="34" charset="0"/>
                <a:cs typeface="Calibri" panose="020F0502020204030204" pitchFamily="34" charset="0"/>
              </a:rPr>
              <a:t>Communication-computation overlap</a:t>
            </a:r>
          </a:p>
          <a:p>
            <a:pPr marL="914400" lvl="1" indent="-457200">
              <a:buFont typeface="Arial" panose="020B0604020202020204" pitchFamily="34" charset="0"/>
              <a:buChar char="•"/>
            </a:pPr>
            <a:r>
              <a:rPr lang="en-US" altLang="zh-CN" sz="2800" b="1" dirty="0">
                <a:latin typeface="Calibri" panose="020F0502020204030204" pitchFamily="34" charset="0"/>
                <a:cs typeface="Calibri" panose="020F0502020204030204" pitchFamily="34" charset="0"/>
              </a:rPr>
              <a:t>Hide</a:t>
            </a:r>
            <a:r>
              <a:rPr lang="en-US" altLang="zh-CN" sz="2800" dirty="0">
                <a:latin typeface="Calibri" panose="020F0502020204030204" pitchFamily="34" charset="0"/>
                <a:cs typeface="Calibri" panose="020F0502020204030204" pitchFamily="34" charset="0"/>
              </a:rPr>
              <a:t> the communication latency through operator scheduling and fusion</a:t>
            </a:r>
          </a:p>
          <a:p>
            <a:pPr marL="914400" lvl="1" indent="-457200">
              <a:buFont typeface="Arial" panose="020B0604020202020204" pitchFamily="34" charset="0"/>
              <a:buChar char="•"/>
            </a:pPr>
            <a:endParaRPr lang="en-US" altLang="zh-CN" sz="3200" dirty="0">
              <a:latin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en-US" altLang="zh-CN" sz="3200" b="1" dirty="0">
                <a:latin typeface="Calibri" panose="020F0502020204030204" pitchFamily="34" charset="0"/>
                <a:cs typeface="Calibri" panose="020F0502020204030204" pitchFamily="34" charset="0"/>
              </a:rPr>
              <a:t>Communication compression</a:t>
            </a:r>
          </a:p>
          <a:p>
            <a:pPr marL="914400" lvl="1" indent="-457200">
              <a:buFont typeface="Arial" panose="020B0604020202020204" pitchFamily="34" charset="0"/>
              <a:buChar char="•"/>
            </a:pPr>
            <a:r>
              <a:rPr lang="en-US" altLang="zh-CN" sz="2800" b="1" dirty="0">
                <a:latin typeface="Calibri" panose="020F0502020204030204" pitchFamily="34" charset="0"/>
                <a:cs typeface="Calibri" panose="020F0502020204030204" pitchFamily="34" charset="0"/>
              </a:rPr>
              <a:t>Compress</a:t>
            </a:r>
            <a:r>
              <a:rPr lang="en-US" altLang="zh-CN" sz="2800" dirty="0">
                <a:latin typeface="Calibri" panose="020F0502020204030204" pitchFamily="34" charset="0"/>
                <a:cs typeface="Calibri" panose="020F0502020204030204" pitchFamily="34" charset="0"/>
              </a:rPr>
              <a:t> bandwidth cost by lowering communication precision while preserving convergence</a:t>
            </a:r>
          </a:p>
        </p:txBody>
      </p:sp>
      <p:sp>
        <p:nvSpPr>
          <p:cNvPr id="8" name="右箭头 7">
            <a:extLst>
              <a:ext uri="{FF2B5EF4-FFF2-40B4-BE49-F238E27FC236}">
                <a16:creationId xmlns:a16="http://schemas.microsoft.com/office/drawing/2014/main" id="{27C3AB31-DE0B-25A8-1912-9D9C19EEF730}"/>
              </a:ext>
            </a:extLst>
          </p:cNvPr>
          <p:cNvSpPr/>
          <p:nvPr/>
        </p:nvSpPr>
        <p:spPr>
          <a:xfrm rot="10800000">
            <a:off x="7688745" y="1421511"/>
            <a:ext cx="921855" cy="375557"/>
          </a:xfrm>
          <a:prstGeom prst="rightArrow">
            <a:avLst/>
          </a:prstGeom>
          <a:solidFill>
            <a:schemeClr val="accent2">
              <a:lumMod val="60000"/>
              <a:lumOff val="4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4" name="图片 3">
            <a:extLst>
              <a:ext uri="{FF2B5EF4-FFF2-40B4-BE49-F238E27FC236}">
                <a16:creationId xmlns:a16="http://schemas.microsoft.com/office/drawing/2014/main" id="{E8390341-B1A0-31E6-C6F8-A54F9F239D9C}"/>
              </a:ext>
            </a:extLst>
          </p:cNvPr>
          <p:cNvPicPr>
            <a:picLocks noChangeAspect="1"/>
          </p:cNvPicPr>
          <p:nvPr/>
        </p:nvPicPr>
        <p:blipFill>
          <a:blip r:embed="rId3"/>
          <a:stretch>
            <a:fillRect/>
          </a:stretch>
        </p:blipFill>
        <p:spPr>
          <a:xfrm>
            <a:off x="9433687" y="331968"/>
            <a:ext cx="2743200" cy="387856"/>
          </a:xfrm>
          <a:prstGeom prst="rect">
            <a:avLst/>
          </a:prstGeom>
        </p:spPr>
      </p:pic>
      <p:pic>
        <p:nvPicPr>
          <p:cNvPr id="9" name="图片 8">
            <a:extLst>
              <a:ext uri="{FF2B5EF4-FFF2-40B4-BE49-F238E27FC236}">
                <a16:creationId xmlns:a16="http://schemas.microsoft.com/office/drawing/2014/main" id="{3E9B74BB-5707-7313-52D7-F249099B275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927450" y="335419"/>
            <a:ext cx="1366300" cy="384405"/>
          </a:xfrm>
          <a:prstGeom prst="rect">
            <a:avLst/>
          </a:prstGeom>
        </p:spPr>
      </p:pic>
    </p:spTree>
    <p:extLst>
      <p:ext uri="{BB962C8B-B14F-4D97-AF65-F5344CB8AC3E}">
        <p14:creationId xmlns:p14="http://schemas.microsoft.com/office/powerpoint/2010/main" val="4280429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3529E-0C2E-0A89-D3BE-B47734D7A86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C9EBE31-8C67-98D7-7A75-87A1A2EC620A}"/>
              </a:ext>
            </a:extLst>
          </p:cNvPr>
          <p:cNvSpPr>
            <a:spLocks noGrp="1"/>
          </p:cNvSpPr>
          <p:nvPr>
            <p:ph type="ctrTitle"/>
          </p:nvPr>
        </p:nvSpPr>
        <p:spPr>
          <a:xfrm>
            <a:off x="149629" y="182880"/>
            <a:ext cx="11006051" cy="650972"/>
          </a:xfrm>
        </p:spPr>
        <p:txBody>
          <a:bodyPr>
            <a:noAutofit/>
          </a:bodyPr>
          <a:lstStyle/>
          <a:p>
            <a:pPr algn="l">
              <a:lnSpc>
                <a:spcPct val="130000"/>
              </a:lnSpc>
            </a:pPr>
            <a:r>
              <a:rPr lang="en-US" altLang="zh-CN" sz="3600" b="1" dirty="0">
                <a:latin typeface="Calibri" panose="020F0502020204030204" pitchFamily="34" charset="0"/>
                <a:ea typeface="SimHei" charset="-122"/>
                <a:cs typeface="Calibri" panose="020F0502020204030204" pitchFamily="34" charset="0"/>
              </a:rPr>
              <a:t>Communication-Efficient Parallelism</a:t>
            </a:r>
            <a:endParaRPr lang="en" altLang="zh-CN" sz="3600" b="1" dirty="0">
              <a:latin typeface="Calibri" panose="020F0502020204030204" pitchFamily="34" charset="0"/>
              <a:ea typeface="SimHei" charset="-122"/>
              <a:cs typeface="Calibri" panose="020F0502020204030204" pitchFamily="34" charset="0"/>
            </a:endParaRPr>
          </a:p>
        </p:txBody>
      </p:sp>
      <p:sp>
        <p:nvSpPr>
          <p:cNvPr id="7" name="灯片编号占位符 6">
            <a:extLst>
              <a:ext uri="{FF2B5EF4-FFF2-40B4-BE49-F238E27FC236}">
                <a16:creationId xmlns:a16="http://schemas.microsoft.com/office/drawing/2014/main" id="{008D2C87-466E-554B-9308-C8BB965F95D7}"/>
              </a:ext>
            </a:extLst>
          </p:cNvPr>
          <p:cNvSpPr>
            <a:spLocks noGrp="1"/>
          </p:cNvSpPr>
          <p:nvPr>
            <p:ph type="sldNum" sz="quarter" idx="12"/>
          </p:nvPr>
        </p:nvSpPr>
        <p:spPr/>
        <p:txBody>
          <a:bodyPr/>
          <a:lstStyle/>
          <a:p>
            <a:fld id="{24910F54-69FC-A944-93E9-EFB57972FC5C}" type="slidenum">
              <a:rPr kumimoji="1" lang="zh-CN" altLang="en-US" smtClean="0"/>
              <a:t>8</a:t>
            </a:fld>
            <a:endParaRPr kumimoji="1" lang="zh-CN" altLang="en-US" dirty="0"/>
          </a:p>
        </p:txBody>
      </p:sp>
      <p:pic>
        <p:nvPicPr>
          <p:cNvPr id="4" name="图片 3">
            <a:extLst>
              <a:ext uri="{FF2B5EF4-FFF2-40B4-BE49-F238E27FC236}">
                <a16:creationId xmlns:a16="http://schemas.microsoft.com/office/drawing/2014/main" id="{1065D0FB-BF00-6948-DB6E-77D7A0447F5D}"/>
              </a:ext>
            </a:extLst>
          </p:cNvPr>
          <p:cNvPicPr>
            <a:picLocks noChangeAspect="1"/>
          </p:cNvPicPr>
          <p:nvPr/>
        </p:nvPicPr>
        <p:blipFill>
          <a:blip r:embed="rId3"/>
          <a:stretch>
            <a:fillRect/>
          </a:stretch>
        </p:blipFill>
        <p:spPr>
          <a:xfrm>
            <a:off x="1515598" y="1136695"/>
            <a:ext cx="9160804" cy="5048369"/>
          </a:xfrm>
          <a:prstGeom prst="rect">
            <a:avLst/>
          </a:prstGeom>
        </p:spPr>
      </p:pic>
      <p:pic>
        <p:nvPicPr>
          <p:cNvPr id="5" name="图片 4">
            <a:extLst>
              <a:ext uri="{FF2B5EF4-FFF2-40B4-BE49-F238E27FC236}">
                <a16:creationId xmlns:a16="http://schemas.microsoft.com/office/drawing/2014/main" id="{078BCB93-90E0-90A4-72A4-975A314C46E6}"/>
              </a:ext>
            </a:extLst>
          </p:cNvPr>
          <p:cNvPicPr>
            <a:picLocks noChangeAspect="1"/>
          </p:cNvPicPr>
          <p:nvPr/>
        </p:nvPicPr>
        <p:blipFill>
          <a:blip r:embed="rId4"/>
          <a:stretch>
            <a:fillRect/>
          </a:stretch>
        </p:blipFill>
        <p:spPr>
          <a:xfrm>
            <a:off x="9433687" y="331968"/>
            <a:ext cx="2743200" cy="387856"/>
          </a:xfrm>
          <a:prstGeom prst="rect">
            <a:avLst/>
          </a:prstGeom>
        </p:spPr>
      </p:pic>
      <p:pic>
        <p:nvPicPr>
          <p:cNvPr id="8" name="图片 7">
            <a:extLst>
              <a:ext uri="{FF2B5EF4-FFF2-40B4-BE49-F238E27FC236}">
                <a16:creationId xmlns:a16="http://schemas.microsoft.com/office/drawing/2014/main" id="{9D6BFA0C-900A-152B-7C52-DE4CD32418B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927450" y="335419"/>
            <a:ext cx="1366300" cy="384405"/>
          </a:xfrm>
          <a:prstGeom prst="rect">
            <a:avLst/>
          </a:prstGeom>
        </p:spPr>
      </p:pic>
    </p:spTree>
    <p:extLst>
      <p:ext uri="{BB962C8B-B14F-4D97-AF65-F5344CB8AC3E}">
        <p14:creationId xmlns:p14="http://schemas.microsoft.com/office/powerpoint/2010/main" val="24705734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13E68-073E-5951-8D4B-C8AC07D3B47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79D43EB-6F5A-3260-06B0-FBF948DDBE09}"/>
              </a:ext>
            </a:extLst>
          </p:cNvPr>
          <p:cNvSpPr>
            <a:spLocks noGrp="1"/>
          </p:cNvSpPr>
          <p:nvPr>
            <p:ph type="ctrTitle"/>
          </p:nvPr>
        </p:nvSpPr>
        <p:spPr>
          <a:xfrm>
            <a:off x="149629" y="182880"/>
            <a:ext cx="11006051" cy="650972"/>
          </a:xfrm>
        </p:spPr>
        <p:txBody>
          <a:bodyPr>
            <a:noAutofit/>
          </a:bodyPr>
          <a:lstStyle/>
          <a:p>
            <a:pPr algn="l">
              <a:lnSpc>
                <a:spcPct val="130000"/>
              </a:lnSpc>
            </a:pPr>
            <a:r>
              <a:rPr lang="en-US" altLang="zh-CN" sz="3600" b="1" dirty="0">
                <a:latin typeface="Calibri" panose="020F0502020204030204" pitchFamily="34" charset="0"/>
                <a:ea typeface="SimHei" charset="-122"/>
                <a:cs typeface="Calibri" panose="020F0502020204030204" pitchFamily="34" charset="0"/>
              </a:rPr>
              <a:t>Sequence Parallelism for Attention</a:t>
            </a:r>
            <a:endParaRPr lang="en" altLang="zh-CN" sz="3600" b="1" dirty="0">
              <a:latin typeface="Calibri" panose="020F0502020204030204" pitchFamily="34" charset="0"/>
              <a:ea typeface="SimHei" charset="-122"/>
              <a:cs typeface="Calibri" panose="020F0502020204030204" pitchFamily="34" charset="0"/>
            </a:endParaRPr>
          </a:p>
        </p:txBody>
      </p:sp>
      <p:sp>
        <p:nvSpPr>
          <p:cNvPr id="7" name="灯片编号占位符 6">
            <a:extLst>
              <a:ext uri="{FF2B5EF4-FFF2-40B4-BE49-F238E27FC236}">
                <a16:creationId xmlns:a16="http://schemas.microsoft.com/office/drawing/2014/main" id="{D1EA0651-6C47-7C5C-254D-7540209B9A8A}"/>
              </a:ext>
            </a:extLst>
          </p:cNvPr>
          <p:cNvSpPr>
            <a:spLocks noGrp="1"/>
          </p:cNvSpPr>
          <p:nvPr>
            <p:ph type="sldNum" sz="quarter" idx="12"/>
          </p:nvPr>
        </p:nvSpPr>
        <p:spPr/>
        <p:txBody>
          <a:bodyPr/>
          <a:lstStyle/>
          <a:p>
            <a:fld id="{24910F54-69FC-A944-93E9-EFB57972FC5C}" type="slidenum">
              <a:rPr kumimoji="1" lang="zh-CN" altLang="en-US" smtClean="0"/>
              <a:t>9</a:t>
            </a:fld>
            <a:endParaRPr kumimoji="1" lang="zh-CN" altLang="en-US" dirty="0"/>
          </a:p>
        </p:txBody>
      </p:sp>
      <p:pic>
        <p:nvPicPr>
          <p:cNvPr id="5" name="图片 4">
            <a:extLst>
              <a:ext uri="{FF2B5EF4-FFF2-40B4-BE49-F238E27FC236}">
                <a16:creationId xmlns:a16="http://schemas.microsoft.com/office/drawing/2014/main" id="{00F345E9-7C08-DFD4-F6FC-BD9D5B219A7D}"/>
              </a:ext>
            </a:extLst>
          </p:cNvPr>
          <p:cNvPicPr>
            <a:picLocks noChangeAspect="1"/>
          </p:cNvPicPr>
          <p:nvPr/>
        </p:nvPicPr>
        <p:blipFill>
          <a:blip r:embed="rId3"/>
          <a:srcRect r="67164"/>
          <a:stretch>
            <a:fillRect/>
          </a:stretch>
        </p:blipFill>
        <p:spPr>
          <a:xfrm>
            <a:off x="392182" y="971335"/>
            <a:ext cx="2500647" cy="4634333"/>
          </a:xfrm>
          <a:prstGeom prst="rect">
            <a:avLst/>
          </a:prstGeom>
        </p:spPr>
      </p:pic>
      <p:pic>
        <p:nvPicPr>
          <p:cNvPr id="8" name="图片 7">
            <a:extLst>
              <a:ext uri="{FF2B5EF4-FFF2-40B4-BE49-F238E27FC236}">
                <a16:creationId xmlns:a16="http://schemas.microsoft.com/office/drawing/2014/main" id="{AF4FE24E-CA8C-B218-AE2E-2EB237769EA9}"/>
              </a:ext>
            </a:extLst>
          </p:cNvPr>
          <p:cNvPicPr>
            <a:picLocks noChangeAspect="1"/>
          </p:cNvPicPr>
          <p:nvPr/>
        </p:nvPicPr>
        <p:blipFill>
          <a:blip r:embed="rId4"/>
          <a:srcRect l="29214" t="74712" r="51334" b="8469"/>
          <a:stretch>
            <a:fillRect/>
          </a:stretch>
        </p:blipFill>
        <p:spPr>
          <a:xfrm>
            <a:off x="667550" y="5737088"/>
            <a:ext cx="1781930" cy="849085"/>
          </a:xfrm>
          <a:prstGeom prst="rect">
            <a:avLst/>
          </a:prstGeom>
        </p:spPr>
      </p:pic>
      <p:pic>
        <p:nvPicPr>
          <p:cNvPr id="10" name="图片 9">
            <a:extLst>
              <a:ext uri="{FF2B5EF4-FFF2-40B4-BE49-F238E27FC236}">
                <a16:creationId xmlns:a16="http://schemas.microsoft.com/office/drawing/2014/main" id="{E08ACDC6-CE99-B56E-5DA1-FCC4326BA8E1}"/>
              </a:ext>
            </a:extLst>
          </p:cNvPr>
          <p:cNvPicPr>
            <a:picLocks noChangeAspect="1"/>
          </p:cNvPicPr>
          <p:nvPr/>
        </p:nvPicPr>
        <p:blipFill>
          <a:blip r:embed="rId4"/>
          <a:srcRect l="51435" t="81585" r="30892"/>
          <a:stretch>
            <a:fillRect/>
          </a:stretch>
        </p:blipFill>
        <p:spPr>
          <a:xfrm>
            <a:off x="9046603" y="5731301"/>
            <a:ext cx="1618942" cy="929670"/>
          </a:xfrm>
          <a:prstGeom prst="rect">
            <a:avLst/>
          </a:prstGeom>
        </p:spPr>
      </p:pic>
      <p:pic>
        <p:nvPicPr>
          <p:cNvPr id="12" name="图片 11">
            <a:extLst>
              <a:ext uri="{FF2B5EF4-FFF2-40B4-BE49-F238E27FC236}">
                <a16:creationId xmlns:a16="http://schemas.microsoft.com/office/drawing/2014/main" id="{45BC695A-5C9F-1FA1-B0A4-2CF93F51C680}"/>
              </a:ext>
            </a:extLst>
          </p:cNvPr>
          <p:cNvPicPr>
            <a:picLocks noChangeAspect="1"/>
          </p:cNvPicPr>
          <p:nvPr/>
        </p:nvPicPr>
        <p:blipFill>
          <a:blip r:embed="rId3"/>
          <a:srcRect l="33357" r="33285"/>
          <a:stretch>
            <a:fillRect/>
          </a:stretch>
        </p:blipFill>
        <p:spPr>
          <a:xfrm>
            <a:off x="8610600" y="965410"/>
            <a:ext cx="2540385" cy="4634333"/>
          </a:xfrm>
          <a:prstGeom prst="rect">
            <a:avLst/>
          </a:prstGeom>
        </p:spPr>
      </p:pic>
      <p:pic>
        <p:nvPicPr>
          <p:cNvPr id="14" name="图片 13">
            <a:extLst>
              <a:ext uri="{FF2B5EF4-FFF2-40B4-BE49-F238E27FC236}">
                <a16:creationId xmlns:a16="http://schemas.microsoft.com/office/drawing/2014/main" id="{D4353A2B-C458-5E1E-6348-1D507DA45BEE}"/>
              </a:ext>
            </a:extLst>
          </p:cNvPr>
          <p:cNvPicPr>
            <a:picLocks noChangeAspect="1"/>
          </p:cNvPicPr>
          <p:nvPr/>
        </p:nvPicPr>
        <p:blipFill>
          <a:blip r:embed="rId5"/>
          <a:stretch>
            <a:fillRect/>
          </a:stretch>
        </p:blipFill>
        <p:spPr>
          <a:xfrm>
            <a:off x="4105029" y="2194169"/>
            <a:ext cx="3269208" cy="2094101"/>
          </a:xfrm>
          <a:prstGeom prst="rect">
            <a:avLst/>
          </a:prstGeom>
        </p:spPr>
      </p:pic>
      <p:sp>
        <p:nvSpPr>
          <p:cNvPr id="15" name="标题 1">
            <a:extLst>
              <a:ext uri="{FF2B5EF4-FFF2-40B4-BE49-F238E27FC236}">
                <a16:creationId xmlns:a16="http://schemas.microsoft.com/office/drawing/2014/main" id="{3F5EED58-1D79-A01A-4364-747C9B46ED5F}"/>
              </a:ext>
            </a:extLst>
          </p:cNvPr>
          <p:cNvSpPr txBox="1">
            <a:spLocks/>
          </p:cNvSpPr>
          <p:nvPr/>
        </p:nvSpPr>
        <p:spPr>
          <a:xfrm>
            <a:off x="3612081" y="1604902"/>
            <a:ext cx="4255103" cy="46175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30000"/>
              </a:lnSpc>
            </a:pPr>
            <a:r>
              <a:rPr lang="en-US" altLang="zh-CN" sz="2400" b="1" dirty="0">
                <a:latin typeface="Calibri" panose="020F0502020204030204" pitchFamily="34" charset="0"/>
                <a:ea typeface="SimHei" charset="-122"/>
                <a:cs typeface="Calibri" panose="020F0502020204030204" pitchFamily="34" charset="0"/>
              </a:rPr>
              <a:t>Grouped-Query Attention (GQA)</a:t>
            </a:r>
            <a:endParaRPr lang="en" altLang="zh-CN" sz="2400" b="1" dirty="0">
              <a:latin typeface="Calibri" panose="020F0502020204030204" pitchFamily="34" charset="0"/>
              <a:ea typeface="SimHei" charset="-122"/>
              <a:cs typeface="Calibri" panose="020F0502020204030204" pitchFamily="34" charset="0"/>
            </a:endParaRPr>
          </a:p>
        </p:txBody>
      </p:sp>
      <p:sp>
        <p:nvSpPr>
          <p:cNvPr id="16" name="右箭头 15">
            <a:extLst>
              <a:ext uri="{FF2B5EF4-FFF2-40B4-BE49-F238E27FC236}">
                <a16:creationId xmlns:a16="http://schemas.microsoft.com/office/drawing/2014/main" id="{34EC9712-F1A1-2A25-ABCA-8CA20A057C93}"/>
              </a:ext>
            </a:extLst>
          </p:cNvPr>
          <p:cNvSpPr/>
          <p:nvPr/>
        </p:nvSpPr>
        <p:spPr>
          <a:xfrm>
            <a:off x="2892829" y="3053443"/>
            <a:ext cx="921855" cy="375557"/>
          </a:xfrm>
          <a:prstGeom prst="rightArrow">
            <a:avLst/>
          </a:prstGeom>
          <a:solidFill>
            <a:schemeClr val="accent2">
              <a:lumMod val="60000"/>
              <a:lumOff val="4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右箭头 16">
            <a:extLst>
              <a:ext uri="{FF2B5EF4-FFF2-40B4-BE49-F238E27FC236}">
                <a16:creationId xmlns:a16="http://schemas.microsoft.com/office/drawing/2014/main" id="{2445222F-9AA7-0012-3AB3-C5F9723E5F0E}"/>
              </a:ext>
            </a:extLst>
          </p:cNvPr>
          <p:cNvSpPr/>
          <p:nvPr/>
        </p:nvSpPr>
        <p:spPr>
          <a:xfrm>
            <a:off x="7664582" y="3053443"/>
            <a:ext cx="957592" cy="375557"/>
          </a:xfrm>
          <a:prstGeom prst="rightArrow">
            <a:avLst/>
          </a:prstGeom>
          <a:solidFill>
            <a:schemeClr val="accent2">
              <a:lumMod val="60000"/>
              <a:lumOff val="4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4" name="图片 3">
            <a:extLst>
              <a:ext uri="{FF2B5EF4-FFF2-40B4-BE49-F238E27FC236}">
                <a16:creationId xmlns:a16="http://schemas.microsoft.com/office/drawing/2014/main" id="{FEE863A9-5AA1-E770-42A6-7589C2396EA8}"/>
              </a:ext>
            </a:extLst>
          </p:cNvPr>
          <p:cNvPicPr>
            <a:picLocks noChangeAspect="1"/>
          </p:cNvPicPr>
          <p:nvPr/>
        </p:nvPicPr>
        <p:blipFill>
          <a:blip r:embed="rId6"/>
          <a:stretch>
            <a:fillRect/>
          </a:stretch>
        </p:blipFill>
        <p:spPr>
          <a:xfrm>
            <a:off x="9433687" y="331968"/>
            <a:ext cx="2743200" cy="387856"/>
          </a:xfrm>
          <a:prstGeom prst="rect">
            <a:avLst/>
          </a:prstGeom>
        </p:spPr>
      </p:pic>
      <p:pic>
        <p:nvPicPr>
          <p:cNvPr id="9" name="图片 8">
            <a:extLst>
              <a:ext uri="{FF2B5EF4-FFF2-40B4-BE49-F238E27FC236}">
                <a16:creationId xmlns:a16="http://schemas.microsoft.com/office/drawing/2014/main" id="{7C3CC6A3-B987-40BB-70D4-212D84F1A9C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927450" y="335419"/>
            <a:ext cx="1366300" cy="384405"/>
          </a:xfrm>
          <a:prstGeom prst="rect">
            <a:avLst/>
          </a:prstGeom>
        </p:spPr>
      </p:pic>
    </p:spTree>
    <p:extLst>
      <p:ext uri="{BB962C8B-B14F-4D97-AF65-F5344CB8AC3E}">
        <p14:creationId xmlns:p14="http://schemas.microsoft.com/office/powerpoint/2010/main" val="1152347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linds(horizontal)">
                                      <p:cBhvr>
                                        <p:cTn id="7" dur="500"/>
                                        <p:tgtEl>
                                          <p:spTgt spid="16"/>
                                        </p:tgtEl>
                                      </p:cBhvr>
                                    </p:animEffect>
                                  </p:childTnLst>
                                </p:cTn>
                              </p:par>
                              <p:par>
                                <p:cTn id="8" presetID="3" presetClass="entr" presetSubtype="1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blinds(horizontal)">
                                      <p:cBhvr>
                                        <p:cTn id="10" dur="500"/>
                                        <p:tgtEl>
                                          <p:spTgt spid="14"/>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blinds(horizontal)">
                                      <p:cBhvr>
                                        <p:cTn id="13" dur="500"/>
                                        <p:tgtEl>
                                          <p:spTgt spid="15"/>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blinds(horizontal)">
                                      <p:cBhvr>
                                        <p:cTn id="18" dur="500"/>
                                        <p:tgtEl>
                                          <p:spTgt spid="17"/>
                                        </p:tgtEl>
                                      </p:cBhvr>
                                    </p:animEffect>
                                  </p:childTnLst>
                                </p:cTn>
                              </p:par>
                              <p:par>
                                <p:cTn id="19" presetID="3" presetClass="entr" presetSubtype="1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blinds(horizontal)">
                                      <p:cBhvr>
                                        <p:cTn id="21" dur="500"/>
                                        <p:tgtEl>
                                          <p:spTgt spid="12"/>
                                        </p:tgtEl>
                                      </p:cBhvr>
                                    </p:animEffect>
                                  </p:childTnLst>
                                </p:cTn>
                              </p:par>
                              <p:par>
                                <p:cTn id="22" presetID="3" presetClass="entr" presetSubtype="10"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blinds(horizontal)">
                                      <p:cBhvr>
                                        <p:cTn id="2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animBg="1"/>
      <p:bldP spid="1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723D5-CDF8-80CC-1DC7-DFF7376BEA5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F4EC282-D0E0-6FC7-DD52-FC8AE37422BF}"/>
              </a:ext>
            </a:extLst>
          </p:cNvPr>
          <p:cNvSpPr>
            <a:spLocks noGrp="1"/>
          </p:cNvSpPr>
          <p:nvPr>
            <p:ph type="ctrTitle"/>
          </p:nvPr>
        </p:nvSpPr>
        <p:spPr>
          <a:xfrm>
            <a:off x="149629" y="182880"/>
            <a:ext cx="11006051" cy="650972"/>
          </a:xfrm>
        </p:spPr>
        <p:txBody>
          <a:bodyPr>
            <a:noAutofit/>
          </a:bodyPr>
          <a:lstStyle/>
          <a:p>
            <a:pPr algn="l">
              <a:lnSpc>
                <a:spcPct val="130000"/>
              </a:lnSpc>
            </a:pPr>
            <a:r>
              <a:rPr lang="en-US" altLang="zh-CN" sz="3600" b="1" dirty="0">
                <a:latin typeface="Calibri" panose="020F0502020204030204" pitchFamily="34" charset="0"/>
                <a:ea typeface="SimHei" charset="-122"/>
                <a:cs typeface="Calibri" panose="020F0502020204030204" pitchFamily="34" charset="0"/>
              </a:rPr>
              <a:t>Expert Parallelism for FFNs</a:t>
            </a:r>
            <a:endParaRPr lang="en" altLang="zh-CN" sz="3600" b="1" dirty="0">
              <a:latin typeface="Calibri" panose="020F0502020204030204" pitchFamily="34" charset="0"/>
              <a:ea typeface="SimHei" charset="-122"/>
              <a:cs typeface="Calibri" panose="020F0502020204030204" pitchFamily="34" charset="0"/>
            </a:endParaRPr>
          </a:p>
        </p:txBody>
      </p:sp>
      <p:sp>
        <p:nvSpPr>
          <p:cNvPr id="7" name="灯片编号占位符 6">
            <a:extLst>
              <a:ext uri="{FF2B5EF4-FFF2-40B4-BE49-F238E27FC236}">
                <a16:creationId xmlns:a16="http://schemas.microsoft.com/office/drawing/2014/main" id="{41890862-B187-393F-C741-5282FF1F13D1}"/>
              </a:ext>
            </a:extLst>
          </p:cNvPr>
          <p:cNvSpPr>
            <a:spLocks noGrp="1"/>
          </p:cNvSpPr>
          <p:nvPr>
            <p:ph type="sldNum" sz="quarter" idx="12"/>
          </p:nvPr>
        </p:nvSpPr>
        <p:spPr/>
        <p:txBody>
          <a:bodyPr/>
          <a:lstStyle/>
          <a:p>
            <a:fld id="{24910F54-69FC-A944-93E9-EFB57972FC5C}" type="slidenum">
              <a:rPr kumimoji="1" lang="zh-CN" altLang="en-US" smtClean="0"/>
              <a:t>10</a:t>
            </a:fld>
            <a:endParaRPr kumimoji="1" lang="zh-CN" altLang="en-US" dirty="0"/>
          </a:p>
        </p:txBody>
      </p:sp>
      <p:pic>
        <p:nvPicPr>
          <p:cNvPr id="4" name="图片 3">
            <a:extLst>
              <a:ext uri="{FF2B5EF4-FFF2-40B4-BE49-F238E27FC236}">
                <a16:creationId xmlns:a16="http://schemas.microsoft.com/office/drawing/2014/main" id="{693B51E0-21B2-8152-62A8-AFAC6D2420E7}"/>
              </a:ext>
            </a:extLst>
          </p:cNvPr>
          <p:cNvPicPr>
            <a:picLocks noChangeAspect="1"/>
          </p:cNvPicPr>
          <p:nvPr/>
        </p:nvPicPr>
        <p:blipFill>
          <a:blip r:embed="rId3"/>
          <a:srcRect b="54656"/>
          <a:stretch>
            <a:fillRect/>
          </a:stretch>
        </p:blipFill>
        <p:spPr>
          <a:xfrm>
            <a:off x="1474906" y="2560994"/>
            <a:ext cx="8355495" cy="1084522"/>
          </a:xfrm>
          <a:prstGeom prst="rect">
            <a:avLst/>
          </a:prstGeom>
        </p:spPr>
      </p:pic>
      <p:sp>
        <p:nvSpPr>
          <p:cNvPr id="9" name="文本框 8">
            <a:extLst>
              <a:ext uri="{FF2B5EF4-FFF2-40B4-BE49-F238E27FC236}">
                <a16:creationId xmlns:a16="http://schemas.microsoft.com/office/drawing/2014/main" id="{822B3583-976A-A8CE-F7D1-2FFC527F9DB6}"/>
              </a:ext>
            </a:extLst>
          </p:cNvPr>
          <p:cNvSpPr txBox="1"/>
          <p:nvPr/>
        </p:nvSpPr>
        <p:spPr>
          <a:xfrm>
            <a:off x="255937" y="1110669"/>
            <a:ext cx="11680125" cy="523220"/>
          </a:xfrm>
          <a:prstGeom prst="rect">
            <a:avLst/>
          </a:prstGeom>
          <a:noFill/>
        </p:spPr>
        <p:txBody>
          <a:bodyPr wrap="square">
            <a:spAutoFit/>
          </a:bodyPr>
          <a:lstStyle/>
          <a:p>
            <a:r>
              <a:rPr lang="en-US" altLang="zh-CN" sz="2800" dirty="0">
                <a:latin typeface="Calibri" panose="020F0502020204030204" pitchFamily="34" charset="0"/>
                <a:cs typeface="Calibri" panose="020F0502020204030204" pitchFamily="34" charset="0"/>
              </a:rPr>
              <a:t>Communication volume: </a:t>
            </a:r>
            <a:r>
              <a:rPr lang="en-US" altLang="zh-CN" sz="2400" dirty="0">
                <a:latin typeface="Calibri" panose="020F0502020204030204" pitchFamily="34" charset="0"/>
                <a:cs typeface="Calibri" panose="020F0502020204030204" pitchFamily="34" charset="0"/>
              </a:rPr>
              <a:t>2𝑘/𝑛×𝑏𝑠</a:t>
            </a:r>
            <a:r>
              <a:rPr lang="en-US" altLang="zh-CN" sz="2400" dirty="0" err="1">
                <a:latin typeface="Calibri" panose="020F0502020204030204" pitchFamily="34" charset="0"/>
                <a:cs typeface="Calibri" panose="020F0502020204030204" pitchFamily="34" charset="0"/>
              </a:rPr>
              <a:t>ℎ</a:t>
            </a:r>
            <a:r>
              <a:rPr lang="en-US" altLang="zh-CN" sz="2400" dirty="0">
                <a:latin typeface="Calibri" panose="020F0502020204030204" pitchFamily="34" charset="0"/>
                <a:cs typeface="Calibri" panose="020F0502020204030204" pitchFamily="34" charset="0"/>
              </a:rPr>
              <a:t>(𝑛−1)/𝑛 </a:t>
            </a:r>
            <a:r>
              <a:rPr lang="en-US" altLang="zh-CN" sz="2800" dirty="0">
                <a:latin typeface="Calibri" panose="020F0502020204030204" pitchFamily="34" charset="0"/>
                <a:cs typeface="Calibri" panose="020F0502020204030204" pitchFamily="34" charset="0"/>
              </a:rPr>
              <a:t>for EP vs.</a:t>
            </a:r>
            <a:r>
              <a:rPr lang="en-US" altLang="zh-CN" sz="2400" dirty="0">
                <a:latin typeface="Calibri" panose="020F0502020204030204" pitchFamily="34" charset="0"/>
                <a:cs typeface="Calibri" panose="020F0502020204030204" pitchFamily="34" charset="0"/>
              </a:rPr>
              <a:t> 2𝑏𝑠</a:t>
            </a:r>
            <a:r>
              <a:rPr lang="en-US" altLang="zh-CN" sz="2400" dirty="0" err="1">
                <a:latin typeface="Calibri" panose="020F0502020204030204" pitchFamily="34" charset="0"/>
                <a:cs typeface="Calibri" panose="020F0502020204030204" pitchFamily="34" charset="0"/>
              </a:rPr>
              <a:t>ℎ</a:t>
            </a:r>
            <a:r>
              <a:rPr lang="en-US" altLang="zh-CN" sz="2400" dirty="0">
                <a:latin typeface="Calibri" panose="020F0502020204030204" pitchFamily="34" charset="0"/>
                <a:cs typeface="Calibri" panose="020F0502020204030204" pitchFamily="34" charset="0"/>
              </a:rPr>
              <a:t>(𝑛−1)/𝑛 </a:t>
            </a:r>
            <a:r>
              <a:rPr lang="en-US" altLang="zh-CN" sz="2800" dirty="0">
                <a:latin typeface="Calibri" panose="020F0502020204030204" pitchFamily="34" charset="0"/>
                <a:cs typeface="Calibri" panose="020F0502020204030204" pitchFamily="34" charset="0"/>
              </a:rPr>
              <a:t>for TP</a:t>
            </a:r>
            <a:endParaRPr lang="en-US" altLang="zh-CN" dirty="0">
              <a:latin typeface="Calibri" panose="020F0502020204030204" pitchFamily="34" charset="0"/>
              <a:cs typeface="Calibri" panose="020F0502020204030204" pitchFamily="34" charset="0"/>
            </a:endParaRPr>
          </a:p>
        </p:txBody>
      </p:sp>
      <p:pic>
        <p:nvPicPr>
          <p:cNvPr id="13" name="图片 12">
            <a:extLst>
              <a:ext uri="{FF2B5EF4-FFF2-40B4-BE49-F238E27FC236}">
                <a16:creationId xmlns:a16="http://schemas.microsoft.com/office/drawing/2014/main" id="{0E6AF7C9-E4D9-D428-0C8A-A1B8F1BD3B18}"/>
              </a:ext>
            </a:extLst>
          </p:cNvPr>
          <p:cNvPicPr>
            <a:picLocks noChangeAspect="1"/>
          </p:cNvPicPr>
          <p:nvPr/>
        </p:nvPicPr>
        <p:blipFill>
          <a:blip r:embed="rId4"/>
          <a:stretch>
            <a:fillRect/>
          </a:stretch>
        </p:blipFill>
        <p:spPr>
          <a:xfrm>
            <a:off x="3136160" y="1813173"/>
            <a:ext cx="5032986" cy="2845781"/>
          </a:xfrm>
          <a:prstGeom prst="rect">
            <a:avLst/>
          </a:prstGeom>
        </p:spPr>
      </p:pic>
      <p:pic>
        <p:nvPicPr>
          <p:cNvPr id="18" name="图片 17">
            <a:extLst>
              <a:ext uri="{FF2B5EF4-FFF2-40B4-BE49-F238E27FC236}">
                <a16:creationId xmlns:a16="http://schemas.microsoft.com/office/drawing/2014/main" id="{1373815E-1867-70A4-1695-88603D8530B3}"/>
              </a:ext>
            </a:extLst>
          </p:cNvPr>
          <p:cNvPicPr>
            <a:picLocks noChangeAspect="1"/>
          </p:cNvPicPr>
          <p:nvPr/>
        </p:nvPicPr>
        <p:blipFill>
          <a:blip r:embed="rId3"/>
          <a:srcRect t="50000"/>
          <a:stretch>
            <a:fillRect/>
          </a:stretch>
        </p:blipFill>
        <p:spPr>
          <a:xfrm>
            <a:off x="1474906" y="4658954"/>
            <a:ext cx="8355495" cy="1195890"/>
          </a:xfrm>
          <a:prstGeom prst="rect">
            <a:avLst/>
          </a:prstGeom>
        </p:spPr>
      </p:pic>
      <p:pic>
        <p:nvPicPr>
          <p:cNvPr id="5" name="图片 4">
            <a:extLst>
              <a:ext uri="{FF2B5EF4-FFF2-40B4-BE49-F238E27FC236}">
                <a16:creationId xmlns:a16="http://schemas.microsoft.com/office/drawing/2014/main" id="{5DAB0107-AE21-7768-6E59-048C615B8D8E}"/>
              </a:ext>
            </a:extLst>
          </p:cNvPr>
          <p:cNvPicPr>
            <a:picLocks noChangeAspect="1"/>
          </p:cNvPicPr>
          <p:nvPr/>
        </p:nvPicPr>
        <p:blipFill>
          <a:blip r:embed="rId5"/>
          <a:stretch>
            <a:fillRect/>
          </a:stretch>
        </p:blipFill>
        <p:spPr>
          <a:xfrm>
            <a:off x="9433687" y="331968"/>
            <a:ext cx="2743200" cy="387856"/>
          </a:xfrm>
          <a:prstGeom prst="rect">
            <a:avLst/>
          </a:prstGeom>
        </p:spPr>
      </p:pic>
      <p:pic>
        <p:nvPicPr>
          <p:cNvPr id="8" name="图片 7">
            <a:extLst>
              <a:ext uri="{FF2B5EF4-FFF2-40B4-BE49-F238E27FC236}">
                <a16:creationId xmlns:a16="http://schemas.microsoft.com/office/drawing/2014/main" id="{ADE2045E-65CC-688B-E163-7DB9B3F6DA2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927450" y="335419"/>
            <a:ext cx="1366300" cy="384405"/>
          </a:xfrm>
          <a:prstGeom prst="rect">
            <a:avLst/>
          </a:prstGeom>
        </p:spPr>
      </p:pic>
    </p:spTree>
    <p:extLst>
      <p:ext uri="{BB962C8B-B14F-4D97-AF65-F5344CB8AC3E}">
        <p14:creationId xmlns:p14="http://schemas.microsoft.com/office/powerpoint/2010/main" val="1695761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linds(horizontal)">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blinds(horizontal)">
                                      <p:cBhvr>
                                        <p:cTn id="1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6BAB5-7540-AFF6-43CE-A4273854741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C23278C-9B4A-FB87-F2E4-EC281ACF981A}"/>
              </a:ext>
            </a:extLst>
          </p:cNvPr>
          <p:cNvSpPr>
            <a:spLocks noGrp="1"/>
          </p:cNvSpPr>
          <p:nvPr>
            <p:ph type="ctrTitle"/>
          </p:nvPr>
        </p:nvSpPr>
        <p:spPr>
          <a:xfrm>
            <a:off x="149629" y="182880"/>
            <a:ext cx="11006051" cy="650972"/>
          </a:xfrm>
        </p:spPr>
        <p:txBody>
          <a:bodyPr>
            <a:noAutofit/>
          </a:bodyPr>
          <a:lstStyle/>
          <a:p>
            <a:pPr algn="l">
              <a:lnSpc>
                <a:spcPct val="130000"/>
              </a:lnSpc>
            </a:pPr>
            <a:r>
              <a:rPr lang="en-US" altLang="zh-CN" sz="3600" b="1" dirty="0">
                <a:latin typeface="Calibri" panose="020F0502020204030204" pitchFamily="34" charset="0"/>
                <a:ea typeface="SimHei" charset="-122"/>
                <a:cs typeface="Calibri" panose="020F0502020204030204" pitchFamily="34" charset="0"/>
              </a:rPr>
              <a:t>Our solution: </a:t>
            </a:r>
            <a:r>
              <a:rPr lang="en-US" altLang="zh-CN" sz="3600" b="1" dirty="0" err="1">
                <a:latin typeface="Calibri" panose="020F0502020204030204" pitchFamily="34" charset="0"/>
                <a:ea typeface="SimHei" charset="-122"/>
                <a:cs typeface="Calibri" panose="020F0502020204030204" pitchFamily="34" charset="0"/>
              </a:rPr>
              <a:t>MegaScale-MoE</a:t>
            </a:r>
            <a:endParaRPr lang="en" altLang="zh-CN" sz="3600" b="1" dirty="0">
              <a:latin typeface="Calibri" panose="020F0502020204030204" pitchFamily="34" charset="0"/>
              <a:ea typeface="SimHei" charset="-122"/>
              <a:cs typeface="Calibri" panose="020F0502020204030204" pitchFamily="34" charset="0"/>
            </a:endParaRPr>
          </a:p>
        </p:txBody>
      </p:sp>
      <p:sp>
        <p:nvSpPr>
          <p:cNvPr id="7" name="灯片编号占位符 6">
            <a:extLst>
              <a:ext uri="{FF2B5EF4-FFF2-40B4-BE49-F238E27FC236}">
                <a16:creationId xmlns:a16="http://schemas.microsoft.com/office/drawing/2014/main" id="{23F4F155-BDB1-3576-EC3B-F3368F33CAC3}"/>
              </a:ext>
            </a:extLst>
          </p:cNvPr>
          <p:cNvSpPr>
            <a:spLocks noGrp="1"/>
          </p:cNvSpPr>
          <p:nvPr>
            <p:ph type="sldNum" sz="quarter" idx="12"/>
          </p:nvPr>
        </p:nvSpPr>
        <p:spPr/>
        <p:txBody>
          <a:bodyPr/>
          <a:lstStyle/>
          <a:p>
            <a:fld id="{24910F54-69FC-A944-93E9-EFB57972FC5C}" type="slidenum">
              <a:rPr kumimoji="1" lang="zh-CN" altLang="en-US" smtClean="0"/>
              <a:t>11</a:t>
            </a:fld>
            <a:endParaRPr kumimoji="1" lang="zh-CN" altLang="en-US" dirty="0"/>
          </a:p>
        </p:txBody>
      </p:sp>
      <p:sp>
        <p:nvSpPr>
          <p:cNvPr id="5" name="文本框 4">
            <a:extLst>
              <a:ext uri="{FF2B5EF4-FFF2-40B4-BE49-F238E27FC236}">
                <a16:creationId xmlns:a16="http://schemas.microsoft.com/office/drawing/2014/main" id="{3274A124-9980-3EF9-D4C8-FF996A6A5E56}"/>
              </a:ext>
            </a:extLst>
          </p:cNvPr>
          <p:cNvSpPr txBox="1"/>
          <p:nvPr/>
        </p:nvSpPr>
        <p:spPr>
          <a:xfrm>
            <a:off x="255937" y="1289953"/>
            <a:ext cx="11680125" cy="4278094"/>
          </a:xfrm>
          <a:prstGeom prst="rect">
            <a:avLst/>
          </a:prstGeom>
          <a:noFill/>
        </p:spPr>
        <p:txBody>
          <a:bodyPr wrap="square">
            <a:spAutoFit/>
          </a:bodyPr>
          <a:lstStyle/>
          <a:p>
            <a:pPr marL="457200" indent="-457200">
              <a:buFont typeface="Arial" panose="020B0604020202020204" pitchFamily="34" charset="0"/>
              <a:buChar char="•"/>
            </a:pPr>
            <a:r>
              <a:rPr lang="en-US" altLang="zh-CN" sz="3200" b="1" dirty="0">
                <a:latin typeface="Calibri" panose="020F0502020204030204" pitchFamily="34" charset="0"/>
                <a:cs typeface="Calibri" panose="020F0502020204030204" pitchFamily="34" charset="0"/>
              </a:rPr>
              <a:t>Communication-efficient parallelism </a:t>
            </a:r>
          </a:p>
          <a:p>
            <a:pPr marL="914400" lvl="1" indent="-457200">
              <a:buFont typeface="Arial" panose="020B0604020202020204" pitchFamily="34" charset="0"/>
              <a:buChar char="•"/>
            </a:pPr>
            <a:r>
              <a:rPr lang="en-US" altLang="zh-CN" sz="2800" b="1" dirty="0">
                <a:latin typeface="Calibri" panose="020F0502020204030204" pitchFamily="34" charset="0"/>
                <a:cs typeface="Calibri" panose="020F0502020204030204" pitchFamily="34" charset="0"/>
              </a:rPr>
              <a:t>Reduce</a:t>
            </a:r>
            <a:r>
              <a:rPr lang="en-US" altLang="zh-CN" sz="2800" dirty="0">
                <a:latin typeface="Calibri" panose="020F0502020204030204" pitchFamily="34" charset="0"/>
                <a:cs typeface="Calibri" panose="020F0502020204030204" pitchFamily="34" charset="0"/>
              </a:rPr>
              <a:t> communication volume by choosing better parallelism strategies</a:t>
            </a:r>
          </a:p>
          <a:p>
            <a:pPr marL="914400" lvl="1" indent="-457200">
              <a:buFont typeface="Arial" panose="020B0604020202020204" pitchFamily="34" charset="0"/>
              <a:buChar char="•"/>
            </a:pPr>
            <a:endParaRPr lang="en-US" altLang="zh-CN" sz="3200" dirty="0">
              <a:latin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en-US" altLang="zh-CN" sz="3200" b="1" dirty="0">
                <a:latin typeface="Calibri" panose="020F0502020204030204" pitchFamily="34" charset="0"/>
                <a:cs typeface="Calibri" panose="020F0502020204030204" pitchFamily="34" charset="0"/>
              </a:rPr>
              <a:t>Communication-computation overlap</a:t>
            </a:r>
          </a:p>
          <a:p>
            <a:pPr marL="914400" lvl="1" indent="-457200">
              <a:buFont typeface="Arial" panose="020B0604020202020204" pitchFamily="34" charset="0"/>
              <a:buChar char="•"/>
            </a:pPr>
            <a:r>
              <a:rPr lang="en-US" altLang="zh-CN" sz="2800" b="1" dirty="0">
                <a:latin typeface="Calibri" panose="020F0502020204030204" pitchFamily="34" charset="0"/>
                <a:cs typeface="Calibri" panose="020F0502020204030204" pitchFamily="34" charset="0"/>
              </a:rPr>
              <a:t>Hide</a:t>
            </a:r>
            <a:r>
              <a:rPr lang="en-US" altLang="zh-CN" sz="2800" dirty="0">
                <a:latin typeface="Calibri" panose="020F0502020204030204" pitchFamily="34" charset="0"/>
                <a:cs typeface="Calibri" panose="020F0502020204030204" pitchFamily="34" charset="0"/>
              </a:rPr>
              <a:t> the communication latency through operator scheduling and fusion</a:t>
            </a:r>
          </a:p>
          <a:p>
            <a:pPr marL="914400" lvl="1" indent="-457200">
              <a:buFont typeface="Arial" panose="020B0604020202020204" pitchFamily="34" charset="0"/>
              <a:buChar char="•"/>
            </a:pPr>
            <a:endParaRPr lang="en-US" altLang="zh-CN" sz="3200" dirty="0">
              <a:latin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en-US" altLang="zh-CN" sz="3200" b="1" dirty="0">
                <a:latin typeface="Calibri" panose="020F0502020204030204" pitchFamily="34" charset="0"/>
                <a:cs typeface="Calibri" panose="020F0502020204030204" pitchFamily="34" charset="0"/>
              </a:rPr>
              <a:t>Communication compression</a:t>
            </a:r>
          </a:p>
          <a:p>
            <a:pPr marL="914400" lvl="1" indent="-457200">
              <a:buFont typeface="Arial" panose="020B0604020202020204" pitchFamily="34" charset="0"/>
              <a:buChar char="•"/>
            </a:pPr>
            <a:r>
              <a:rPr lang="en-US" altLang="zh-CN" sz="2800" b="1" dirty="0">
                <a:latin typeface="Calibri" panose="020F0502020204030204" pitchFamily="34" charset="0"/>
                <a:cs typeface="Calibri" panose="020F0502020204030204" pitchFamily="34" charset="0"/>
              </a:rPr>
              <a:t>Compress</a:t>
            </a:r>
            <a:r>
              <a:rPr lang="en-US" altLang="zh-CN" sz="2800" dirty="0">
                <a:latin typeface="Calibri" panose="020F0502020204030204" pitchFamily="34" charset="0"/>
                <a:cs typeface="Calibri" panose="020F0502020204030204" pitchFamily="34" charset="0"/>
              </a:rPr>
              <a:t> bandwidth cost by lowering communication precision while preserving convergence</a:t>
            </a:r>
          </a:p>
        </p:txBody>
      </p:sp>
      <p:sp>
        <p:nvSpPr>
          <p:cNvPr id="8" name="右箭头 7">
            <a:extLst>
              <a:ext uri="{FF2B5EF4-FFF2-40B4-BE49-F238E27FC236}">
                <a16:creationId xmlns:a16="http://schemas.microsoft.com/office/drawing/2014/main" id="{5E4F88FC-C510-4786-A8B5-18790ED2538A}"/>
              </a:ext>
            </a:extLst>
          </p:cNvPr>
          <p:cNvSpPr/>
          <p:nvPr/>
        </p:nvSpPr>
        <p:spPr>
          <a:xfrm rot="10800000">
            <a:off x="7418289" y="2812430"/>
            <a:ext cx="921855" cy="375557"/>
          </a:xfrm>
          <a:prstGeom prst="rightArrow">
            <a:avLst/>
          </a:prstGeom>
          <a:solidFill>
            <a:schemeClr val="accent2">
              <a:lumMod val="60000"/>
              <a:lumOff val="4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4" name="图片 3">
            <a:extLst>
              <a:ext uri="{FF2B5EF4-FFF2-40B4-BE49-F238E27FC236}">
                <a16:creationId xmlns:a16="http://schemas.microsoft.com/office/drawing/2014/main" id="{89732462-A85D-1A06-2E97-0A8C25857378}"/>
              </a:ext>
            </a:extLst>
          </p:cNvPr>
          <p:cNvPicPr>
            <a:picLocks noChangeAspect="1"/>
          </p:cNvPicPr>
          <p:nvPr/>
        </p:nvPicPr>
        <p:blipFill>
          <a:blip r:embed="rId3"/>
          <a:stretch>
            <a:fillRect/>
          </a:stretch>
        </p:blipFill>
        <p:spPr>
          <a:xfrm>
            <a:off x="9433687" y="331968"/>
            <a:ext cx="2743200" cy="387856"/>
          </a:xfrm>
          <a:prstGeom prst="rect">
            <a:avLst/>
          </a:prstGeom>
        </p:spPr>
      </p:pic>
      <p:pic>
        <p:nvPicPr>
          <p:cNvPr id="9" name="图片 8">
            <a:extLst>
              <a:ext uri="{FF2B5EF4-FFF2-40B4-BE49-F238E27FC236}">
                <a16:creationId xmlns:a16="http://schemas.microsoft.com/office/drawing/2014/main" id="{95D91F0F-38E8-569E-AA60-606720D9AE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927450" y="335419"/>
            <a:ext cx="1366300" cy="384405"/>
          </a:xfrm>
          <a:prstGeom prst="rect">
            <a:avLst/>
          </a:prstGeom>
        </p:spPr>
      </p:pic>
    </p:spTree>
    <p:extLst>
      <p:ext uri="{BB962C8B-B14F-4D97-AF65-F5344CB8AC3E}">
        <p14:creationId xmlns:p14="http://schemas.microsoft.com/office/powerpoint/2010/main" val="3067973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6CAD1-9F8F-7229-0871-21F5F8A75885}"/>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300272A7-1A6B-BDEE-99FA-7AFEE4B9AF29}"/>
              </a:ext>
            </a:extLst>
          </p:cNvPr>
          <p:cNvSpPr>
            <a:spLocks noGrp="1"/>
          </p:cNvSpPr>
          <p:nvPr>
            <p:ph type="sldNum" sz="quarter" idx="12"/>
          </p:nvPr>
        </p:nvSpPr>
        <p:spPr/>
        <p:txBody>
          <a:bodyPr/>
          <a:lstStyle/>
          <a:p>
            <a:fld id="{24910F54-69FC-A944-93E9-EFB57972FC5C}" type="slidenum">
              <a:rPr kumimoji="1" lang="zh-CN" altLang="en-US" smtClean="0"/>
              <a:t>12</a:t>
            </a:fld>
            <a:endParaRPr kumimoji="1" lang="zh-CN" altLang="en-US" dirty="0"/>
          </a:p>
        </p:txBody>
      </p:sp>
      <p:sp>
        <p:nvSpPr>
          <p:cNvPr id="3" name="标题 1">
            <a:extLst>
              <a:ext uri="{FF2B5EF4-FFF2-40B4-BE49-F238E27FC236}">
                <a16:creationId xmlns:a16="http://schemas.microsoft.com/office/drawing/2014/main" id="{13B341F1-17D8-5210-C427-76EFDF77393F}"/>
              </a:ext>
            </a:extLst>
          </p:cNvPr>
          <p:cNvSpPr>
            <a:spLocks noGrp="1"/>
          </p:cNvSpPr>
          <p:nvPr>
            <p:ph type="ctrTitle"/>
          </p:nvPr>
        </p:nvSpPr>
        <p:spPr>
          <a:xfrm>
            <a:off x="149629" y="182880"/>
            <a:ext cx="11006051" cy="650972"/>
          </a:xfrm>
        </p:spPr>
        <p:txBody>
          <a:bodyPr>
            <a:noAutofit/>
          </a:bodyPr>
          <a:lstStyle/>
          <a:p>
            <a:pPr algn="l">
              <a:lnSpc>
                <a:spcPct val="130000"/>
              </a:lnSpc>
            </a:pPr>
            <a:r>
              <a:rPr lang="en-US" altLang="zh-CN" sz="3600" b="1" dirty="0">
                <a:latin typeface="Calibri" panose="020F0502020204030204" pitchFamily="34" charset="0"/>
                <a:ea typeface="SimHei" charset="-122"/>
                <a:cs typeface="Calibri" panose="020F0502020204030204" pitchFamily="34" charset="0"/>
              </a:rPr>
              <a:t>Communication-Computation Overlap</a:t>
            </a:r>
            <a:endParaRPr lang="en" altLang="zh-CN" sz="3600" b="1" dirty="0">
              <a:latin typeface="Calibri" panose="020F0502020204030204" pitchFamily="34" charset="0"/>
              <a:ea typeface="SimHei" charset="-122"/>
              <a:cs typeface="Calibri" panose="020F0502020204030204" pitchFamily="34" charset="0"/>
            </a:endParaRPr>
          </a:p>
        </p:txBody>
      </p:sp>
      <p:pic>
        <p:nvPicPr>
          <p:cNvPr id="6" name="图片 5">
            <a:extLst>
              <a:ext uri="{FF2B5EF4-FFF2-40B4-BE49-F238E27FC236}">
                <a16:creationId xmlns:a16="http://schemas.microsoft.com/office/drawing/2014/main" id="{CD26B969-F30D-2C86-FF7A-7BC8DF38A64C}"/>
              </a:ext>
            </a:extLst>
          </p:cNvPr>
          <p:cNvPicPr>
            <a:picLocks noChangeAspect="1"/>
          </p:cNvPicPr>
          <p:nvPr/>
        </p:nvPicPr>
        <p:blipFill>
          <a:blip r:embed="rId3"/>
          <a:stretch>
            <a:fillRect/>
          </a:stretch>
        </p:blipFill>
        <p:spPr>
          <a:xfrm>
            <a:off x="9433687" y="331968"/>
            <a:ext cx="2743200" cy="387856"/>
          </a:xfrm>
          <a:prstGeom prst="rect">
            <a:avLst/>
          </a:prstGeom>
        </p:spPr>
      </p:pic>
      <p:pic>
        <p:nvPicPr>
          <p:cNvPr id="8" name="图片 7">
            <a:extLst>
              <a:ext uri="{FF2B5EF4-FFF2-40B4-BE49-F238E27FC236}">
                <a16:creationId xmlns:a16="http://schemas.microsoft.com/office/drawing/2014/main" id="{C576CC64-293F-CB7B-E880-29E9E47435BB}"/>
              </a:ext>
            </a:extLst>
          </p:cNvPr>
          <p:cNvPicPr>
            <a:picLocks noChangeAspect="1"/>
          </p:cNvPicPr>
          <p:nvPr/>
        </p:nvPicPr>
        <p:blipFill>
          <a:blip r:embed="rId4"/>
          <a:srcRect b="28530"/>
          <a:stretch>
            <a:fillRect/>
          </a:stretch>
        </p:blipFill>
        <p:spPr>
          <a:xfrm>
            <a:off x="149629" y="1110707"/>
            <a:ext cx="5910265" cy="5564413"/>
          </a:xfrm>
          <a:prstGeom prst="rect">
            <a:avLst/>
          </a:prstGeom>
        </p:spPr>
      </p:pic>
      <p:sp>
        <p:nvSpPr>
          <p:cNvPr id="11" name="椭圆 10">
            <a:extLst>
              <a:ext uri="{FF2B5EF4-FFF2-40B4-BE49-F238E27FC236}">
                <a16:creationId xmlns:a16="http://schemas.microsoft.com/office/drawing/2014/main" id="{04792199-237A-AC64-D7CF-671B8E567D10}"/>
              </a:ext>
            </a:extLst>
          </p:cNvPr>
          <p:cNvSpPr/>
          <p:nvPr/>
        </p:nvSpPr>
        <p:spPr>
          <a:xfrm rot="5400000">
            <a:off x="761997" y="3557240"/>
            <a:ext cx="364276" cy="892097"/>
          </a:xfrm>
          <a:prstGeom prst="ellipse">
            <a:avLst/>
          </a:prstGeom>
          <a:noFill/>
          <a:ln w="38100">
            <a:solidFill>
              <a:srgbClr val="F30000">
                <a:alpha val="80000"/>
              </a:srgbClr>
            </a:solidFill>
            <a:prstDash val="solid"/>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solidFill>
                <a:srgbClr val="F30000"/>
              </a:solidFill>
            </a:endParaRPr>
          </a:p>
        </p:txBody>
      </p:sp>
      <p:sp>
        <p:nvSpPr>
          <p:cNvPr id="12" name="椭圆 11">
            <a:extLst>
              <a:ext uri="{FF2B5EF4-FFF2-40B4-BE49-F238E27FC236}">
                <a16:creationId xmlns:a16="http://schemas.microsoft.com/office/drawing/2014/main" id="{768884D3-3B01-E35D-1516-EE4532CE2D7D}"/>
              </a:ext>
            </a:extLst>
          </p:cNvPr>
          <p:cNvSpPr/>
          <p:nvPr/>
        </p:nvSpPr>
        <p:spPr>
          <a:xfrm rot="5400000">
            <a:off x="1509129" y="2982952"/>
            <a:ext cx="364276" cy="892097"/>
          </a:xfrm>
          <a:prstGeom prst="ellipse">
            <a:avLst/>
          </a:prstGeom>
          <a:noFill/>
          <a:ln w="38100">
            <a:solidFill>
              <a:srgbClr val="F30000">
                <a:alpha val="80000"/>
              </a:srgbClr>
            </a:solidFill>
            <a:prstDash val="solid"/>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solidFill>
                <a:srgbClr val="F30000"/>
              </a:solidFill>
            </a:endParaRPr>
          </a:p>
        </p:txBody>
      </p:sp>
      <p:cxnSp>
        <p:nvCxnSpPr>
          <p:cNvPr id="13" name="直线箭头连接符 39">
            <a:extLst>
              <a:ext uri="{FF2B5EF4-FFF2-40B4-BE49-F238E27FC236}">
                <a16:creationId xmlns:a16="http://schemas.microsoft.com/office/drawing/2014/main" id="{AF852BB5-8A1B-A4D4-5ACA-F6CEF825573A}"/>
              </a:ext>
            </a:extLst>
          </p:cNvPr>
          <p:cNvCxnSpPr>
            <a:cxnSpLocks/>
            <a:endCxn id="24" idx="1"/>
          </p:cNvCxnSpPr>
          <p:nvPr/>
        </p:nvCxnSpPr>
        <p:spPr>
          <a:xfrm flipV="1">
            <a:off x="944135" y="2065981"/>
            <a:ext cx="5731239" cy="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线箭头连接符 39">
            <a:extLst>
              <a:ext uri="{FF2B5EF4-FFF2-40B4-BE49-F238E27FC236}">
                <a16:creationId xmlns:a16="http://schemas.microsoft.com/office/drawing/2014/main" id="{C75D097C-4824-DADA-339C-E8B49E61493D}"/>
              </a:ext>
            </a:extLst>
          </p:cNvPr>
          <p:cNvCxnSpPr>
            <a:cxnSpLocks/>
          </p:cNvCxnSpPr>
          <p:nvPr/>
        </p:nvCxnSpPr>
        <p:spPr>
          <a:xfrm flipV="1">
            <a:off x="1691267" y="2065982"/>
            <a:ext cx="0" cy="1180880"/>
          </a:xfrm>
          <a:prstGeom prst="straightConnector1">
            <a:avLst/>
          </a:prstGeom>
          <a:ln w="381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19" name="直线箭头连接符 39">
            <a:extLst>
              <a:ext uri="{FF2B5EF4-FFF2-40B4-BE49-F238E27FC236}">
                <a16:creationId xmlns:a16="http://schemas.microsoft.com/office/drawing/2014/main" id="{A823B2BE-8279-516A-8D70-41798278CEDF}"/>
              </a:ext>
            </a:extLst>
          </p:cNvPr>
          <p:cNvCxnSpPr>
            <a:cxnSpLocks/>
            <a:stCxn id="11" idx="2"/>
          </p:cNvCxnSpPr>
          <p:nvPr/>
        </p:nvCxnSpPr>
        <p:spPr>
          <a:xfrm flipV="1">
            <a:off x="944135" y="2065981"/>
            <a:ext cx="0" cy="1755170"/>
          </a:xfrm>
          <a:prstGeom prst="straightConnector1">
            <a:avLst/>
          </a:prstGeom>
          <a:ln w="38100">
            <a:solidFill>
              <a:srgbClr val="FF0000"/>
            </a:solidFill>
            <a:tailEnd type="none"/>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B4F569B0-B381-8E44-1D5F-A2BBDB821EC4}"/>
              </a:ext>
            </a:extLst>
          </p:cNvPr>
          <p:cNvSpPr txBox="1"/>
          <p:nvPr/>
        </p:nvSpPr>
        <p:spPr>
          <a:xfrm>
            <a:off x="6675374" y="1342706"/>
            <a:ext cx="5516626" cy="1446550"/>
          </a:xfrm>
          <a:prstGeom prst="rect">
            <a:avLst/>
          </a:prstGeom>
          <a:noFill/>
        </p:spPr>
        <p:txBody>
          <a:bodyPr wrap="square">
            <a:spAutoFit/>
          </a:bodyPr>
          <a:lstStyle/>
          <a:p>
            <a:pPr marL="457200" indent="-457200">
              <a:buFont typeface="Arial" panose="020B0604020202020204" pitchFamily="34" charset="0"/>
              <a:buChar char="•"/>
            </a:pPr>
            <a:r>
              <a:rPr lang="en-US" altLang="zh-CN" sz="3200" dirty="0">
                <a:latin typeface="Calibri" panose="020F0502020204030204" pitchFamily="34" charset="0"/>
                <a:cs typeface="Calibri" panose="020F0502020204030204" pitchFamily="34" charset="0"/>
              </a:rPr>
              <a:t>Inter-operator</a:t>
            </a:r>
            <a:endParaRPr lang="en-US" altLang="zh-CN" sz="2800" dirty="0">
              <a:latin typeface="Calibri" panose="020F0502020204030204" pitchFamily="34" charset="0"/>
              <a:cs typeface="Calibri" panose="020F0502020204030204" pitchFamily="34" charset="0"/>
            </a:endParaRPr>
          </a:p>
          <a:p>
            <a:pPr marL="914400" lvl="1" indent="-457200">
              <a:buFont typeface="Arial" panose="020B0604020202020204" pitchFamily="34" charset="0"/>
              <a:buChar char="•"/>
            </a:pPr>
            <a:r>
              <a:rPr lang="en-US" altLang="zh-CN" sz="2800" dirty="0">
                <a:latin typeface="Calibri" panose="020F0502020204030204" pitchFamily="34" charset="0"/>
                <a:cs typeface="Calibri" panose="020F0502020204030204" pitchFamily="34" charset="0"/>
              </a:rPr>
              <a:t>w/o data dependencies</a:t>
            </a:r>
          </a:p>
          <a:p>
            <a:pPr marL="914400" lvl="1" indent="-457200">
              <a:buFont typeface="Arial" panose="020B0604020202020204" pitchFamily="34" charset="0"/>
              <a:buChar char="•"/>
            </a:pPr>
            <a:r>
              <a:rPr lang="en-US" altLang="zh-CN" sz="2800" dirty="0">
                <a:latin typeface="Calibri" panose="020F0502020204030204" pitchFamily="34" charset="0"/>
                <a:cs typeface="Calibri" panose="020F0502020204030204" pitchFamily="34" charset="0"/>
              </a:rPr>
              <a:t>reordering/scheduling</a:t>
            </a:r>
          </a:p>
        </p:txBody>
      </p:sp>
      <p:sp>
        <p:nvSpPr>
          <p:cNvPr id="26" name="椭圆 25">
            <a:extLst>
              <a:ext uri="{FF2B5EF4-FFF2-40B4-BE49-F238E27FC236}">
                <a16:creationId xmlns:a16="http://schemas.microsoft.com/office/drawing/2014/main" id="{AE9E2172-C5A6-FE16-C7C3-3D0084D9D346}"/>
              </a:ext>
            </a:extLst>
          </p:cNvPr>
          <p:cNvSpPr/>
          <p:nvPr/>
        </p:nvSpPr>
        <p:spPr>
          <a:xfrm rot="5400000">
            <a:off x="4195268" y="1997638"/>
            <a:ext cx="358922" cy="1577883"/>
          </a:xfrm>
          <a:prstGeom prst="ellipse">
            <a:avLst/>
          </a:prstGeom>
          <a:noFill/>
          <a:ln w="38100">
            <a:solidFill>
              <a:srgbClr val="F30000">
                <a:alpha val="80000"/>
              </a:srgbClr>
            </a:solidFill>
            <a:prstDash val="solid"/>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solidFill>
                <a:srgbClr val="F30000"/>
              </a:solidFill>
            </a:endParaRPr>
          </a:p>
        </p:txBody>
      </p:sp>
      <p:sp>
        <p:nvSpPr>
          <p:cNvPr id="27" name="椭圆 26">
            <a:extLst>
              <a:ext uri="{FF2B5EF4-FFF2-40B4-BE49-F238E27FC236}">
                <a16:creationId xmlns:a16="http://schemas.microsoft.com/office/drawing/2014/main" id="{0E157FA8-5A2F-3F4F-80B0-5162F5AC0D00}"/>
              </a:ext>
            </a:extLst>
          </p:cNvPr>
          <p:cNvSpPr/>
          <p:nvPr/>
        </p:nvSpPr>
        <p:spPr>
          <a:xfrm rot="5400000">
            <a:off x="3943632" y="2174650"/>
            <a:ext cx="862191" cy="2430811"/>
          </a:xfrm>
          <a:prstGeom prst="ellipse">
            <a:avLst/>
          </a:prstGeom>
          <a:noFill/>
          <a:ln w="38100">
            <a:solidFill>
              <a:srgbClr val="F30000">
                <a:alpha val="80000"/>
              </a:srgbClr>
            </a:solidFill>
            <a:prstDash val="solid"/>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solidFill>
                <a:srgbClr val="F30000"/>
              </a:solidFill>
            </a:endParaRPr>
          </a:p>
        </p:txBody>
      </p:sp>
      <p:cxnSp>
        <p:nvCxnSpPr>
          <p:cNvPr id="28" name="直线箭头连接符 39">
            <a:extLst>
              <a:ext uri="{FF2B5EF4-FFF2-40B4-BE49-F238E27FC236}">
                <a16:creationId xmlns:a16="http://schemas.microsoft.com/office/drawing/2014/main" id="{D5B03FAF-4691-F629-C354-A1F56A509063}"/>
              </a:ext>
            </a:extLst>
          </p:cNvPr>
          <p:cNvCxnSpPr>
            <a:cxnSpLocks/>
            <a:endCxn id="27" idx="6"/>
          </p:cNvCxnSpPr>
          <p:nvPr/>
        </p:nvCxnSpPr>
        <p:spPr>
          <a:xfrm flipV="1">
            <a:off x="4374727" y="3821151"/>
            <a:ext cx="0" cy="804637"/>
          </a:xfrm>
          <a:prstGeom prst="straightConnector1">
            <a:avLst/>
          </a:prstGeom>
          <a:ln w="381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31" name="直线箭头连接符 39">
            <a:extLst>
              <a:ext uri="{FF2B5EF4-FFF2-40B4-BE49-F238E27FC236}">
                <a16:creationId xmlns:a16="http://schemas.microsoft.com/office/drawing/2014/main" id="{88BDC3DD-58B7-2F47-D82F-5BB1AAEA9E77}"/>
              </a:ext>
            </a:extLst>
          </p:cNvPr>
          <p:cNvCxnSpPr>
            <a:cxnSpLocks/>
          </p:cNvCxnSpPr>
          <p:nvPr/>
        </p:nvCxnSpPr>
        <p:spPr>
          <a:xfrm>
            <a:off x="4374727" y="4625788"/>
            <a:ext cx="2300647"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线箭头连接符 39">
            <a:extLst>
              <a:ext uri="{FF2B5EF4-FFF2-40B4-BE49-F238E27FC236}">
                <a16:creationId xmlns:a16="http://schemas.microsoft.com/office/drawing/2014/main" id="{5370FED5-0F23-0313-43ED-5BF5DDBA840B}"/>
              </a:ext>
            </a:extLst>
          </p:cNvPr>
          <p:cNvCxnSpPr>
            <a:cxnSpLocks/>
            <a:endCxn id="26" idx="0"/>
          </p:cNvCxnSpPr>
          <p:nvPr/>
        </p:nvCxnSpPr>
        <p:spPr>
          <a:xfrm flipH="1">
            <a:off x="5163671" y="2786580"/>
            <a:ext cx="980195" cy="0"/>
          </a:xfrm>
          <a:prstGeom prst="straightConnector1">
            <a:avLst/>
          </a:prstGeom>
          <a:ln w="381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37" name="直线箭头连接符 39">
            <a:extLst>
              <a:ext uri="{FF2B5EF4-FFF2-40B4-BE49-F238E27FC236}">
                <a16:creationId xmlns:a16="http://schemas.microsoft.com/office/drawing/2014/main" id="{018FB6E8-8F86-9357-AB00-9C3FEE95F7D0}"/>
              </a:ext>
            </a:extLst>
          </p:cNvPr>
          <p:cNvCxnSpPr>
            <a:cxnSpLocks/>
          </p:cNvCxnSpPr>
          <p:nvPr/>
        </p:nvCxnSpPr>
        <p:spPr>
          <a:xfrm>
            <a:off x="6132108" y="2786580"/>
            <a:ext cx="11758" cy="1839208"/>
          </a:xfrm>
          <a:prstGeom prst="straightConnector1">
            <a:avLst/>
          </a:prstGeom>
          <a:ln w="38100">
            <a:solidFill>
              <a:srgbClr val="FF0000"/>
            </a:solidFill>
            <a:tailEnd type="none"/>
          </a:ln>
        </p:spPr>
        <p:style>
          <a:lnRef idx="1">
            <a:schemeClr val="accent1"/>
          </a:lnRef>
          <a:fillRef idx="0">
            <a:schemeClr val="accent1"/>
          </a:fillRef>
          <a:effectRef idx="0">
            <a:schemeClr val="accent1"/>
          </a:effectRef>
          <a:fontRef idx="minor">
            <a:schemeClr val="tx1"/>
          </a:fontRef>
        </p:style>
      </p:cxnSp>
      <p:sp>
        <p:nvSpPr>
          <p:cNvPr id="43" name="文本框 42">
            <a:extLst>
              <a:ext uri="{FF2B5EF4-FFF2-40B4-BE49-F238E27FC236}">
                <a16:creationId xmlns:a16="http://schemas.microsoft.com/office/drawing/2014/main" id="{4D99838A-5AB3-45A0-C7BB-F30BC3523638}"/>
              </a:ext>
            </a:extLst>
          </p:cNvPr>
          <p:cNvSpPr txBox="1"/>
          <p:nvPr/>
        </p:nvSpPr>
        <p:spPr>
          <a:xfrm>
            <a:off x="6675374" y="3902513"/>
            <a:ext cx="5516626" cy="1446550"/>
          </a:xfrm>
          <a:prstGeom prst="rect">
            <a:avLst/>
          </a:prstGeom>
          <a:noFill/>
        </p:spPr>
        <p:txBody>
          <a:bodyPr wrap="square">
            <a:spAutoFit/>
          </a:bodyPr>
          <a:lstStyle/>
          <a:p>
            <a:pPr marL="457200" indent="-457200">
              <a:buFont typeface="Arial" panose="020B0604020202020204" pitchFamily="34" charset="0"/>
              <a:buChar char="•"/>
            </a:pPr>
            <a:r>
              <a:rPr lang="en-US" altLang="zh-CN" sz="3200" dirty="0">
                <a:latin typeface="Calibri" panose="020F0502020204030204" pitchFamily="34" charset="0"/>
                <a:cs typeface="Calibri" panose="020F0502020204030204" pitchFamily="34" charset="0"/>
              </a:rPr>
              <a:t>Intra-operator</a:t>
            </a:r>
            <a:endParaRPr lang="en-US" altLang="zh-CN" sz="2800" dirty="0">
              <a:latin typeface="Calibri" panose="020F0502020204030204" pitchFamily="34" charset="0"/>
              <a:cs typeface="Calibri" panose="020F0502020204030204" pitchFamily="34" charset="0"/>
            </a:endParaRPr>
          </a:p>
          <a:p>
            <a:pPr marL="914400" lvl="1" indent="-457200">
              <a:buFont typeface="Arial" panose="020B0604020202020204" pitchFamily="34" charset="0"/>
              <a:buChar char="•"/>
            </a:pPr>
            <a:r>
              <a:rPr lang="en-US" altLang="zh-CN" sz="2800" dirty="0">
                <a:latin typeface="Calibri" panose="020F0502020204030204" pitchFamily="34" charset="0"/>
                <a:cs typeface="Calibri" panose="020F0502020204030204" pitchFamily="34" charset="0"/>
              </a:rPr>
              <a:t>w/ data dependencies</a:t>
            </a:r>
          </a:p>
          <a:p>
            <a:pPr marL="914400" lvl="1" indent="-457200">
              <a:buFont typeface="Arial" panose="020B0604020202020204" pitchFamily="34" charset="0"/>
              <a:buChar char="•"/>
            </a:pPr>
            <a:r>
              <a:rPr lang="en-US" altLang="zh-CN" sz="2800" dirty="0">
                <a:latin typeface="Calibri" panose="020F0502020204030204" pitchFamily="34" charset="0"/>
                <a:cs typeface="Calibri" panose="020F0502020204030204" pitchFamily="34" charset="0"/>
              </a:rPr>
              <a:t>fusing</a:t>
            </a:r>
          </a:p>
        </p:txBody>
      </p:sp>
      <p:pic>
        <p:nvPicPr>
          <p:cNvPr id="4" name="图片 3">
            <a:extLst>
              <a:ext uri="{FF2B5EF4-FFF2-40B4-BE49-F238E27FC236}">
                <a16:creationId xmlns:a16="http://schemas.microsoft.com/office/drawing/2014/main" id="{206F44D2-039B-6EC6-3AF3-EB241208C61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927450" y="335419"/>
            <a:ext cx="1366300" cy="384405"/>
          </a:xfrm>
          <a:prstGeom prst="rect">
            <a:avLst/>
          </a:prstGeom>
        </p:spPr>
      </p:pic>
    </p:spTree>
    <p:extLst>
      <p:ext uri="{BB962C8B-B14F-4D97-AF65-F5344CB8AC3E}">
        <p14:creationId xmlns:p14="http://schemas.microsoft.com/office/powerpoint/2010/main" val="3713469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blinds(horizontal)">
                                      <p:cBhvr>
                                        <p:cTn id="10" dur="500"/>
                                        <p:tgtEl>
                                          <p:spTgt spid="12"/>
                                        </p:tgtEl>
                                      </p:cBhvr>
                                    </p:animEffect>
                                  </p:childTnLst>
                                </p:cTn>
                              </p:par>
                              <p:par>
                                <p:cTn id="11" presetID="3" presetClass="entr" presetSubtype="1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blinds(horizontal)">
                                      <p:cBhvr>
                                        <p:cTn id="13" dur="500"/>
                                        <p:tgtEl>
                                          <p:spTgt spid="13"/>
                                        </p:tgtEl>
                                      </p:cBhvr>
                                    </p:animEffect>
                                  </p:childTnLst>
                                </p:cTn>
                              </p:par>
                              <p:par>
                                <p:cTn id="14" presetID="3" presetClass="entr" presetSubtype="10"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blinds(horizontal)">
                                      <p:cBhvr>
                                        <p:cTn id="16" dur="500"/>
                                        <p:tgtEl>
                                          <p:spTgt spid="15"/>
                                        </p:tgtEl>
                                      </p:cBhvr>
                                    </p:animEffect>
                                  </p:childTnLst>
                                </p:cTn>
                              </p:par>
                              <p:par>
                                <p:cTn id="17" presetID="3" presetClass="entr" presetSubtype="10"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blinds(horizontal)">
                                      <p:cBhvr>
                                        <p:cTn id="19" dur="500"/>
                                        <p:tgtEl>
                                          <p:spTgt spid="19"/>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blinds(horizontal)">
                                      <p:cBhvr>
                                        <p:cTn id="22" dur="5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blinds(horizontal)">
                                      <p:cBhvr>
                                        <p:cTn id="27" dur="500"/>
                                        <p:tgtEl>
                                          <p:spTgt spid="26"/>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27"/>
                                        </p:tgtEl>
                                        <p:attrNameLst>
                                          <p:attrName>style.visibility</p:attrName>
                                        </p:attrNameLst>
                                      </p:cBhvr>
                                      <p:to>
                                        <p:strVal val="visible"/>
                                      </p:to>
                                    </p:set>
                                    <p:animEffect transition="in" filter="blinds(horizontal)">
                                      <p:cBhvr>
                                        <p:cTn id="30" dur="500"/>
                                        <p:tgtEl>
                                          <p:spTgt spid="27"/>
                                        </p:tgtEl>
                                      </p:cBhvr>
                                    </p:animEffect>
                                  </p:childTnLst>
                                </p:cTn>
                              </p:par>
                              <p:par>
                                <p:cTn id="31" presetID="3" presetClass="entr" presetSubtype="10" fill="hold" nodeType="withEffect">
                                  <p:stCondLst>
                                    <p:cond delay="0"/>
                                  </p:stCondLst>
                                  <p:childTnLst>
                                    <p:set>
                                      <p:cBhvr>
                                        <p:cTn id="32" dur="1" fill="hold">
                                          <p:stCondLst>
                                            <p:cond delay="0"/>
                                          </p:stCondLst>
                                        </p:cTn>
                                        <p:tgtEl>
                                          <p:spTgt spid="28"/>
                                        </p:tgtEl>
                                        <p:attrNameLst>
                                          <p:attrName>style.visibility</p:attrName>
                                        </p:attrNameLst>
                                      </p:cBhvr>
                                      <p:to>
                                        <p:strVal val="visible"/>
                                      </p:to>
                                    </p:set>
                                    <p:animEffect transition="in" filter="blinds(horizontal)">
                                      <p:cBhvr>
                                        <p:cTn id="33" dur="500"/>
                                        <p:tgtEl>
                                          <p:spTgt spid="28"/>
                                        </p:tgtEl>
                                      </p:cBhvr>
                                    </p:animEffect>
                                  </p:childTnLst>
                                </p:cTn>
                              </p:par>
                              <p:par>
                                <p:cTn id="34" presetID="3" presetClass="entr" presetSubtype="10" fill="hold" nodeType="withEffect">
                                  <p:stCondLst>
                                    <p:cond delay="0"/>
                                  </p:stCondLst>
                                  <p:childTnLst>
                                    <p:set>
                                      <p:cBhvr>
                                        <p:cTn id="35" dur="1" fill="hold">
                                          <p:stCondLst>
                                            <p:cond delay="0"/>
                                          </p:stCondLst>
                                        </p:cTn>
                                        <p:tgtEl>
                                          <p:spTgt spid="31"/>
                                        </p:tgtEl>
                                        <p:attrNameLst>
                                          <p:attrName>style.visibility</p:attrName>
                                        </p:attrNameLst>
                                      </p:cBhvr>
                                      <p:to>
                                        <p:strVal val="visible"/>
                                      </p:to>
                                    </p:set>
                                    <p:animEffect transition="in" filter="blinds(horizontal)">
                                      <p:cBhvr>
                                        <p:cTn id="36" dur="500"/>
                                        <p:tgtEl>
                                          <p:spTgt spid="31"/>
                                        </p:tgtEl>
                                      </p:cBhvr>
                                    </p:animEffect>
                                  </p:childTnLst>
                                </p:cTn>
                              </p:par>
                              <p:par>
                                <p:cTn id="37" presetID="3" presetClass="entr" presetSubtype="10" fill="hold" nodeType="withEffect">
                                  <p:stCondLst>
                                    <p:cond delay="0"/>
                                  </p:stCondLst>
                                  <p:childTnLst>
                                    <p:set>
                                      <p:cBhvr>
                                        <p:cTn id="38" dur="1" fill="hold">
                                          <p:stCondLst>
                                            <p:cond delay="0"/>
                                          </p:stCondLst>
                                        </p:cTn>
                                        <p:tgtEl>
                                          <p:spTgt spid="34"/>
                                        </p:tgtEl>
                                        <p:attrNameLst>
                                          <p:attrName>style.visibility</p:attrName>
                                        </p:attrNameLst>
                                      </p:cBhvr>
                                      <p:to>
                                        <p:strVal val="visible"/>
                                      </p:to>
                                    </p:set>
                                    <p:animEffect transition="in" filter="blinds(horizontal)">
                                      <p:cBhvr>
                                        <p:cTn id="39" dur="500"/>
                                        <p:tgtEl>
                                          <p:spTgt spid="34"/>
                                        </p:tgtEl>
                                      </p:cBhvr>
                                    </p:animEffect>
                                  </p:childTnLst>
                                </p:cTn>
                              </p:par>
                              <p:par>
                                <p:cTn id="40" presetID="3" presetClass="entr" presetSubtype="10" fill="hold" nodeType="withEffect">
                                  <p:stCondLst>
                                    <p:cond delay="0"/>
                                  </p:stCondLst>
                                  <p:childTnLst>
                                    <p:set>
                                      <p:cBhvr>
                                        <p:cTn id="41" dur="1" fill="hold">
                                          <p:stCondLst>
                                            <p:cond delay="0"/>
                                          </p:stCondLst>
                                        </p:cTn>
                                        <p:tgtEl>
                                          <p:spTgt spid="37"/>
                                        </p:tgtEl>
                                        <p:attrNameLst>
                                          <p:attrName>style.visibility</p:attrName>
                                        </p:attrNameLst>
                                      </p:cBhvr>
                                      <p:to>
                                        <p:strVal val="visible"/>
                                      </p:to>
                                    </p:set>
                                    <p:animEffect transition="in" filter="blinds(horizontal)">
                                      <p:cBhvr>
                                        <p:cTn id="42" dur="500"/>
                                        <p:tgtEl>
                                          <p:spTgt spid="37"/>
                                        </p:tgtEl>
                                      </p:cBhvr>
                                    </p:animEffect>
                                  </p:childTnLst>
                                </p:cTn>
                              </p:par>
                              <p:par>
                                <p:cTn id="43" presetID="3" presetClass="entr" presetSubtype="10" fill="hold" grpId="1" nodeType="withEffect">
                                  <p:stCondLst>
                                    <p:cond delay="0"/>
                                  </p:stCondLst>
                                  <p:childTnLst>
                                    <p:set>
                                      <p:cBhvr>
                                        <p:cTn id="44" dur="1" fill="hold">
                                          <p:stCondLst>
                                            <p:cond delay="0"/>
                                          </p:stCondLst>
                                        </p:cTn>
                                        <p:tgtEl>
                                          <p:spTgt spid="43"/>
                                        </p:tgtEl>
                                        <p:attrNameLst>
                                          <p:attrName>style.visibility</p:attrName>
                                        </p:attrNameLst>
                                      </p:cBhvr>
                                      <p:to>
                                        <p:strVal val="visible"/>
                                      </p:to>
                                    </p:set>
                                    <p:animEffect transition="in" filter="blinds(horizontal)">
                                      <p:cBhvr>
                                        <p:cTn id="45"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24" grpId="0"/>
      <p:bldP spid="26" grpId="0" animBg="1"/>
      <p:bldP spid="27" grpId="0" animBg="1"/>
      <p:bldP spid="43"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C648A-5A92-AE67-39BA-082FF28B18C9}"/>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CC77157D-CD6E-7008-18F5-F670C49BB2B3}"/>
              </a:ext>
            </a:extLst>
          </p:cNvPr>
          <p:cNvSpPr>
            <a:spLocks noGrp="1"/>
          </p:cNvSpPr>
          <p:nvPr>
            <p:ph type="sldNum" sz="quarter" idx="12"/>
          </p:nvPr>
        </p:nvSpPr>
        <p:spPr/>
        <p:txBody>
          <a:bodyPr/>
          <a:lstStyle/>
          <a:p>
            <a:fld id="{24910F54-69FC-A944-93E9-EFB57972FC5C}" type="slidenum">
              <a:rPr kumimoji="1" lang="zh-CN" altLang="en-US" smtClean="0"/>
              <a:t>13</a:t>
            </a:fld>
            <a:endParaRPr kumimoji="1" lang="zh-CN" altLang="en-US" dirty="0"/>
          </a:p>
        </p:txBody>
      </p:sp>
      <p:sp>
        <p:nvSpPr>
          <p:cNvPr id="3" name="标题 1">
            <a:extLst>
              <a:ext uri="{FF2B5EF4-FFF2-40B4-BE49-F238E27FC236}">
                <a16:creationId xmlns:a16="http://schemas.microsoft.com/office/drawing/2014/main" id="{6C6A9668-756F-3619-55D0-FEDF7AB8B128}"/>
              </a:ext>
            </a:extLst>
          </p:cNvPr>
          <p:cNvSpPr>
            <a:spLocks noGrp="1"/>
          </p:cNvSpPr>
          <p:nvPr>
            <p:ph type="ctrTitle"/>
          </p:nvPr>
        </p:nvSpPr>
        <p:spPr>
          <a:xfrm>
            <a:off x="149629" y="182880"/>
            <a:ext cx="11006051" cy="650972"/>
          </a:xfrm>
        </p:spPr>
        <p:txBody>
          <a:bodyPr>
            <a:noAutofit/>
          </a:bodyPr>
          <a:lstStyle/>
          <a:p>
            <a:pPr algn="l">
              <a:lnSpc>
                <a:spcPct val="130000"/>
              </a:lnSpc>
            </a:pPr>
            <a:r>
              <a:rPr lang="en-US" altLang="zh-CN" sz="3600" b="1" dirty="0">
                <a:latin typeface="Calibri" panose="020F0502020204030204" pitchFamily="34" charset="0"/>
                <a:ea typeface="SimHei" charset="-122"/>
                <a:cs typeface="Calibri" panose="020F0502020204030204" pitchFamily="34" charset="0"/>
              </a:rPr>
              <a:t>Inter-operator overlap</a:t>
            </a:r>
            <a:endParaRPr lang="en" altLang="zh-CN" sz="3600" b="1" dirty="0">
              <a:latin typeface="Calibri" panose="020F0502020204030204" pitchFamily="34" charset="0"/>
              <a:ea typeface="SimHei" charset="-122"/>
              <a:cs typeface="Calibri" panose="020F0502020204030204" pitchFamily="34" charset="0"/>
            </a:endParaRPr>
          </a:p>
        </p:txBody>
      </p:sp>
      <p:sp>
        <p:nvSpPr>
          <p:cNvPr id="4" name="文本框 3">
            <a:extLst>
              <a:ext uri="{FF2B5EF4-FFF2-40B4-BE49-F238E27FC236}">
                <a16:creationId xmlns:a16="http://schemas.microsoft.com/office/drawing/2014/main" id="{F1274641-5C41-D57D-D9EF-2B38C9F8710A}"/>
              </a:ext>
            </a:extLst>
          </p:cNvPr>
          <p:cNvSpPr txBox="1"/>
          <p:nvPr/>
        </p:nvSpPr>
        <p:spPr>
          <a:xfrm>
            <a:off x="255937" y="1289953"/>
            <a:ext cx="11680125" cy="954107"/>
          </a:xfrm>
          <a:prstGeom prst="rect">
            <a:avLst/>
          </a:prstGeom>
          <a:noFill/>
        </p:spPr>
        <p:txBody>
          <a:bodyPr wrap="square">
            <a:spAutoFit/>
          </a:bodyPr>
          <a:lstStyle/>
          <a:p>
            <a:pPr marL="457200" indent="-457200">
              <a:buFont typeface="Arial" panose="020B0604020202020204" pitchFamily="34" charset="0"/>
              <a:buChar char="•"/>
            </a:pPr>
            <a:r>
              <a:rPr lang="en-US" altLang="zh-CN" sz="2800" dirty="0">
                <a:latin typeface="Calibri" panose="020F0502020204030204" pitchFamily="34" charset="0"/>
                <a:cs typeface="Calibri" panose="020F0502020204030204" pitchFamily="34" charset="0"/>
              </a:rPr>
              <a:t>Holistic Scheduling</a:t>
            </a:r>
          </a:p>
          <a:p>
            <a:pPr marL="914400" lvl="1" indent="-457200">
              <a:buFont typeface="Arial" panose="020B0604020202020204" pitchFamily="34" charset="0"/>
              <a:buChar char="•"/>
            </a:pPr>
            <a:r>
              <a:rPr lang="en-US" altLang="zh-CN" sz="2800" dirty="0">
                <a:latin typeface="Calibri" panose="020F0502020204030204" pitchFamily="34" charset="0"/>
                <a:cs typeface="Calibri" panose="020F0502020204030204" pitchFamily="34" charset="0"/>
              </a:rPr>
              <a:t>Fine-grained control over resources to minimize interference</a:t>
            </a:r>
          </a:p>
        </p:txBody>
      </p:sp>
      <p:sp>
        <p:nvSpPr>
          <p:cNvPr id="8" name="文本框 7">
            <a:extLst>
              <a:ext uri="{FF2B5EF4-FFF2-40B4-BE49-F238E27FC236}">
                <a16:creationId xmlns:a16="http://schemas.microsoft.com/office/drawing/2014/main" id="{104D4540-1717-B8EC-D85F-E1831953B494}"/>
              </a:ext>
            </a:extLst>
          </p:cNvPr>
          <p:cNvSpPr txBox="1"/>
          <p:nvPr/>
        </p:nvSpPr>
        <p:spPr>
          <a:xfrm>
            <a:off x="255937" y="2497976"/>
            <a:ext cx="11680125" cy="1384995"/>
          </a:xfrm>
          <a:prstGeom prst="rect">
            <a:avLst/>
          </a:prstGeom>
          <a:noFill/>
        </p:spPr>
        <p:txBody>
          <a:bodyPr wrap="square">
            <a:spAutoFit/>
          </a:bodyPr>
          <a:lstStyle/>
          <a:p>
            <a:pPr marL="457200" indent="-457200">
              <a:buFont typeface="Arial" panose="020B0604020202020204" pitchFamily="34" charset="0"/>
              <a:buChar char="•"/>
            </a:pPr>
            <a:r>
              <a:rPr lang="en-US" altLang="zh-CN" sz="2800" dirty="0">
                <a:latin typeface="Calibri" panose="020F0502020204030204" pitchFamily="34" charset="0"/>
                <a:cs typeface="Calibri" panose="020F0502020204030204" pitchFamily="34" charset="0"/>
              </a:rPr>
              <a:t>Selective Activation </a:t>
            </a:r>
            <a:r>
              <a:rPr lang="en-US" altLang="zh-CN" sz="2800" dirty="0" err="1">
                <a:latin typeface="Calibri" panose="020F0502020204030204" pitchFamily="34" charset="0"/>
                <a:cs typeface="Calibri" panose="020F0502020204030204" pitchFamily="34" charset="0"/>
              </a:rPr>
              <a:t>Rematerialization</a:t>
            </a:r>
            <a:endParaRPr lang="en-US" altLang="zh-CN" sz="2800" dirty="0">
              <a:latin typeface="Calibri" panose="020F0502020204030204" pitchFamily="34" charset="0"/>
              <a:cs typeface="Calibri" panose="020F0502020204030204" pitchFamily="34" charset="0"/>
            </a:endParaRPr>
          </a:p>
          <a:p>
            <a:pPr marL="914400" lvl="1" indent="-457200">
              <a:buFont typeface="Arial" panose="020B0604020202020204" pitchFamily="34" charset="0"/>
              <a:buChar char="•"/>
            </a:pPr>
            <a:r>
              <a:rPr lang="en-US" altLang="zh-CN" sz="2800" dirty="0">
                <a:latin typeface="Calibri" panose="020F0502020204030204" pitchFamily="34" charset="0"/>
                <a:cs typeface="Calibri" panose="020F0502020204030204" pitchFamily="34" charset="0"/>
              </a:rPr>
              <a:t>Minimal activation memory usage with no training performance degradation</a:t>
            </a:r>
          </a:p>
        </p:txBody>
      </p:sp>
      <p:pic>
        <p:nvPicPr>
          <p:cNvPr id="9" name="图片 8">
            <a:extLst>
              <a:ext uri="{FF2B5EF4-FFF2-40B4-BE49-F238E27FC236}">
                <a16:creationId xmlns:a16="http://schemas.microsoft.com/office/drawing/2014/main" id="{6D21A2C0-547D-2CFC-F0F7-96F357476E4A}"/>
              </a:ext>
            </a:extLst>
          </p:cNvPr>
          <p:cNvPicPr>
            <a:picLocks noChangeAspect="1"/>
          </p:cNvPicPr>
          <p:nvPr/>
        </p:nvPicPr>
        <p:blipFill>
          <a:blip r:embed="rId3"/>
          <a:srcRect t="72067" b="-39"/>
          <a:stretch>
            <a:fillRect/>
          </a:stretch>
        </p:blipFill>
        <p:spPr>
          <a:xfrm>
            <a:off x="2700335" y="4030747"/>
            <a:ext cx="5910265" cy="2177826"/>
          </a:xfrm>
          <a:prstGeom prst="rect">
            <a:avLst/>
          </a:prstGeom>
        </p:spPr>
      </p:pic>
      <p:pic>
        <p:nvPicPr>
          <p:cNvPr id="10" name="图片 9">
            <a:extLst>
              <a:ext uri="{FF2B5EF4-FFF2-40B4-BE49-F238E27FC236}">
                <a16:creationId xmlns:a16="http://schemas.microsoft.com/office/drawing/2014/main" id="{E4A0BC7D-B574-B79F-8419-F7224F0672D6}"/>
              </a:ext>
            </a:extLst>
          </p:cNvPr>
          <p:cNvPicPr>
            <a:picLocks noChangeAspect="1"/>
          </p:cNvPicPr>
          <p:nvPr/>
        </p:nvPicPr>
        <p:blipFill>
          <a:blip r:embed="rId4"/>
          <a:stretch>
            <a:fillRect/>
          </a:stretch>
        </p:blipFill>
        <p:spPr>
          <a:xfrm>
            <a:off x="9433687" y="331968"/>
            <a:ext cx="2743200" cy="387856"/>
          </a:xfrm>
          <a:prstGeom prst="rect">
            <a:avLst/>
          </a:prstGeom>
        </p:spPr>
      </p:pic>
      <p:pic>
        <p:nvPicPr>
          <p:cNvPr id="11" name="图片 10">
            <a:extLst>
              <a:ext uri="{FF2B5EF4-FFF2-40B4-BE49-F238E27FC236}">
                <a16:creationId xmlns:a16="http://schemas.microsoft.com/office/drawing/2014/main" id="{905526EB-FF46-7388-63B6-59370441358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927450" y="335419"/>
            <a:ext cx="1366300" cy="384405"/>
          </a:xfrm>
          <a:prstGeom prst="rect">
            <a:avLst/>
          </a:prstGeom>
        </p:spPr>
      </p:pic>
    </p:spTree>
    <p:extLst>
      <p:ext uri="{BB962C8B-B14F-4D97-AF65-F5344CB8AC3E}">
        <p14:creationId xmlns:p14="http://schemas.microsoft.com/office/powerpoint/2010/main" val="1192266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linds(horizontal)">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5BD28-930F-7D48-2BAD-ABFE8B4EF23B}"/>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C872F2D-3563-D33A-5A78-01EA0B413250}"/>
              </a:ext>
            </a:extLst>
          </p:cNvPr>
          <p:cNvSpPr>
            <a:spLocks noGrp="1"/>
          </p:cNvSpPr>
          <p:nvPr>
            <p:ph type="sldNum" sz="quarter" idx="12"/>
          </p:nvPr>
        </p:nvSpPr>
        <p:spPr/>
        <p:txBody>
          <a:bodyPr/>
          <a:lstStyle/>
          <a:p>
            <a:fld id="{24910F54-69FC-A944-93E9-EFB57972FC5C}" type="slidenum">
              <a:rPr kumimoji="1" lang="zh-CN" altLang="en-US" smtClean="0"/>
              <a:t>14</a:t>
            </a:fld>
            <a:endParaRPr kumimoji="1" lang="zh-CN" altLang="en-US" dirty="0"/>
          </a:p>
        </p:txBody>
      </p:sp>
      <p:sp>
        <p:nvSpPr>
          <p:cNvPr id="3" name="标题 1">
            <a:extLst>
              <a:ext uri="{FF2B5EF4-FFF2-40B4-BE49-F238E27FC236}">
                <a16:creationId xmlns:a16="http://schemas.microsoft.com/office/drawing/2014/main" id="{A6A7FE42-DF9F-9D92-7832-3F7E5DC013A2}"/>
              </a:ext>
            </a:extLst>
          </p:cNvPr>
          <p:cNvSpPr>
            <a:spLocks noGrp="1"/>
          </p:cNvSpPr>
          <p:nvPr>
            <p:ph type="ctrTitle"/>
          </p:nvPr>
        </p:nvSpPr>
        <p:spPr>
          <a:xfrm>
            <a:off x="149629" y="182880"/>
            <a:ext cx="11006051" cy="650972"/>
          </a:xfrm>
        </p:spPr>
        <p:txBody>
          <a:bodyPr>
            <a:noAutofit/>
          </a:bodyPr>
          <a:lstStyle/>
          <a:p>
            <a:pPr algn="l">
              <a:lnSpc>
                <a:spcPct val="130000"/>
              </a:lnSpc>
            </a:pPr>
            <a:r>
              <a:rPr lang="en-US" altLang="zh-CN" sz="3600" b="1" dirty="0">
                <a:latin typeface="Calibri" panose="020F0502020204030204" pitchFamily="34" charset="0"/>
                <a:ea typeface="SimHei" charset="-122"/>
                <a:cs typeface="Calibri" panose="020F0502020204030204" pitchFamily="34" charset="0"/>
              </a:rPr>
              <a:t>Intra-operator overlap</a:t>
            </a:r>
            <a:endParaRPr lang="en" altLang="zh-CN" sz="3600" b="1" dirty="0">
              <a:latin typeface="Calibri" panose="020F0502020204030204" pitchFamily="34" charset="0"/>
              <a:ea typeface="SimHei" charset="-122"/>
              <a:cs typeface="Calibri" panose="020F0502020204030204" pitchFamily="34" charset="0"/>
            </a:endParaRPr>
          </a:p>
        </p:txBody>
      </p:sp>
      <p:pic>
        <p:nvPicPr>
          <p:cNvPr id="10" name="图片 9">
            <a:extLst>
              <a:ext uri="{FF2B5EF4-FFF2-40B4-BE49-F238E27FC236}">
                <a16:creationId xmlns:a16="http://schemas.microsoft.com/office/drawing/2014/main" id="{02696BAB-CA90-AE8A-EDA8-A7AFA5726012}"/>
              </a:ext>
            </a:extLst>
          </p:cNvPr>
          <p:cNvPicPr>
            <a:picLocks noChangeAspect="1"/>
          </p:cNvPicPr>
          <p:nvPr/>
        </p:nvPicPr>
        <p:blipFill>
          <a:blip r:embed="rId3"/>
          <a:stretch>
            <a:fillRect/>
          </a:stretch>
        </p:blipFill>
        <p:spPr>
          <a:xfrm>
            <a:off x="5084760" y="965410"/>
            <a:ext cx="5781817" cy="1409701"/>
          </a:xfrm>
          <a:prstGeom prst="rect">
            <a:avLst/>
          </a:prstGeom>
        </p:spPr>
      </p:pic>
      <p:pic>
        <p:nvPicPr>
          <p:cNvPr id="12" name="图片 11">
            <a:extLst>
              <a:ext uri="{FF2B5EF4-FFF2-40B4-BE49-F238E27FC236}">
                <a16:creationId xmlns:a16="http://schemas.microsoft.com/office/drawing/2014/main" id="{D8E027D7-2EC3-3951-CD13-ED1AD1FFBE1C}"/>
              </a:ext>
            </a:extLst>
          </p:cNvPr>
          <p:cNvPicPr>
            <a:picLocks noChangeAspect="1"/>
          </p:cNvPicPr>
          <p:nvPr/>
        </p:nvPicPr>
        <p:blipFill>
          <a:blip r:embed="rId4"/>
          <a:stretch>
            <a:fillRect/>
          </a:stretch>
        </p:blipFill>
        <p:spPr>
          <a:xfrm>
            <a:off x="3894065" y="3053192"/>
            <a:ext cx="5781817" cy="3804808"/>
          </a:xfrm>
          <a:prstGeom prst="rect">
            <a:avLst/>
          </a:prstGeom>
        </p:spPr>
      </p:pic>
      <p:sp>
        <p:nvSpPr>
          <p:cNvPr id="13" name="文本框 12">
            <a:extLst>
              <a:ext uri="{FF2B5EF4-FFF2-40B4-BE49-F238E27FC236}">
                <a16:creationId xmlns:a16="http://schemas.microsoft.com/office/drawing/2014/main" id="{3DB6D27F-F97A-ABED-284E-C1930337673B}"/>
              </a:ext>
            </a:extLst>
          </p:cNvPr>
          <p:cNvSpPr txBox="1"/>
          <p:nvPr/>
        </p:nvSpPr>
        <p:spPr>
          <a:xfrm>
            <a:off x="255938" y="1289953"/>
            <a:ext cx="4701826" cy="523220"/>
          </a:xfrm>
          <a:prstGeom prst="rect">
            <a:avLst/>
          </a:prstGeom>
          <a:noFill/>
        </p:spPr>
        <p:txBody>
          <a:bodyPr wrap="square">
            <a:spAutoFit/>
          </a:bodyPr>
          <a:lstStyle/>
          <a:p>
            <a:r>
              <a:rPr lang="en-US" altLang="zh-CN" sz="2800" dirty="0">
                <a:latin typeface="Calibri" panose="020F0502020204030204" pitchFamily="34" charset="0"/>
                <a:cs typeface="Calibri" panose="020F0502020204030204" pitchFamily="34" charset="0"/>
              </a:rPr>
              <a:t>Without intra-operator overlap</a:t>
            </a:r>
          </a:p>
        </p:txBody>
      </p:sp>
      <p:sp>
        <p:nvSpPr>
          <p:cNvPr id="14" name="文本框 13">
            <a:extLst>
              <a:ext uri="{FF2B5EF4-FFF2-40B4-BE49-F238E27FC236}">
                <a16:creationId xmlns:a16="http://schemas.microsoft.com/office/drawing/2014/main" id="{592CB6B3-41CC-9D1F-F268-607EA82F2CA6}"/>
              </a:ext>
            </a:extLst>
          </p:cNvPr>
          <p:cNvSpPr txBox="1"/>
          <p:nvPr/>
        </p:nvSpPr>
        <p:spPr>
          <a:xfrm>
            <a:off x="255938" y="3333491"/>
            <a:ext cx="4321070" cy="523220"/>
          </a:xfrm>
          <a:prstGeom prst="rect">
            <a:avLst/>
          </a:prstGeom>
          <a:noFill/>
        </p:spPr>
        <p:txBody>
          <a:bodyPr wrap="square">
            <a:spAutoFit/>
          </a:bodyPr>
          <a:lstStyle/>
          <a:p>
            <a:r>
              <a:rPr lang="en-US" altLang="zh-CN" sz="2800" dirty="0">
                <a:latin typeface="Calibri" panose="020F0502020204030204" pitchFamily="34" charset="0"/>
                <a:cs typeface="Calibri" panose="020F0502020204030204" pitchFamily="34" charset="0"/>
              </a:rPr>
              <a:t>With intra-operator overlap</a:t>
            </a:r>
          </a:p>
        </p:txBody>
      </p:sp>
      <p:pic>
        <p:nvPicPr>
          <p:cNvPr id="4" name="图片 3">
            <a:extLst>
              <a:ext uri="{FF2B5EF4-FFF2-40B4-BE49-F238E27FC236}">
                <a16:creationId xmlns:a16="http://schemas.microsoft.com/office/drawing/2014/main" id="{98E1199F-381E-EC31-BAB5-299DEDAC86E0}"/>
              </a:ext>
            </a:extLst>
          </p:cNvPr>
          <p:cNvPicPr>
            <a:picLocks noChangeAspect="1"/>
          </p:cNvPicPr>
          <p:nvPr/>
        </p:nvPicPr>
        <p:blipFill>
          <a:blip r:embed="rId5"/>
          <a:stretch>
            <a:fillRect/>
          </a:stretch>
        </p:blipFill>
        <p:spPr>
          <a:xfrm>
            <a:off x="9433687" y="331968"/>
            <a:ext cx="2743200" cy="387856"/>
          </a:xfrm>
          <a:prstGeom prst="rect">
            <a:avLst/>
          </a:prstGeom>
        </p:spPr>
      </p:pic>
      <p:pic>
        <p:nvPicPr>
          <p:cNvPr id="6" name="图片 5">
            <a:extLst>
              <a:ext uri="{FF2B5EF4-FFF2-40B4-BE49-F238E27FC236}">
                <a16:creationId xmlns:a16="http://schemas.microsoft.com/office/drawing/2014/main" id="{FBC9EB9E-55A7-67AF-88CC-AF6CEF310D0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927450" y="335419"/>
            <a:ext cx="1366300" cy="384405"/>
          </a:xfrm>
          <a:prstGeom prst="rect">
            <a:avLst/>
          </a:prstGeom>
        </p:spPr>
      </p:pic>
    </p:spTree>
    <p:extLst>
      <p:ext uri="{BB962C8B-B14F-4D97-AF65-F5344CB8AC3E}">
        <p14:creationId xmlns:p14="http://schemas.microsoft.com/office/powerpoint/2010/main" val="4038440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blinds(horizontal)">
                                      <p:cBhvr>
                                        <p:cTn id="1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8AE82-AAE2-95A4-E3D3-3D9B1273E99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C415A8D-5A32-7799-931E-9B9063B24B2B}"/>
              </a:ext>
            </a:extLst>
          </p:cNvPr>
          <p:cNvSpPr>
            <a:spLocks noGrp="1"/>
          </p:cNvSpPr>
          <p:nvPr>
            <p:ph type="ctrTitle"/>
          </p:nvPr>
        </p:nvSpPr>
        <p:spPr>
          <a:xfrm>
            <a:off x="149629" y="182880"/>
            <a:ext cx="11006051" cy="650972"/>
          </a:xfrm>
        </p:spPr>
        <p:txBody>
          <a:bodyPr>
            <a:noAutofit/>
          </a:bodyPr>
          <a:lstStyle/>
          <a:p>
            <a:pPr algn="l">
              <a:lnSpc>
                <a:spcPct val="130000"/>
              </a:lnSpc>
            </a:pPr>
            <a:r>
              <a:rPr lang="en-US" altLang="zh-CN" sz="3600" b="1" dirty="0">
                <a:latin typeface="Calibri" panose="020F0502020204030204" pitchFamily="34" charset="0"/>
                <a:ea typeface="SimHei" charset="-122"/>
                <a:cs typeface="Calibri" panose="020F0502020204030204" pitchFamily="34" charset="0"/>
              </a:rPr>
              <a:t>Our solution: </a:t>
            </a:r>
            <a:r>
              <a:rPr lang="en-US" altLang="zh-CN" sz="3600" b="1" dirty="0" err="1">
                <a:latin typeface="Calibri" panose="020F0502020204030204" pitchFamily="34" charset="0"/>
                <a:ea typeface="SimHei" charset="-122"/>
                <a:cs typeface="Calibri" panose="020F0502020204030204" pitchFamily="34" charset="0"/>
              </a:rPr>
              <a:t>MegaScale-MoE</a:t>
            </a:r>
            <a:endParaRPr lang="en" altLang="zh-CN" sz="3600" b="1" dirty="0">
              <a:latin typeface="Calibri" panose="020F0502020204030204" pitchFamily="34" charset="0"/>
              <a:ea typeface="SimHei" charset="-122"/>
              <a:cs typeface="Calibri" panose="020F0502020204030204" pitchFamily="34" charset="0"/>
            </a:endParaRPr>
          </a:p>
        </p:txBody>
      </p:sp>
      <p:sp>
        <p:nvSpPr>
          <p:cNvPr id="7" name="灯片编号占位符 6">
            <a:extLst>
              <a:ext uri="{FF2B5EF4-FFF2-40B4-BE49-F238E27FC236}">
                <a16:creationId xmlns:a16="http://schemas.microsoft.com/office/drawing/2014/main" id="{53B25735-C25B-1E89-12B6-81A1A9403935}"/>
              </a:ext>
            </a:extLst>
          </p:cNvPr>
          <p:cNvSpPr>
            <a:spLocks noGrp="1"/>
          </p:cNvSpPr>
          <p:nvPr>
            <p:ph type="sldNum" sz="quarter" idx="12"/>
          </p:nvPr>
        </p:nvSpPr>
        <p:spPr/>
        <p:txBody>
          <a:bodyPr/>
          <a:lstStyle/>
          <a:p>
            <a:fld id="{24910F54-69FC-A944-93E9-EFB57972FC5C}" type="slidenum">
              <a:rPr kumimoji="1" lang="zh-CN" altLang="en-US" smtClean="0"/>
              <a:t>15</a:t>
            </a:fld>
            <a:endParaRPr kumimoji="1" lang="zh-CN" altLang="en-US" dirty="0"/>
          </a:p>
        </p:txBody>
      </p:sp>
      <p:sp>
        <p:nvSpPr>
          <p:cNvPr id="5" name="文本框 4">
            <a:extLst>
              <a:ext uri="{FF2B5EF4-FFF2-40B4-BE49-F238E27FC236}">
                <a16:creationId xmlns:a16="http://schemas.microsoft.com/office/drawing/2014/main" id="{03014CC1-2B17-3CA8-A8CD-39A949AEE69C}"/>
              </a:ext>
            </a:extLst>
          </p:cNvPr>
          <p:cNvSpPr txBox="1"/>
          <p:nvPr/>
        </p:nvSpPr>
        <p:spPr>
          <a:xfrm>
            <a:off x="255937" y="1289953"/>
            <a:ext cx="11680125" cy="4278094"/>
          </a:xfrm>
          <a:prstGeom prst="rect">
            <a:avLst/>
          </a:prstGeom>
          <a:noFill/>
        </p:spPr>
        <p:txBody>
          <a:bodyPr wrap="square">
            <a:spAutoFit/>
          </a:bodyPr>
          <a:lstStyle/>
          <a:p>
            <a:pPr marL="457200" indent="-457200">
              <a:buFont typeface="Arial" panose="020B0604020202020204" pitchFamily="34" charset="0"/>
              <a:buChar char="•"/>
            </a:pPr>
            <a:r>
              <a:rPr lang="en-US" altLang="zh-CN" sz="3200" b="1" dirty="0">
                <a:latin typeface="Calibri" panose="020F0502020204030204" pitchFamily="34" charset="0"/>
                <a:cs typeface="Calibri" panose="020F0502020204030204" pitchFamily="34" charset="0"/>
              </a:rPr>
              <a:t>Communication-efficient parallelism </a:t>
            </a:r>
          </a:p>
          <a:p>
            <a:pPr marL="914400" lvl="1" indent="-457200">
              <a:buFont typeface="Arial" panose="020B0604020202020204" pitchFamily="34" charset="0"/>
              <a:buChar char="•"/>
            </a:pPr>
            <a:r>
              <a:rPr lang="en-US" altLang="zh-CN" sz="2800" b="1" dirty="0">
                <a:latin typeface="Calibri" panose="020F0502020204030204" pitchFamily="34" charset="0"/>
                <a:cs typeface="Calibri" panose="020F0502020204030204" pitchFamily="34" charset="0"/>
              </a:rPr>
              <a:t>Reduce</a:t>
            </a:r>
            <a:r>
              <a:rPr lang="en-US" altLang="zh-CN" sz="2800" dirty="0">
                <a:latin typeface="Calibri" panose="020F0502020204030204" pitchFamily="34" charset="0"/>
                <a:cs typeface="Calibri" panose="020F0502020204030204" pitchFamily="34" charset="0"/>
              </a:rPr>
              <a:t> communication volume by choosing better parallelism strategies</a:t>
            </a:r>
          </a:p>
          <a:p>
            <a:pPr marL="914400" lvl="1" indent="-457200">
              <a:buFont typeface="Arial" panose="020B0604020202020204" pitchFamily="34" charset="0"/>
              <a:buChar char="•"/>
            </a:pPr>
            <a:endParaRPr lang="en-US" altLang="zh-CN" sz="3200" dirty="0">
              <a:latin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en-US" altLang="zh-CN" sz="3200" b="1" dirty="0">
                <a:latin typeface="Calibri" panose="020F0502020204030204" pitchFamily="34" charset="0"/>
                <a:cs typeface="Calibri" panose="020F0502020204030204" pitchFamily="34" charset="0"/>
              </a:rPr>
              <a:t>Communication-computation overlap</a:t>
            </a:r>
          </a:p>
          <a:p>
            <a:pPr marL="914400" lvl="1" indent="-457200">
              <a:buFont typeface="Arial" panose="020B0604020202020204" pitchFamily="34" charset="0"/>
              <a:buChar char="•"/>
            </a:pPr>
            <a:r>
              <a:rPr lang="en-US" altLang="zh-CN" sz="2800" b="1" dirty="0">
                <a:latin typeface="Calibri" panose="020F0502020204030204" pitchFamily="34" charset="0"/>
                <a:cs typeface="Calibri" panose="020F0502020204030204" pitchFamily="34" charset="0"/>
              </a:rPr>
              <a:t>Hide</a:t>
            </a:r>
            <a:r>
              <a:rPr lang="en-US" altLang="zh-CN" sz="2800" dirty="0">
                <a:latin typeface="Calibri" panose="020F0502020204030204" pitchFamily="34" charset="0"/>
                <a:cs typeface="Calibri" panose="020F0502020204030204" pitchFamily="34" charset="0"/>
              </a:rPr>
              <a:t> the communication latency through operator scheduling and fusion</a:t>
            </a:r>
          </a:p>
          <a:p>
            <a:pPr marL="914400" lvl="1" indent="-457200">
              <a:buFont typeface="Arial" panose="020B0604020202020204" pitchFamily="34" charset="0"/>
              <a:buChar char="•"/>
            </a:pPr>
            <a:endParaRPr lang="en-US" altLang="zh-CN" sz="3200" dirty="0">
              <a:latin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en-US" altLang="zh-CN" sz="3200" b="1" dirty="0">
                <a:latin typeface="Calibri" panose="020F0502020204030204" pitchFamily="34" charset="0"/>
                <a:cs typeface="Calibri" panose="020F0502020204030204" pitchFamily="34" charset="0"/>
              </a:rPr>
              <a:t>Communication compression</a:t>
            </a:r>
          </a:p>
          <a:p>
            <a:pPr marL="914400" lvl="1" indent="-457200">
              <a:buFont typeface="Arial" panose="020B0604020202020204" pitchFamily="34" charset="0"/>
              <a:buChar char="•"/>
            </a:pPr>
            <a:r>
              <a:rPr lang="en-US" altLang="zh-CN" sz="2800" b="1" dirty="0">
                <a:latin typeface="Calibri" panose="020F0502020204030204" pitchFamily="34" charset="0"/>
                <a:cs typeface="Calibri" panose="020F0502020204030204" pitchFamily="34" charset="0"/>
              </a:rPr>
              <a:t>Compress</a:t>
            </a:r>
            <a:r>
              <a:rPr lang="en-US" altLang="zh-CN" sz="2800" dirty="0">
                <a:latin typeface="Calibri" panose="020F0502020204030204" pitchFamily="34" charset="0"/>
                <a:cs typeface="Calibri" panose="020F0502020204030204" pitchFamily="34" charset="0"/>
              </a:rPr>
              <a:t> bandwidth cost by lowering communication precision while preserving convergence</a:t>
            </a:r>
          </a:p>
        </p:txBody>
      </p:sp>
      <p:sp>
        <p:nvSpPr>
          <p:cNvPr id="8" name="右箭头 7">
            <a:extLst>
              <a:ext uri="{FF2B5EF4-FFF2-40B4-BE49-F238E27FC236}">
                <a16:creationId xmlns:a16="http://schemas.microsoft.com/office/drawing/2014/main" id="{37EE20BF-2058-86BA-0000-EE695666392D}"/>
              </a:ext>
            </a:extLst>
          </p:cNvPr>
          <p:cNvSpPr/>
          <p:nvPr/>
        </p:nvSpPr>
        <p:spPr>
          <a:xfrm rot="10800000">
            <a:off x="5932389" y="4226893"/>
            <a:ext cx="921855" cy="375557"/>
          </a:xfrm>
          <a:prstGeom prst="rightArrow">
            <a:avLst/>
          </a:prstGeom>
          <a:solidFill>
            <a:schemeClr val="accent2">
              <a:lumMod val="60000"/>
              <a:lumOff val="4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3" name="图片 2">
            <a:extLst>
              <a:ext uri="{FF2B5EF4-FFF2-40B4-BE49-F238E27FC236}">
                <a16:creationId xmlns:a16="http://schemas.microsoft.com/office/drawing/2014/main" id="{F721580D-2707-2EC9-77FD-68DFD5445614}"/>
              </a:ext>
            </a:extLst>
          </p:cNvPr>
          <p:cNvPicPr>
            <a:picLocks noChangeAspect="1"/>
          </p:cNvPicPr>
          <p:nvPr/>
        </p:nvPicPr>
        <p:blipFill>
          <a:blip r:embed="rId3"/>
          <a:stretch>
            <a:fillRect/>
          </a:stretch>
        </p:blipFill>
        <p:spPr>
          <a:xfrm>
            <a:off x="9433687" y="331968"/>
            <a:ext cx="2743200" cy="387856"/>
          </a:xfrm>
          <a:prstGeom prst="rect">
            <a:avLst/>
          </a:prstGeom>
        </p:spPr>
      </p:pic>
      <p:pic>
        <p:nvPicPr>
          <p:cNvPr id="4" name="图片 3">
            <a:extLst>
              <a:ext uri="{FF2B5EF4-FFF2-40B4-BE49-F238E27FC236}">
                <a16:creationId xmlns:a16="http://schemas.microsoft.com/office/drawing/2014/main" id="{B91CEFA0-8AB5-F6E3-FB4D-5523AA3CB28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927450" y="335419"/>
            <a:ext cx="1366300" cy="384405"/>
          </a:xfrm>
          <a:prstGeom prst="rect">
            <a:avLst/>
          </a:prstGeom>
        </p:spPr>
      </p:pic>
    </p:spTree>
    <p:extLst>
      <p:ext uri="{BB962C8B-B14F-4D97-AF65-F5344CB8AC3E}">
        <p14:creationId xmlns:p14="http://schemas.microsoft.com/office/powerpoint/2010/main" val="101708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5543E-6E89-EF88-8093-CDB12DC3120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C6A6A4C-DF9A-2C94-98EB-D5EBAD180427}"/>
              </a:ext>
            </a:extLst>
          </p:cNvPr>
          <p:cNvSpPr>
            <a:spLocks noGrp="1"/>
          </p:cNvSpPr>
          <p:nvPr>
            <p:ph type="ctrTitle"/>
          </p:nvPr>
        </p:nvSpPr>
        <p:spPr>
          <a:xfrm>
            <a:off x="149629" y="182880"/>
            <a:ext cx="11006051" cy="650972"/>
          </a:xfrm>
        </p:spPr>
        <p:txBody>
          <a:bodyPr>
            <a:noAutofit/>
          </a:bodyPr>
          <a:lstStyle/>
          <a:p>
            <a:pPr algn="l">
              <a:lnSpc>
                <a:spcPct val="130000"/>
              </a:lnSpc>
            </a:pPr>
            <a:r>
              <a:rPr lang="en-US" altLang="zh-CN" sz="3600" b="1" dirty="0">
                <a:latin typeface="Calibri" panose="020F0502020204030204" pitchFamily="34" charset="0"/>
                <a:ea typeface="SimHei" charset="-122"/>
                <a:cs typeface="Calibri" panose="020F0502020204030204" pitchFamily="34" charset="0"/>
              </a:rPr>
              <a:t>Evaluation</a:t>
            </a:r>
            <a:endParaRPr lang="en" altLang="zh-CN" sz="3600" b="1" dirty="0">
              <a:latin typeface="Calibri" panose="020F0502020204030204" pitchFamily="34" charset="0"/>
              <a:ea typeface="SimHei" charset="-122"/>
              <a:cs typeface="Calibri" panose="020F0502020204030204" pitchFamily="34" charset="0"/>
            </a:endParaRPr>
          </a:p>
        </p:txBody>
      </p:sp>
      <p:sp>
        <p:nvSpPr>
          <p:cNvPr id="7" name="灯片编号占位符 6">
            <a:extLst>
              <a:ext uri="{FF2B5EF4-FFF2-40B4-BE49-F238E27FC236}">
                <a16:creationId xmlns:a16="http://schemas.microsoft.com/office/drawing/2014/main" id="{9DA2DC34-2B4B-9D1F-2133-9FC6D8378638}"/>
              </a:ext>
            </a:extLst>
          </p:cNvPr>
          <p:cNvSpPr>
            <a:spLocks noGrp="1"/>
          </p:cNvSpPr>
          <p:nvPr>
            <p:ph type="sldNum" sz="quarter" idx="12"/>
          </p:nvPr>
        </p:nvSpPr>
        <p:spPr/>
        <p:txBody>
          <a:bodyPr/>
          <a:lstStyle/>
          <a:p>
            <a:fld id="{24910F54-69FC-A944-93E9-EFB57972FC5C}" type="slidenum">
              <a:rPr kumimoji="1" lang="zh-CN" altLang="en-US" smtClean="0"/>
              <a:t>16</a:t>
            </a:fld>
            <a:endParaRPr kumimoji="1" lang="zh-CN" altLang="en-US" dirty="0"/>
          </a:p>
        </p:txBody>
      </p:sp>
      <p:sp>
        <p:nvSpPr>
          <p:cNvPr id="9" name="文本框 8">
            <a:extLst>
              <a:ext uri="{FF2B5EF4-FFF2-40B4-BE49-F238E27FC236}">
                <a16:creationId xmlns:a16="http://schemas.microsoft.com/office/drawing/2014/main" id="{C0CBD557-D311-0A2B-3CD1-DF7F9088ABED}"/>
              </a:ext>
            </a:extLst>
          </p:cNvPr>
          <p:cNvSpPr txBox="1"/>
          <p:nvPr/>
        </p:nvSpPr>
        <p:spPr>
          <a:xfrm>
            <a:off x="1114926" y="1579164"/>
            <a:ext cx="9962147" cy="4031873"/>
          </a:xfrm>
          <a:prstGeom prst="rect">
            <a:avLst/>
          </a:prstGeom>
          <a:noFill/>
        </p:spPr>
        <p:txBody>
          <a:bodyPr wrap="square" rtlCol="0">
            <a:spAutoFit/>
          </a:bodyPr>
          <a:lstStyle/>
          <a:p>
            <a:pPr marL="457200" indent="-457200">
              <a:buFont typeface="Arial" panose="020B0604020202020204" pitchFamily="34" charset="0"/>
              <a:buChar char="•"/>
            </a:pPr>
            <a:r>
              <a:rPr kumimoji="1" lang="en-US" altLang="zh-CN" sz="3200" dirty="0">
                <a:latin typeface="Calibri" panose="020F0502020204030204" pitchFamily="34" charset="0"/>
                <a:cs typeface="Calibri" panose="020F0502020204030204" pitchFamily="34" charset="0"/>
              </a:rPr>
              <a:t>Training Performance</a:t>
            </a:r>
          </a:p>
          <a:p>
            <a:pPr marL="457200" indent="-457200">
              <a:buFont typeface="Arial" panose="020B0604020202020204" pitchFamily="34" charset="0"/>
              <a:buChar char="•"/>
            </a:pPr>
            <a:r>
              <a:rPr kumimoji="1" lang="en-US" altLang="zh-CN" sz="3200" dirty="0">
                <a:latin typeface="Calibri" panose="020F0502020204030204" pitchFamily="34" charset="0"/>
                <a:cs typeface="Calibri" panose="020F0502020204030204" pitchFamily="34" charset="0"/>
              </a:rPr>
              <a:t>Performance Breakdown</a:t>
            </a:r>
          </a:p>
          <a:p>
            <a:pPr marL="457200" indent="-457200">
              <a:buFont typeface="Arial" panose="020B0604020202020204" pitchFamily="34" charset="0"/>
              <a:buChar char="•"/>
            </a:pPr>
            <a:r>
              <a:rPr kumimoji="1" lang="en-US" altLang="zh-CN" sz="3200" dirty="0">
                <a:solidFill>
                  <a:schemeClr val="bg1">
                    <a:lumMod val="75000"/>
                  </a:schemeClr>
                </a:solidFill>
                <a:latin typeface="Calibri" panose="020F0502020204030204" pitchFamily="34" charset="0"/>
                <a:cs typeface="Calibri" panose="020F0502020204030204" pitchFamily="34" charset="0"/>
              </a:rPr>
              <a:t>Effectiveness &amp; Additional Overhead of Communication-Efficient Parallelism</a:t>
            </a:r>
          </a:p>
          <a:p>
            <a:pPr marL="457200" indent="-457200">
              <a:buFont typeface="Arial" panose="020B0604020202020204" pitchFamily="34" charset="0"/>
              <a:buChar char="•"/>
            </a:pPr>
            <a:r>
              <a:rPr kumimoji="1" lang="en-US" altLang="zh-CN" sz="3200" dirty="0">
                <a:solidFill>
                  <a:schemeClr val="bg1">
                    <a:lumMod val="75000"/>
                  </a:schemeClr>
                </a:solidFill>
                <a:latin typeface="Calibri" panose="020F0502020204030204" pitchFamily="34" charset="0"/>
                <a:cs typeface="Calibri" panose="020F0502020204030204" pitchFamily="34" charset="0"/>
              </a:rPr>
              <a:t>Effectiveness of Inter-Operator Overlap </a:t>
            </a:r>
          </a:p>
          <a:p>
            <a:pPr marL="457200" indent="-457200">
              <a:buFont typeface="Arial" panose="020B0604020202020204" pitchFamily="34" charset="0"/>
              <a:buChar char="•"/>
            </a:pPr>
            <a:r>
              <a:rPr kumimoji="1" lang="en-US" altLang="zh-CN" sz="3200" dirty="0">
                <a:solidFill>
                  <a:schemeClr val="bg1">
                    <a:lumMod val="75000"/>
                  </a:schemeClr>
                </a:solidFill>
                <a:latin typeface="Calibri" panose="020F0502020204030204" pitchFamily="34" charset="0"/>
                <a:cs typeface="Calibri" panose="020F0502020204030204" pitchFamily="34" charset="0"/>
              </a:rPr>
              <a:t>Effectiveness of Intra-Operator Overlap</a:t>
            </a:r>
          </a:p>
          <a:p>
            <a:pPr marL="457200" indent="-457200">
              <a:buFont typeface="Arial" panose="020B0604020202020204" pitchFamily="34" charset="0"/>
              <a:buChar char="•"/>
            </a:pPr>
            <a:r>
              <a:rPr kumimoji="1" lang="en-US" altLang="zh-CN" sz="3200" dirty="0">
                <a:solidFill>
                  <a:schemeClr val="bg1">
                    <a:lumMod val="75000"/>
                  </a:schemeClr>
                </a:solidFill>
                <a:latin typeface="Calibri" panose="020F0502020204030204" pitchFamily="34" charset="0"/>
                <a:cs typeface="Calibri" panose="020F0502020204030204" pitchFamily="34" charset="0"/>
              </a:rPr>
              <a:t>Effectiveness of Data Parallelism Communication Compression</a:t>
            </a:r>
          </a:p>
        </p:txBody>
      </p:sp>
      <p:pic>
        <p:nvPicPr>
          <p:cNvPr id="3" name="图片 2">
            <a:extLst>
              <a:ext uri="{FF2B5EF4-FFF2-40B4-BE49-F238E27FC236}">
                <a16:creationId xmlns:a16="http://schemas.microsoft.com/office/drawing/2014/main" id="{2A90BFB4-2387-893C-F75B-715A0113E09C}"/>
              </a:ext>
            </a:extLst>
          </p:cNvPr>
          <p:cNvPicPr>
            <a:picLocks noChangeAspect="1"/>
          </p:cNvPicPr>
          <p:nvPr/>
        </p:nvPicPr>
        <p:blipFill>
          <a:blip r:embed="rId3"/>
          <a:stretch>
            <a:fillRect/>
          </a:stretch>
        </p:blipFill>
        <p:spPr>
          <a:xfrm>
            <a:off x="9433687" y="331968"/>
            <a:ext cx="2743200" cy="387856"/>
          </a:xfrm>
          <a:prstGeom prst="rect">
            <a:avLst/>
          </a:prstGeom>
        </p:spPr>
      </p:pic>
      <p:pic>
        <p:nvPicPr>
          <p:cNvPr id="4" name="图片 3">
            <a:extLst>
              <a:ext uri="{FF2B5EF4-FFF2-40B4-BE49-F238E27FC236}">
                <a16:creationId xmlns:a16="http://schemas.microsoft.com/office/drawing/2014/main" id="{6EA704F4-8430-EA26-DD76-7DF0FADE0CE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927450" y="335419"/>
            <a:ext cx="1366300" cy="384405"/>
          </a:xfrm>
          <a:prstGeom prst="rect">
            <a:avLst/>
          </a:prstGeom>
        </p:spPr>
      </p:pic>
    </p:spTree>
    <p:extLst>
      <p:ext uri="{BB962C8B-B14F-4D97-AF65-F5344CB8AC3E}">
        <p14:creationId xmlns:p14="http://schemas.microsoft.com/office/powerpoint/2010/main" val="27294507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9D2F2-82AA-AACA-2BF8-A3834BCCC45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BD244BA-2384-5B6C-1C7B-63FA87F33E2C}"/>
              </a:ext>
            </a:extLst>
          </p:cNvPr>
          <p:cNvSpPr>
            <a:spLocks noGrp="1"/>
          </p:cNvSpPr>
          <p:nvPr>
            <p:ph type="ctrTitle"/>
          </p:nvPr>
        </p:nvSpPr>
        <p:spPr>
          <a:xfrm>
            <a:off x="149629" y="182880"/>
            <a:ext cx="11006051" cy="650972"/>
          </a:xfrm>
        </p:spPr>
        <p:txBody>
          <a:bodyPr>
            <a:noAutofit/>
          </a:bodyPr>
          <a:lstStyle/>
          <a:p>
            <a:pPr algn="l">
              <a:lnSpc>
                <a:spcPct val="130000"/>
              </a:lnSpc>
            </a:pPr>
            <a:r>
              <a:rPr lang="en-US" altLang="zh-CN" sz="3600" b="1" dirty="0">
                <a:latin typeface="Calibri" panose="020F0502020204030204" pitchFamily="34" charset="0"/>
                <a:ea typeface="SimHei" charset="-122"/>
                <a:cs typeface="Calibri" panose="020F0502020204030204" pitchFamily="34" charset="0"/>
              </a:rPr>
              <a:t>Training performance</a:t>
            </a:r>
            <a:endParaRPr lang="en" altLang="zh-CN" sz="3600" b="1" dirty="0">
              <a:latin typeface="Calibri" panose="020F0502020204030204" pitchFamily="34" charset="0"/>
              <a:ea typeface="SimHei" charset="-122"/>
              <a:cs typeface="Calibri" panose="020F0502020204030204" pitchFamily="34" charset="0"/>
            </a:endParaRPr>
          </a:p>
        </p:txBody>
      </p:sp>
      <p:sp>
        <p:nvSpPr>
          <p:cNvPr id="7" name="灯片编号占位符 6">
            <a:extLst>
              <a:ext uri="{FF2B5EF4-FFF2-40B4-BE49-F238E27FC236}">
                <a16:creationId xmlns:a16="http://schemas.microsoft.com/office/drawing/2014/main" id="{D6BAC64F-8475-0B8F-AA63-B37B3A63DA77}"/>
              </a:ext>
            </a:extLst>
          </p:cNvPr>
          <p:cNvSpPr>
            <a:spLocks noGrp="1"/>
          </p:cNvSpPr>
          <p:nvPr>
            <p:ph type="sldNum" sz="quarter" idx="12"/>
          </p:nvPr>
        </p:nvSpPr>
        <p:spPr/>
        <p:txBody>
          <a:bodyPr/>
          <a:lstStyle/>
          <a:p>
            <a:fld id="{24910F54-69FC-A944-93E9-EFB57972FC5C}" type="slidenum">
              <a:rPr kumimoji="1" lang="zh-CN" altLang="en-US" smtClean="0"/>
              <a:t>17</a:t>
            </a:fld>
            <a:endParaRPr kumimoji="1" lang="zh-CN" altLang="en-US" dirty="0"/>
          </a:p>
        </p:txBody>
      </p:sp>
      <p:pic>
        <p:nvPicPr>
          <p:cNvPr id="4" name="图片 3">
            <a:extLst>
              <a:ext uri="{FF2B5EF4-FFF2-40B4-BE49-F238E27FC236}">
                <a16:creationId xmlns:a16="http://schemas.microsoft.com/office/drawing/2014/main" id="{BA386B12-88B7-BEDA-1AE4-4826CC20AF13}"/>
              </a:ext>
            </a:extLst>
          </p:cNvPr>
          <p:cNvPicPr>
            <a:picLocks noChangeAspect="1"/>
          </p:cNvPicPr>
          <p:nvPr/>
        </p:nvPicPr>
        <p:blipFill>
          <a:blip r:embed="rId3"/>
          <a:stretch>
            <a:fillRect/>
          </a:stretch>
        </p:blipFill>
        <p:spPr>
          <a:xfrm>
            <a:off x="1560552" y="2037542"/>
            <a:ext cx="9070896" cy="4318808"/>
          </a:xfrm>
          <a:prstGeom prst="rect">
            <a:avLst/>
          </a:prstGeom>
        </p:spPr>
      </p:pic>
      <p:sp>
        <p:nvSpPr>
          <p:cNvPr id="9" name="Google Shape;90;p1">
            <a:extLst>
              <a:ext uri="{FF2B5EF4-FFF2-40B4-BE49-F238E27FC236}">
                <a16:creationId xmlns:a16="http://schemas.microsoft.com/office/drawing/2014/main" id="{F8087ED7-3417-4CF0-2CB5-443BA84BF9CC}"/>
              </a:ext>
            </a:extLst>
          </p:cNvPr>
          <p:cNvSpPr txBox="1"/>
          <p:nvPr/>
        </p:nvSpPr>
        <p:spPr>
          <a:xfrm>
            <a:off x="1346018" y="1006480"/>
            <a:ext cx="9499964" cy="899504"/>
          </a:xfrm>
          <a:prstGeom prst="rect">
            <a:avLst/>
          </a:prstGeom>
          <a:noFill/>
          <a:ln>
            <a:noFill/>
          </a:ln>
        </p:spPr>
        <p:txBody>
          <a:bodyPr spcFirstLastPara="1" wrap="square" lIns="91425" tIns="45700" rIns="91425" bIns="45700" anchor="b" anchorCtr="0">
            <a:noAutofit/>
          </a:bodyPr>
          <a:lstStyle/>
          <a:p>
            <a:pPr algn="ctr">
              <a:buClr>
                <a:schemeClr val="dk1"/>
              </a:buClr>
              <a:buSzPts val="2200"/>
            </a:pPr>
            <a:r>
              <a:rPr lang="en-US" altLang="zh-CN" sz="2800" b="1" dirty="0">
                <a:solidFill>
                  <a:schemeClr val="tx2">
                    <a:lumMod val="75000"/>
                    <a:lumOff val="25000"/>
                  </a:schemeClr>
                </a:solidFill>
                <a:latin typeface="Calibri" panose="020F0502020204030204" pitchFamily="34" charset="0"/>
                <a:cs typeface="Calibri" panose="020F0502020204030204" pitchFamily="34" charset="0"/>
                <a:sym typeface="Microsoft YaHei"/>
              </a:rPr>
              <a:t>1.65-1.88x</a:t>
            </a:r>
            <a:r>
              <a:rPr lang="en-US" altLang="zh-CN" sz="2800" dirty="0">
                <a:latin typeface="Calibri" panose="020F0502020204030204" pitchFamily="34" charset="0"/>
                <a:cs typeface="Calibri" panose="020F0502020204030204" pitchFamily="34" charset="0"/>
                <a:sym typeface="Microsoft YaHei"/>
              </a:rPr>
              <a:t> higher training throughput </a:t>
            </a:r>
            <a:r>
              <a:rPr lang="en-US" altLang="zh-CN" sz="2800" b="0" i="0" u="none" strike="noStrike" cap="none" dirty="0">
                <a:solidFill>
                  <a:schemeClr val="tx1"/>
                </a:solidFill>
                <a:latin typeface="Calibri" panose="020F0502020204030204" pitchFamily="34" charset="0"/>
                <a:cs typeface="Calibri" panose="020F0502020204030204" pitchFamily="34" charset="0"/>
                <a:sym typeface="Microsoft YaHei"/>
              </a:rPr>
              <a:t>for th</a:t>
            </a:r>
            <a:r>
              <a:rPr lang="en-US" altLang="zh-CN" sz="2800" dirty="0">
                <a:latin typeface="Calibri" panose="020F0502020204030204" pitchFamily="34" charset="0"/>
                <a:cs typeface="Calibri" panose="020F0502020204030204" pitchFamily="34" charset="0"/>
                <a:sym typeface="Microsoft YaHei"/>
              </a:rPr>
              <a:t>e 352B </a:t>
            </a:r>
            <a:r>
              <a:rPr lang="en-US" altLang="zh-CN" sz="2800" dirty="0" err="1">
                <a:latin typeface="Calibri" panose="020F0502020204030204" pitchFamily="34" charset="0"/>
                <a:cs typeface="Calibri" panose="020F0502020204030204" pitchFamily="34" charset="0"/>
                <a:sym typeface="Microsoft YaHei"/>
              </a:rPr>
              <a:t>MoE</a:t>
            </a:r>
            <a:r>
              <a:rPr lang="en-US" altLang="zh-CN" sz="2800" dirty="0">
                <a:latin typeface="Calibri" panose="020F0502020204030204" pitchFamily="34" charset="0"/>
                <a:cs typeface="Calibri" panose="020F0502020204030204" pitchFamily="34" charset="0"/>
                <a:sym typeface="Microsoft YaHei"/>
              </a:rPr>
              <a:t> model</a:t>
            </a:r>
            <a:r>
              <a:rPr lang="zh-CN" altLang="en-US" sz="2800" dirty="0">
                <a:latin typeface="Calibri" panose="020F0502020204030204" pitchFamily="34" charset="0"/>
                <a:cs typeface="Calibri" panose="020F0502020204030204" pitchFamily="34" charset="0"/>
                <a:sym typeface="Microsoft YaHei"/>
              </a:rPr>
              <a:t> </a:t>
            </a:r>
            <a:r>
              <a:rPr lang="en-US" altLang="zh-CN" sz="2800" dirty="0">
                <a:latin typeface="Calibri" panose="020F0502020204030204" pitchFamily="34" charset="0"/>
                <a:cs typeface="Calibri" panose="020F0502020204030204" pitchFamily="34" charset="0"/>
                <a:sym typeface="Microsoft YaHei"/>
              </a:rPr>
              <a:t>compared to Megatron-LM</a:t>
            </a:r>
            <a:endParaRPr lang="en-US" altLang="zh-CN" sz="2800" b="0" i="0" u="none" strike="noStrike" cap="none" dirty="0">
              <a:solidFill>
                <a:schemeClr val="tx1"/>
              </a:solidFill>
              <a:latin typeface="Calibri" panose="020F0502020204030204" pitchFamily="34" charset="0"/>
              <a:cs typeface="Calibri" panose="020F0502020204030204" pitchFamily="34" charset="0"/>
              <a:sym typeface="Microsoft YaHei"/>
            </a:endParaRPr>
          </a:p>
        </p:txBody>
      </p:sp>
      <p:pic>
        <p:nvPicPr>
          <p:cNvPr id="3" name="图片 2">
            <a:extLst>
              <a:ext uri="{FF2B5EF4-FFF2-40B4-BE49-F238E27FC236}">
                <a16:creationId xmlns:a16="http://schemas.microsoft.com/office/drawing/2014/main" id="{860E8925-CE35-4342-546F-F044CDD0DAF8}"/>
              </a:ext>
            </a:extLst>
          </p:cNvPr>
          <p:cNvPicPr>
            <a:picLocks noChangeAspect="1"/>
          </p:cNvPicPr>
          <p:nvPr/>
        </p:nvPicPr>
        <p:blipFill>
          <a:blip r:embed="rId4"/>
          <a:stretch>
            <a:fillRect/>
          </a:stretch>
        </p:blipFill>
        <p:spPr>
          <a:xfrm>
            <a:off x="9433687" y="331968"/>
            <a:ext cx="2743200" cy="387856"/>
          </a:xfrm>
          <a:prstGeom prst="rect">
            <a:avLst/>
          </a:prstGeom>
        </p:spPr>
      </p:pic>
      <p:pic>
        <p:nvPicPr>
          <p:cNvPr id="5" name="图片 4">
            <a:extLst>
              <a:ext uri="{FF2B5EF4-FFF2-40B4-BE49-F238E27FC236}">
                <a16:creationId xmlns:a16="http://schemas.microsoft.com/office/drawing/2014/main" id="{479CB47D-D0B2-53E9-85B7-26B59973BF4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927450" y="335419"/>
            <a:ext cx="1366300" cy="384405"/>
          </a:xfrm>
          <a:prstGeom prst="rect">
            <a:avLst/>
          </a:prstGeom>
        </p:spPr>
      </p:pic>
    </p:spTree>
    <p:extLst>
      <p:ext uri="{BB962C8B-B14F-4D97-AF65-F5344CB8AC3E}">
        <p14:creationId xmlns:p14="http://schemas.microsoft.com/office/powerpoint/2010/main" val="4060091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1C5CC-6653-FB41-EB48-13DFFC47FF0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66DAFB4-AB93-2730-C8F8-C7D5C623B005}"/>
              </a:ext>
            </a:extLst>
          </p:cNvPr>
          <p:cNvSpPr>
            <a:spLocks noGrp="1"/>
          </p:cNvSpPr>
          <p:nvPr>
            <p:ph type="ctrTitle"/>
          </p:nvPr>
        </p:nvSpPr>
        <p:spPr>
          <a:xfrm>
            <a:off x="149629" y="182880"/>
            <a:ext cx="11006051" cy="650972"/>
          </a:xfrm>
        </p:spPr>
        <p:txBody>
          <a:bodyPr>
            <a:noAutofit/>
          </a:bodyPr>
          <a:lstStyle/>
          <a:p>
            <a:pPr algn="l">
              <a:lnSpc>
                <a:spcPct val="130000"/>
              </a:lnSpc>
            </a:pPr>
            <a:r>
              <a:rPr lang="en-US" altLang="zh-CN" sz="3600" b="1" dirty="0">
                <a:latin typeface="Calibri" panose="020F0502020204030204" pitchFamily="34" charset="0"/>
                <a:ea typeface="SimHei" charset="-122"/>
                <a:cs typeface="Calibri" panose="020F0502020204030204" pitchFamily="34" charset="0"/>
              </a:rPr>
              <a:t>Performance breakdown</a:t>
            </a:r>
            <a:endParaRPr lang="en" altLang="zh-CN" sz="3600" b="1" dirty="0">
              <a:latin typeface="Calibri" panose="020F0502020204030204" pitchFamily="34" charset="0"/>
              <a:ea typeface="SimHei" charset="-122"/>
              <a:cs typeface="Calibri" panose="020F0502020204030204" pitchFamily="34" charset="0"/>
            </a:endParaRPr>
          </a:p>
        </p:txBody>
      </p:sp>
      <p:sp>
        <p:nvSpPr>
          <p:cNvPr id="7" name="灯片编号占位符 6">
            <a:extLst>
              <a:ext uri="{FF2B5EF4-FFF2-40B4-BE49-F238E27FC236}">
                <a16:creationId xmlns:a16="http://schemas.microsoft.com/office/drawing/2014/main" id="{1DB04374-9C03-7460-7B6F-B620C346453B}"/>
              </a:ext>
            </a:extLst>
          </p:cNvPr>
          <p:cNvSpPr>
            <a:spLocks noGrp="1"/>
          </p:cNvSpPr>
          <p:nvPr>
            <p:ph type="sldNum" sz="quarter" idx="12"/>
          </p:nvPr>
        </p:nvSpPr>
        <p:spPr/>
        <p:txBody>
          <a:bodyPr/>
          <a:lstStyle/>
          <a:p>
            <a:fld id="{24910F54-69FC-A944-93E9-EFB57972FC5C}" type="slidenum">
              <a:rPr kumimoji="1" lang="zh-CN" altLang="en-US" smtClean="0"/>
              <a:t>18</a:t>
            </a:fld>
            <a:endParaRPr kumimoji="1" lang="zh-CN" altLang="en-US" dirty="0"/>
          </a:p>
        </p:txBody>
      </p:sp>
      <p:pic>
        <p:nvPicPr>
          <p:cNvPr id="6" name="图片 5">
            <a:extLst>
              <a:ext uri="{FF2B5EF4-FFF2-40B4-BE49-F238E27FC236}">
                <a16:creationId xmlns:a16="http://schemas.microsoft.com/office/drawing/2014/main" id="{FFC6ADAE-224F-750D-70D5-40AE9E971635}"/>
              </a:ext>
            </a:extLst>
          </p:cNvPr>
          <p:cNvPicPr>
            <a:picLocks noChangeAspect="1"/>
          </p:cNvPicPr>
          <p:nvPr/>
        </p:nvPicPr>
        <p:blipFill>
          <a:blip r:embed="rId3"/>
          <a:stretch>
            <a:fillRect/>
          </a:stretch>
        </p:blipFill>
        <p:spPr>
          <a:xfrm>
            <a:off x="870857" y="2276048"/>
            <a:ext cx="10450286" cy="3578135"/>
          </a:xfrm>
          <a:prstGeom prst="rect">
            <a:avLst/>
          </a:prstGeom>
        </p:spPr>
      </p:pic>
      <p:sp>
        <p:nvSpPr>
          <p:cNvPr id="10" name="Google Shape;90;p1">
            <a:extLst>
              <a:ext uri="{FF2B5EF4-FFF2-40B4-BE49-F238E27FC236}">
                <a16:creationId xmlns:a16="http://schemas.microsoft.com/office/drawing/2014/main" id="{01F1B687-27CC-F523-B1DA-500CCDD7C9D4}"/>
              </a:ext>
            </a:extLst>
          </p:cNvPr>
          <p:cNvSpPr txBox="1"/>
          <p:nvPr/>
        </p:nvSpPr>
        <p:spPr>
          <a:xfrm>
            <a:off x="427511" y="1125461"/>
            <a:ext cx="10450286" cy="899504"/>
          </a:xfrm>
          <a:prstGeom prst="rect">
            <a:avLst/>
          </a:prstGeom>
          <a:noFill/>
          <a:ln>
            <a:noFill/>
          </a:ln>
        </p:spPr>
        <p:txBody>
          <a:bodyPr spcFirstLastPara="1" wrap="square" lIns="91425" tIns="45700" rIns="91425" bIns="45700" anchor="b" anchorCtr="0">
            <a:noAutofit/>
          </a:bodyPr>
          <a:lstStyle/>
          <a:p>
            <a:pPr algn="ctr">
              <a:buClr>
                <a:schemeClr val="dk1"/>
              </a:buClr>
              <a:buSzPts val="2200"/>
            </a:pPr>
            <a:r>
              <a:rPr lang="en-US" altLang="zh-CN" sz="2800" b="0" i="0" u="none" strike="noStrike" cap="none" dirty="0" err="1">
                <a:solidFill>
                  <a:schemeClr val="tx1"/>
                </a:solidFill>
                <a:latin typeface="Calibri" panose="020F0502020204030204" pitchFamily="34" charset="0"/>
                <a:cs typeface="Calibri" panose="020F0502020204030204" pitchFamily="34" charset="0"/>
                <a:sym typeface="Microsoft YaHei"/>
              </a:rPr>
              <a:t>MegaScale-MoE</a:t>
            </a:r>
            <a:r>
              <a:rPr lang="en-US" altLang="zh-CN" sz="2800" b="0" i="0" u="none" strike="noStrike" cap="none" dirty="0">
                <a:solidFill>
                  <a:schemeClr val="tx1"/>
                </a:solidFill>
                <a:latin typeface="Calibri" panose="020F0502020204030204" pitchFamily="34" charset="0"/>
                <a:cs typeface="Calibri" panose="020F0502020204030204" pitchFamily="34" charset="0"/>
                <a:sym typeface="Microsoft YaHei"/>
              </a:rPr>
              <a:t> consistently improves MFU by </a:t>
            </a:r>
            <a:r>
              <a:rPr lang="en-US" altLang="zh-CN" sz="2800" b="1" i="0" u="none" strike="noStrike" cap="none" dirty="0">
                <a:solidFill>
                  <a:schemeClr val="tx2">
                    <a:lumMod val="75000"/>
                    <a:lumOff val="25000"/>
                  </a:schemeClr>
                </a:solidFill>
                <a:latin typeface="Calibri" panose="020F0502020204030204" pitchFamily="34" charset="0"/>
                <a:cs typeface="Calibri" panose="020F0502020204030204" pitchFamily="34" charset="0"/>
                <a:sym typeface="Microsoft YaHei"/>
              </a:rPr>
              <a:t>nearly eliminating exposed communication</a:t>
            </a:r>
            <a:r>
              <a:rPr lang="en-US" altLang="zh-CN" sz="2800" b="0" i="0" u="none" strike="noStrike" cap="none" dirty="0">
                <a:solidFill>
                  <a:schemeClr val="tx1"/>
                </a:solidFill>
                <a:latin typeface="Calibri" panose="020F0502020204030204" pitchFamily="34" charset="0"/>
                <a:cs typeface="Calibri" panose="020F0502020204030204" pitchFamily="34" charset="0"/>
                <a:sym typeface="Microsoft YaHei"/>
              </a:rPr>
              <a:t> across </a:t>
            </a:r>
            <a:r>
              <a:rPr lang="en-US" altLang="zh-CN" sz="2800" b="1" i="0" u="none" strike="noStrike" cap="none" dirty="0">
                <a:solidFill>
                  <a:schemeClr val="tx2">
                    <a:lumMod val="75000"/>
                    <a:lumOff val="25000"/>
                  </a:schemeClr>
                </a:solidFill>
                <a:latin typeface="Calibri" panose="020F0502020204030204" pitchFamily="34" charset="0"/>
                <a:cs typeface="Calibri" panose="020F0502020204030204" pitchFamily="34" charset="0"/>
                <a:sym typeface="Microsoft YaHei"/>
              </a:rPr>
              <a:t>different GPU platforms</a:t>
            </a:r>
          </a:p>
        </p:txBody>
      </p:sp>
      <p:pic>
        <p:nvPicPr>
          <p:cNvPr id="3" name="图片 2">
            <a:extLst>
              <a:ext uri="{FF2B5EF4-FFF2-40B4-BE49-F238E27FC236}">
                <a16:creationId xmlns:a16="http://schemas.microsoft.com/office/drawing/2014/main" id="{07E7E7EF-523C-5EB0-CE34-75F45EF6C324}"/>
              </a:ext>
            </a:extLst>
          </p:cNvPr>
          <p:cNvPicPr>
            <a:picLocks noChangeAspect="1"/>
          </p:cNvPicPr>
          <p:nvPr/>
        </p:nvPicPr>
        <p:blipFill>
          <a:blip r:embed="rId4"/>
          <a:stretch>
            <a:fillRect/>
          </a:stretch>
        </p:blipFill>
        <p:spPr>
          <a:xfrm>
            <a:off x="9433687" y="331968"/>
            <a:ext cx="2743200" cy="387856"/>
          </a:xfrm>
          <a:prstGeom prst="rect">
            <a:avLst/>
          </a:prstGeom>
        </p:spPr>
      </p:pic>
      <p:pic>
        <p:nvPicPr>
          <p:cNvPr id="4" name="图片 3">
            <a:extLst>
              <a:ext uri="{FF2B5EF4-FFF2-40B4-BE49-F238E27FC236}">
                <a16:creationId xmlns:a16="http://schemas.microsoft.com/office/drawing/2014/main" id="{53ABBF1B-B92D-6304-B729-38AA4E219BE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927450" y="335419"/>
            <a:ext cx="1366300" cy="384405"/>
          </a:xfrm>
          <a:prstGeom prst="rect">
            <a:avLst/>
          </a:prstGeom>
        </p:spPr>
      </p:pic>
    </p:spTree>
    <p:extLst>
      <p:ext uri="{BB962C8B-B14F-4D97-AF65-F5344CB8AC3E}">
        <p14:creationId xmlns:p14="http://schemas.microsoft.com/office/powerpoint/2010/main" val="25549533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8D171-9002-F5B0-8670-29EC1BF6889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E5E94B3-D9AC-F245-C055-39D010446041}"/>
              </a:ext>
            </a:extLst>
          </p:cNvPr>
          <p:cNvSpPr>
            <a:spLocks noGrp="1"/>
          </p:cNvSpPr>
          <p:nvPr>
            <p:ph type="ctrTitle"/>
          </p:nvPr>
        </p:nvSpPr>
        <p:spPr>
          <a:xfrm>
            <a:off x="149629" y="182880"/>
            <a:ext cx="11006051" cy="650972"/>
          </a:xfrm>
        </p:spPr>
        <p:txBody>
          <a:bodyPr>
            <a:noAutofit/>
          </a:bodyPr>
          <a:lstStyle/>
          <a:p>
            <a:pPr algn="l">
              <a:lnSpc>
                <a:spcPct val="130000"/>
              </a:lnSpc>
            </a:pPr>
            <a:r>
              <a:rPr lang="en-US" altLang="zh-CN" sz="3600" b="1" dirty="0">
                <a:latin typeface="Calibri" panose="020F0502020204030204" pitchFamily="34" charset="0"/>
                <a:ea typeface="SimHei" charset="-122"/>
                <a:cs typeface="Calibri" panose="020F0502020204030204" pitchFamily="34" charset="0"/>
              </a:rPr>
              <a:t>Deployment Experience</a:t>
            </a:r>
            <a:endParaRPr lang="en" altLang="zh-CN" sz="3600" b="1" dirty="0">
              <a:latin typeface="Calibri" panose="020F0502020204030204" pitchFamily="34" charset="0"/>
              <a:ea typeface="SimHei" charset="-122"/>
              <a:cs typeface="Calibri" panose="020F0502020204030204" pitchFamily="34" charset="0"/>
            </a:endParaRPr>
          </a:p>
        </p:txBody>
      </p:sp>
      <p:sp>
        <p:nvSpPr>
          <p:cNvPr id="7" name="灯片编号占位符 6">
            <a:extLst>
              <a:ext uri="{FF2B5EF4-FFF2-40B4-BE49-F238E27FC236}">
                <a16:creationId xmlns:a16="http://schemas.microsoft.com/office/drawing/2014/main" id="{805D5BA8-73D9-4B1F-1D78-2957FC25313A}"/>
              </a:ext>
            </a:extLst>
          </p:cNvPr>
          <p:cNvSpPr>
            <a:spLocks noGrp="1"/>
          </p:cNvSpPr>
          <p:nvPr>
            <p:ph type="sldNum" sz="quarter" idx="12"/>
          </p:nvPr>
        </p:nvSpPr>
        <p:spPr/>
        <p:txBody>
          <a:bodyPr/>
          <a:lstStyle/>
          <a:p>
            <a:fld id="{24910F54-69FC-A944-93E9-EFB57972FC5C}" type="slidenum">
              <a:rPr kumimoji="1" lang="zh-CN" altLang="en-US" smtClean="0"/>
              <a:t>19</a:t>
            </a:fld>
            <a:endParaRPr kumimoji="1" lang="zh-CN" altLang="en-US" dirty="0"/>
          </a:p>
        </p:txBody>
      </p:sp>
      <p:pic>
        <p:nvPicPr>
          <p:cNvPr id="6" name="图片 5">
            <a:extLst>
              <a:ext uri="{FF2B5EF4-FFF2-40B4-BE49-F238E27FC236}">
                <a16:creationId xmlns:a16="http://schemas.microsoft.com/office/drawing/2014/main" id="{089EBEFD-54D7-5F70-D464-D915696EA167}"/>
              </a:ext>
            </a:extLst>
          </p:cNvPr>
          <p:cNvPicPr>
            <a:picLocks noChangeAspect="1"/>
          </p:cNvPicPr>
          <p:nvPr/>
        </p:nvPicPr>
        <p:blipFill>
          <a:blip r:embed="rId3"/>
          <a:stretch>
            <a:fillRect/>
          </a:stretch>
        </p:blipFill>
        <p:spPr>
          <a:xfrm>
            <a:off x="1974302" y="1484824"/>
            <a:ext cx="8243396" cy="3143004"/>
          </a:xfrm>
          <a:prstGeom prst="rect">
            <a:avLst/>
          </a:prstGeom>
        </p:spPr>
      </p:pic>
      <p:sp>
        <p:nvSpPr>
          <p:cNvPr id="8" name="Google Shape;90;p1">
            <a:extLst>
              <a:ext uri="{FF2B5EF4-FFF2-40B4-BE49-F238E27FC236}">
                <a16:creationId xmlns:a16="http://schemas.microsoft.com/office/drawing/2014/main" id="{7329CA24-9B1F-94F6-1E67-4887EBCC285F}"/>
              </a:ext>
            </a:extLst>
          </p:cNvPr>
          <p:cNvSpPr txBox="1"/>
          <p:nvPr/>
        </p:nvSpPr>
        <p:spPr>
          <a:xfrm>
            <a:off x="202064" y="833852"/>
            <a:ext cx="11840307" cy="524896"/>
          </a:xfrm>
          <a:prstGeom prst="rect">
            <a:avLst/>
          </a:prstGeom>
          <a:noFill/>
          <a:ln>
            <a:noFill/>
          </a:ln>
        </p:spPr>
        <p:txBody>
          <a:bodyPr spcFirstLastPara="1" wrap="square" lIns="91425" tIns="45700" rIns="91425" bIns="45700" anchor="b" anchorCtr="0">
            <a:noAutofit/>
          </a:bodyPr>
          <a:lstStyle/>
          <a:p>
            <a:pPr marL="457200" indent="-457200">
              <a:buClr>
                <a:schemeClr val="dk1"/>
              </a:buClr>
              <a:buSzPts val="2200"/>
              <a:buFont typeface="Arial" panose="020B0604020202020204" pitchFamily="34" charset="0"/>
              <a:buChar char="•"/>
            </a:pPr>
            <a:r>
              <a:rPr lang="en-US" altLang="zh-CN" sz="2800" b="0" i="0" u="none" strike="noStrike" cap="none" dirty="0">
                <a:solidFill>
                  <a:schemeClr val="tx1"/>
                </a:solidFill>
                <a:latin typeface="Calibri" panose="020F0502020204030204" pitchFamily="34" charset="0"/>
                <a:cs typeface="Calibri" panose="020F0502020204030204" pitchFamily="34" charset="0"/>
                <a:sym typeface="Microsoft YaHei"/>
              </a:rPr>
              <a:t>Training loss curve on </a:t>
            </a:r>
            <a:r>
              <a:rPr lang="en-US" altLang="zh-CN" sz="2800" b="1" i="0" u="none" strike="noStrike" cap="none" dirty="0">
                <a:solidFill>
                  <a:schemeClr val="tx2">
                    <a:lumMod val="75000"/>
                    <a:lumOff val="25000"/>
                  </a:schemeClr>
                </a:solidFill>
                <a:latin typeface="Calibri" panose="020F0502020204030204" pitchFamily="34" charset="0"/>
                <a:cs typeface="Calibri" panose="020F0502020204030204" pitchFamily="34" charset="0"/>
                <a:sym typeface="Microsoft YaHei"/>
              </a:rPr>
              <a:t>&gt;10,000</a:t>
            </a:r>
            <a:r>
              <a:rPr lang="en-US" altLang="zh-CN" sz="2800" b="0" i="0" u="none" strike="noStrike" cap="none" dirty="0">
                <a:solidFill>
                  <a:schemeClr val="tx1"/>
                </a:solidFill>
                <a:latin typeface="Calibri" panose="020F0502020204030204" pitchFamily="34" charset="0"/>
                <a:cs typeface="Calibri" panose="020F0502020204030204" pitchFamily="34" charset="0"/>
                <a:sym typeface="Microsoft YaHei"/>
              </a:rPr>
              <a:t> GPUs for training a 200B-A20B </a:t>
            </a:r>
            <a:r>
              <a:rPr lang="en-US" altLang="zh-CN" sz="2800" b="0" i="0" u="none" strike="noStrike" cap="none" dirty="0" err="1">
                <a:solidFill>
                  <a:schemeClr val="tx1"/>
                </a:solidFill>
                <a:latin typeface="Calibri" panose="020F0502020204030204" pitchFamily="34" charset="0"/>
                <a:cs typeface="Calibri" panose="020F0502020204030204" pitchFamily="34" charset="0"/>
                <a:sym typeface="Microsoft YaHei"/>
              </a:rPr>
              <a:t>MoE</a:t>
            </a:r>
            <a:r>
              <a:rPr lang="en-US" altLang="zh-CN" sz="2800" b="0" i="0" u="none" strike="noStrike" cap="none" dirty="0">
                <a:solidFill>
                  <a:schemeClr val="tx1"/>
                </a:solidFill>
                <a:latin typeface="Calibri" panose="020F0502020204030204" pitchFamily="34" charset="0"/>
                <a:cs typeface="Calibri" panose="020F0502020204030204" pitchFamily="34" charset="0"/>
                <a:sym typeface="Microsoft YaHei"/>
              </a:rPr>
              <a:t> model</a:t>
            </a:r>
          </a:p>
        </p:txBody>
      </p:sp>
      <p:sp>
        <p:nvSpPr>
          <p:cNvPr id="4" name="Google Shape;90;p1">
            <a:extLst>
              <a:ext uri="{FF2B5EF4-FFF2-40B4-BE49-F238E27FC236}">
                <a16:creationId xmlns:a16="http://schemas.microsoft.com/office/drawing/2014/main" id="{2E8202D9-2CFB-FB92-C100-24FB72A7E6E1}"/>
              </a:ext>
            </a:extLst>
          </p:cNvPr>
          <p:cNvSpPr txBox="1"/>
          <p:nvPr/>
        </p:nvSpPr>
        <p:spPr>
          <a:xfrm>
            <a:off x="149629" y="4753904"/>
            <a:ext cx="11840307" cy="945992"/>
          </a:xfrm>
          <a:prstGeom prst="rect">
            <a:avLst/>
          </a:prstGeom>
          <a:noFill/>
          <a:ln>
            <a:noFill/>
          </a:ln>
        </p:spPr>
        <p:txBody>
          <a:bodyPr spcFirstLastPara="1" wrap="square" lIns="91425" tIns="45700" rIns="91425" bIns="45700" anchor="b" anchorCtr="0">
            <a:noAutofit/>
          </a:bodyPr>
          <a:lstStyle/>
          <a:p>
            <a:pPr marL="457200" indent="-457200">
              <a:buClr>
                <a:schemeClr val="dk1"/>
              </a:buClr>
              <a:buSzPts val="2200"/>
              <a:buFont typeface="Arial" panose="020B0604020202020204" pitchFamily="34" charset="0"/>
              <a:buChar char="•"/>
            </a:pPr>
            <a:r>
              <a:rPr lang="en-US" altLang="zh-CN" sz="2800" b="0" i="0" u="none" strike="noStrike" cap="none" dirty="0" err="1">
                <a:solidFill>
                  <a:schemeClr val="tx1"/>
                </a:solidFill>
                <a:latin typeface="Calibri" panose="020F0502020204030204" pitchFamily="34" charset="0"/>
                <a:cs typeface="Calibri" panose="020F0502020204030204" pitchFamily="34" charset="0"/>
                <a:sym typeface="Microsoft YaHei"/>
              </a:rPr>
              <a:t>MoE</a:t>
            </a:r>
            <a:r>
              <a:rPr lang="en-US" altLang="zh-CN" sz="2800" b="0" i="0" u="none" strike="noStrike" cap="none" dirty="0">
                <a:solidFill>
                  <a:schemeClr val="tx1"/>
                </a:solidFill>
                <a:latin typeface="Calibri" panose="020F0502020204030204" pitchFamily="34" charset="0"/>
                <a:cs typeface="Calibri" panose="020F0502020204030204" pitchFamily="34" charset="0"/>
                <a:sym typeface="Microsoft YaHei"/>
              </a:rPr>
              <a:t> training requires holistic optimization beyond attention and GEMMs, including routing, dispatch/combine, and operators with dynamic shapes.</a:t>
            </a:r>
          </a:p>
        </p:txBody>
      </p:sp>
      <p:pic>
        <p:nvPicPr>
          <p:cNvPr id="3" name="图片 2">
            <a:extLst>
              <a:ext uri="{FF2B5EF4-FFF2-40B4-BE49-F238E27FC236}">
                <a16:creationId xmlns:a16="http://schemas.microsoft.com/office/drawing/2014/main" id="{ACBC91FC-E2DD-8D0A-3875-A9F38B4C4C65}"/>
              </a:ext>
            </a:extLst>
          </p:cNvPr>
          <p:cNvPicPr>
            <a:picLocks noChangeAspect="1"/>
          </p:cNvPicPr>
          <p:nvPr/>
        </p:nvPicPr>
        <p:blipFill>
          <a:blip r:embed="rId4"/>
          <a:stretch>
            <a:fillRect/>
          </a:stretch>
        </p:blipFill>
        <p:spPr>
          <a:xfrm>
            <a:off x="9433687" y="331968"/>
            <a:ext cx="2743200" cy="387856"/>
          </a:xfrm>
          <a:prstGeom prst="rect">
            <a:avLst/>
          </a:prstGeom>
        </p:spPr>
      </p:pic>
      <p:pic>
        <p:nvPicPr>
          <p:cNvPr id="5" name="图片 4">
            <a:extLst>
              <a:ext uri="{FF2B5EF4-FFF2-40B4-BE49-F238E27FC236}">
                <a16:creationId xmlns:a16="http://schemas.microsoft.com/office/drawing/2014/main" id="{94537802-3367-6762-4675-8189B62C39B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927450" y="335419"/>
            <a:ext cx="1366300" cy="384405"/>
          </a:xfrm>
          <a:prstGeom prst="rect">
            <a:avLst/>
          </a:prstGeom>
        </p:spPr>
      </p:pic>
    </p:spTree>
    <p:extLst>
      <p:ext uri="{BB962C8B-B14F-4D97-AF65-F5344CB8AC3E}">
        <p14:creationId xmlns:p14="http://schemas.microsoft.com/office/powerpoint/2010/main" val="11816966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EFEC2-869A-9FE3-3FD3-A88C670EF46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16F89EE-9838-0409-7C71-0DF288709192}"/>
              </a:ext>
            </a:extLst>
          </p:cNvPr>
          <p:cNvSpPr>
            <a:spLocks noGrp="1"/>
          </p:cNvSpPr>
          <p:nvPr>
            <p:ph type="ctrTitle"/>
          </p:nvPr>
        </p:nvSpPr>
        <p:spPr>
          <a:xfrm>
            <a:off x="149629" y="182880"/>
            <a:ext cx="11006051" cy="650972"/>
          </a:xfrm>
        </p:spPr>
        <p:txBody>
          <a:bodyPr>
            <a:noAutofit/>
          </a:bodyPr>
          <a:lstStyle/>
          <a:p>
            <a:pPr algn="l">
              <a:lnSpc>
                <a:spcPct val="130000"/>
              </a:lnSpc>
            </a:pPr>
            <a:r>
              <a:rPr lang="en-US" altLang="zh-CN" sz="3600" b="1" dirty="0">
                <a:latin typeface="Calibri" panose="020F0502020204030204" pitchFamily="34" charset="0"/>
                <a:ea typeface="SimHei" charset="-122"/>
                <a:cs typeface="Calibri" panose="020F0502020204030204" pitchFamily="34" charset="0"/>
              </a:rPr>
              <a:t>Conclusion</a:t>
            </a:r>
            <a:endParaRPr lang="en" altLang="zh-CN" sz="3600" b="1" dirty="0">
              <a:latin typeface="Calibri" panose="020F0502020204030204" pitchFamily="34" charset="0"/>
              <a:ea typeface="SimHei" charset="-122"/>
              <a:cs typeface="Calibri" panose="020F0502020204030204" pitchFamily="34" charset="0"/>
            </a:endParaRPr>
          </a:p>
        </p:txBody>
      </p:sp>
      <p:sp>
        <p:nvSpPr>
          <p:cNvPr id="7" name="灯片编号占位符 6">
            <a:extLst>
              <a:ext uri="{FF2B5EF4-FFF2-40B4-BE49-F238E27FC236}">
                <a16:creationId xmlns:a16="http://schemas.microsoft.com/office/drawing/2014/main" id="{A0F7A195-E397-7A03-9E35-45B503FEE3BD}"/>
              </a:ext>
            </a:extLst>
          </p:cNvPr>
          <p:cNvSpPr>
            <a:spLocks noGrp="1"/>
          </p:cNvSpPr>
          <p:nvPr>
            <p:ph type="sldNum" sz="quarter" idx="12"/>
          </p:nvPr>
        </p:nvSpPr>
        <p:spPr/>
        <p:txBody>
          <a:bodyPr/>
          <a:lstStyle/>
          <a:p>
            <a:fld id="{24910F54-69FC-A944-93E9-EFB57972FC5C}" type="slidenum">
              <a:rPr kumimoji="1" lang="zh-CN" altLang="en-US" smtClean="0"/>
              <a:t>20</a:t>
            </a:fld>
            <a:endParaRPr kumimoji="1" lang="zh-CN" altLang="en-US" dirty="0"/>
          </a:p>
        </p:txBody>
      </p:sp>
      <p:sp>
        <p:nvSpPr>
          <p:cNvPr id="3" name="文本框 2">
            <a:extLst>
              <a:ext uri="{FF2B5EF4-FFF2-40B4-BE49-F238E27FC236}">
                <a16:creationId xmlns:a16="http://schemas.microsoft.com/office/drawing/2014/main" id="{1571E880-5A98-990D-F4A8-F0C0572EF6A6}"/>
              </a:ext>
            </a:extLst>
          </p:cNvPr>
          <p:cNvSpPr txBox="1"/>
          <p:nvPr/>
        </p:nvSpPr>
        <p:spPr>
          <a:xfrm>
            <a:off x="347376" y="878986"/>
            <a:ext cx="11844623" cy="4216539"/>
          </a:xfrm>
          <a:prstGeom prst="rect">
            <a:avLst/>
          </a:prstGeom>
          <a:noFill/>
        </p:spPr>
        <p:txBody>
          <a:bodyPr wrap="square">
            <a:spAutoFit/>
          </a:bodyPr>
          <a:lstStyle/>
          <a:p>
            <a:pPr marL="457200" indent="-457200">
              <a:buFont typeface="Arial" panose="020B0604020202020204" pitchFamily="34" charset="0"/>
              <a:buChar char="•"/>
            </a:pPr>
            <a:r>
              <a:rPr lang="en-US" altLang="zh-CN" sz="3200" dirty="0">
                <a:latin typeface="Calibri" panose="020F0502020204030204" pitchFamily="34" charset="0"/>
                <a:cs typeface="Calibri" panose="020F0502020204030204" pitchFamily="34" charset="0"/>
              </a:rPr>
              <a:t>Communication is a key bottleneck in large-scale </a:t>
            </a:r>
            <a:r>
              <a:rPr lang="en-US" altLang="zh-CN" sz="3200" dirty="0" err="1">
                <a:latin typeface="Calibri" panose="020F0502020204030204" pitchFamily="34" charset="0"/>
                <a:cs typeface="Calibri" panose="020F0502020204030204" pitchFamily="34" charset="0"/>
              </a:rPr>
              <a:t>MoE</a:t>
            </a:r>
            <a:r>
              <a:rPr lang="en-US" altLang="zh-CN" sz="3200" dirty="0">
                <a:latin typeface="Calibri" panose="020F0502020204030204" pitchFamily="34" charset="0"/>
                <a:cs typeface="Calibri" panose="020F0502020204030204" pitchFamily="34" charset="0"/>
              </a:rPr>
              <a:t> training</a:t>
            </a:r>
          </a:p>
          <a:p>
            <a:pPr marL="457200" indent="-457200">
              <a:buFont typeface="Arial" panose="020B0604020202020204" pitchFamily="34" charset="0"/>
              <a:buChar char="•"/>
            </a:pPr>
            <a:endParaRPr lang="en-US" altLang="zh-CN" sz="2800" dirty="0">
              <a:latin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en-US" altLang="zh-CN" sz="3200" i="1" dirty="0" err="1">
                <a:latin typeface="Calibri" panose="020F0502020204030204" pitchFamily="34" charset="0"/>
                <a:cs typeface="Calibri" panose="020F0502020204030204" pitchFamily="34" charset="0"/>
              </a:rPr>
              <a:t>MegaScale-MoE</a:t>
            </a:r>
            <a:r>
              <a:rPr lang="en-US" altLang="zh-CN" sz="3200" dirty="0">
                <a:latin typeface="Calibri" panose="020F0502020204030204" pitchFamily="34" charset="0"/>
                <a:cs typeface="Calibri" panose="020F0502020204030204" pitchFamily="34" charset="0"/>
              </a:rPr>
              <a:t>: production-grade efficient </a:t>
            </a:r>
            <a:r>
              <a:rPr lang="en-US" altLang="zh-CN" sz="3200" dirty="0" err="1">
                <a:latin typeface="Calibri" panose="020F0502020204030204" pitchFamily="34" charset="0"/>
                <a:cs typeface="Calibri" panose="020F0502020204030204" pitchFamily="34" charset="0"/>
              </a:rPr>
              <a:t>MoE</a:t>
            </a:r>
            <a:r>
              <a:rPr lang="en-US" altLang="zh-CN" sz="3200" dirty="0">
                <a:latin typeface="Calibri" panose="020F0502020204030204" pitchFamily="34" charset="0"/>
                <a:cs typeface="Calibri" panose="020F0502020204030204" pitchFamily="34" charset="0"/>
              </a:rPr>
              <a:t> training system</a:t>
            </a:r>
          </a:p>
          <a:p>
            <a:pPr marL="914400" lvl="1" indent="-457200">
              <a:buFont typeface="Arial" panose="020B0604020202020204" pitchFamily="34" charset="0"/>
              <a:buChar char="•"/>
            </a:pPr>
            <a:r>
              <a:rPr lang="en-US" altLang="zh-CN" sz="2800" dirty="0">
                <a:latin typeface="Calibri" panose="020F0502020204030204" pitchFamily="34" charset="0"/>
                <a:cs typeface="Calibri" panose="020F0502020204030204" pitchFamily="34" charset="0"/>
              </a:rPr>
              <a:t>Communication-efficient parallelism</a:t>
            </a:r>
          </a:p>
          <a:p>
            <a:pPr marL="914400" lvl="1" indent="-457200">
              <a:buFont typeface="Arial" panose="020B0604020202020204" pitchFamily="34" charset="0"/>
              <a:buChar char="•"/>
            </a:pPr>
            <a:r>
              <a:rPr lang="en-US" altLang="zh-CN" sz="2800" dirty="0">
                <a:latin typeface="Calibri" panose="020F0502020204030204" pitchFamily="34" charset="0"/>
                <a:cs typeface="Calibri" panose="020F0502020204030204" pitchFamily="34" charset="0"/>
              </a:rPr>
              <a:t>Communication-computation overlap</a:t>
            </a:r>
          </a:p>
          <a:p>
            <a:pPr marL="914400" lvl="1" indent="-457200">
              <a:buFont typeface="Arial" panose="020B0604020202020204" pitchFamily="34" charset="0"/>
              <a:buChar char="•"/>
            </a:pPr>
            <a:r>
              <a:rPr lang="en-US" altLang="zh-CN" sz="2800" dirty="0">
                <a:latin typeface="Calibri" panose="020F0502020204030204" pitchFamily="34" charset="0"/>
                <a:cs typeface="Calibri" panose="020F0502020204030204" pitchFamily="34" charset="0"/>
              </a:rPr>
              <a:t>Communication compression</a:t>
            </a:r>
          </a:p>
          <a:p>
            <a:pPr marL="457200" indent="-457200">
              <a:buFont typeface="Arial" panose="020B0604020202020204" pitchFamily="34" charset="0"/>
              <a:buChar char="•"/>
            </a:pPr>
            <a:endParaRPr lang="en-US" altLang="zh-CN" sz="2800" dirty="0">
              <a:latin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en-US" altLang="zh-CN" sz="3200" dirty="0" err="1">
                <a:latin typeface="Calibri" panose="020F0502020204030204" pitchFamily="34" charset="0"/>
                <a:cs typeface="Calibri" panose="020F0502020204030204" pitchFamily="34" charset="0"/>
              </a:rPr>
              <a:t>MegaScale-MoE</a:t>
            </a:r>
            <a:r>
              <a:rPr lang="en-US" altLang="zh-CN" sz="3200" dirty="0">
                <a:latin typeface="Calibri" panose="020F0502020204030204" pitchFamily="34" charset="0"/>
                <a:cs typeface="Calibri" panose="020F0502020204030204" pitchFamily="34" charset="0"/>
              </a:rPr>
              <a:t> achieves up to 1.88x higher throughput compared to Megatron-LM and is deployed in production</a:t>
            </a:r>
          </a:p>
        </p:txBody>
      </p:sp>
      <p:sp>
        <p:nvSpPr>
          <p:cNvPr id="4" name="Text Box 2">
            <a:extLst>
              <a:ext uri="{FF2B5EF4-FFF2-40B4-BE49-F238E27FC236}">
                <a16:creationId xmlns:a16="http://schemas.microsoft.com/office/drawing/2014/main" id="{18115CED-9B9B-7809-7464-DD4323AA3611}"/>
              </a:ext>
            </a:extLst>
          </p:cNvPr>
          <p:cNvSpPr txBox="1">
            <a:spLocks/>
          </p:cNvSpPr>
          <p:nvPr/>
        </p:nvSpPr>
        <p:spPr bwMode="auto">
          <a:xfrm>
            <a:off x="4103779" y="5501506"/>
            <a:ext cx="3784418" cy="6211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50800" tIns="50800" rIns="50800" bIns="50800" anchor="ctr">
            <a:spAutoFit/>
          </a:bodyPr>
          <a:lstStyle/>
          <a:p>
            <a:pPr algn="ctr">
              <a:lnSpc>
                <a:spcPct val="83333"/>
              </a:lnSpc>
            </a:pPr>
            <a:r>
              <a:rPr lang="en-US" altLang="zh-CN" sz="4000" b="1" i="1" dirty="0">
                <a:solidFill>
                  <a:schemeClr val="bg1">
                    <a:lumMod val="65000"/>
                  </a:schemeClr>
                </a:solidFill>
                <a:latin typeface="Calibri" panose="020F0502020204030204" pitchFamily="34" charset="0"/>
                <a:cs typeface="Calibri" panose="020F0502020204030204" pitchFamily="34" charset="0"/>
                <a:sym typeface="Microsoft YaHei"/>
              </a:rPr>
              <a:t>Thank you!</a:t>
            </a:r>
            <a:endParaRPr lang="en-US" altLang="zh-CN" sz="4000" b="1" dirty="0">
              <a:solidFill>
                <a:schemeClr val="bg1">
                  <a:lumMod val="65000"/>
                </a:schemeClr>
              </a:solidFill>
              <a:latin typeface="Calibri" panose="020F0502020204030204" pitchFamily="34" charset="0"/>
              <a:cs typeface="Calibri" panose="020F0502020204030204" pitchFamily="34" charset="0"/>
              <a:sym typeface="Proxima Nova"/>
            </a:endParaRPr>
          </a:p>
        </p:txBody>
      </p:sp>
      <p:sp>
        <p:nvSpPr>
          <p:cNvPr id="5" name="文本框 4">
            <a:extLst>
              <a:ext uri="{FF2B5EF4-FFF2-40B4-BE49-F238E27FC236}">
                <a16:creationId xmlns:a16="http://schemas.microsoft.com/office/drawing/2014/main" id="{1ED638FD-F0F1-410C-CF7B-E4AD1ACE1AC7}"/>
              </a:ext>
            </a:extLst>
          </p:cNvPr>
          <p:cNvSpPr txBox="1"/>
          <p:nvPr/>
        </p:nvSpPr>
        <p:spPr>
          <a:xfrm>
            <a:off x="4376495" y="6094740"/>
            <a:ext cx="3784417" cy="523220"/>
          </a:xfrm>
          <a:prstGeom prst="rect">
            <a:avLst/>
          </a:prstGeom>
          <a:noFill/>
        </p:spPr>
        <p:txBody>
          <a:bodyPr wrap="square" rtlCol="0">
            <a:spAutoFit/>
          </a:bodyPr>
          <a:lstStyle/>
          <a:p>
            <a:pPr algn="ctr"/>
            <a:r>
              <a:rPr kumimoji="1" lang="en-US" altLang="zh-CN" sz="2800" dirty="0">
                <a:latin typeface="Calibri" panose="020F0502020204030204" pitchFamily="34" charset="0"/>
                <a:ea typeface="Microsoft YaHei" panose="020B0503020204020204" pitchFamily="34" charset="-122"/>
                <a:cs typeface="Calibri" panose="020F0502020204030204" pitchFamily="34" charset="0"/>
              </a:rPr>
              <a:t> </a:t>
            </a:r>
            <a:r>
              <a:rPr kumimoji="1" lang="en" altLang="zh-CN" sz="2800" u="sng" dirty="0" err="1">
                <a:latin typeface="Calibri" panose="020F0502020204030204" pitchFamily="34" charset="0"/>
                <a:ea typeface="Microsoft YaHei" panose="020B0503020204020204" pitchFamily="34" charset="-122"/>
                <a:cs typeface="Calibri" panose="020F0502020204030204" pitchFamily="34" charset="0"/>
              </a:rPr>
              <a:t>chaojin@pku.edu.cn</a:t>
            </a:r>
            <a:endParaRPr kumimoji="1" lang="zh-CN" altLang="en-US" sz="2800" u="sng" dirty="0">
              <a:latin typeface="Calibri" panose="020F0502020204030204" pitchFamily="34" charset="0"/>
              <a:ea typeface="Microsoft YaHei" panose="020B0503020204020204" pitchFamily="34" charset="-122"/>
              <a:cs typeface="Calibri" panose="020F0502020204030204" pitchFamily="34" charset="0"/>
            </a:endParaRPr>
          </a:p>
        </p:txBody>
      </p:sp>
      <p:pic>
        <p:nvPicPr>
          <p:cNvPr id="8" name="图片 7">
            <a:extLst>
              <a:ext uri="{FF2B5EF4-FFF2-40B4-BE49-F238E27FC236}">
                <a16:creationId xmlns:a16="http://schemas.microsoft.com/office/drawing/2014/main" id="{BC8D850A-7843-A23A-9025-D3C367F5ED56}"/>
              </a:ext>
            </a:extLst>
          </p:cNvPr>
          <p:cNvPicPr>
            <a:picLocks noChangeAspect="1"/>
          </p:cNvPicPr>
          <p:nvPr/>
        </p:nvPicPr>
        <p:blipFill>
          <a:blip r:embed="rId3"/>
          <a:stretch>
            <a:fillRect/>
          </a:stretch>
        </p:blipFill>
        <p:spPr>
          <a:xfrm>
            <a:off x="4128866" y="6122702"/>
            <a:ext cx="495258" cy="495258"/>
          </a:xfrm>
          <a:prstGeom prst="rect">
            <a:avLst/>
          </a:prstGeom>
        </p:spPr>
      </p:pic>
      <p:pic>
        <p:nvPicPr>
          <p:cNvPr id="9" name="图片 8">
            <a:extLst>
              <a:ext uri="{FF2B5EF4-FFF2-40B4-BE49-F238E27FC236}">
                <a16:creationId xmlns:a16="http://schemas.microsoft.com/office/drawing/2014/main" id="{ACEDC87D-12B5-EDB0-1461-ED80D5637732}"/>
              </a:ext>
            </a:extLst>
          </p:cNvPr>
          <p:cNvPicPr>
            <a:picLocks noChangeAspect="1"/>
          </p:cNvPicPr>
          <p:nvPr/>
        </p:nvPicPr>
        <p:blipFill>
          <a:blip r:embed="rId4"/>
          <a:stretch>
            <a:fillRect/>
          </a:stretch>
        </p:blipFill>
        <p:spPr>
          <a:xfrm>
            <a:off x="9433687" y="331968"/>
            <a:ext cx="2743200" cy="387856"/>
          </a:xfrm>
          <a:prstGeom prst="rect">
            <a:avLst/>
          </a:prstGeom>
        </p:spPr>
      </p:pic>
      <p:pic>
        <p:nvPicPr>
          <p:cNvPr id="10" name="图片 9">
            <a:extLst>
              <a:ext uri="{FF2B5EF4-FFF2-40B4-BE49-F238E27FC236}">
                <a16:creationId xmlns:a16="http://schemas.microsoft.com/office/drawing/2014/main" id="{6E76C576-B54D-D178-D8CD-44954993700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927450" y="335419"/>
            <a:ext cx="1366300" cy="384405"/>
          </a:xfrm>
          <a:prstGeom prst="rect">
            <a:avLst/>
          </a:prstGeom>
        </p:spPr>
      </p:pic>
    </p:spTree>
    <p:extLst>
      <p:ext uri="{BB962C8B-B14F-4D97-AF65-F5344CB8AC3E}">
        <p14:creationId xmlns:p14="http://schemas.microsoft.com/office/powerpoint/2010/main" val="220176559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5816</TotalTime>
  <Words>2710</Words>
  <Application>Microsoft Macintosh PowerPoint</Application>
  <PresentationFormat>宽屏</PresentationFormat>
  <Paragraphs>266</Paragraphs>
  <Slides>20</Slides>
  <Notes>20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20</vt:i4>
      </vt:variant>
    </vt:vector>
  </HeadingPairs>
  <TitlesOfParts>
    <vt:vector size="25" baseType="lpstr">
      <vt:lpstr>等线</vt:lpstr>
      <vt:lpstr>等线 Light</vt:lpstr>
      <vt:lpstr>Arial</vt:lpstr>
      <vt:lpstr>Calibri</vt:lpstr>
      <vt:lpstr>Office 主题​​</vt:lpstr>
      <vt:lpstr>MegaScale-MoE: Large-Scale Communication-Efficient Training of Mixture-of-Experts Models in Production</vt:lpstr>
      <vt:lpstr>Scaling for Large Language Models</vt:lpstr>
      <vt:lpstr>Mixture-of-Experts (MoE)</vt:lpstr>
      <vt:lpstr>Communication Bottleneck </vt:lpstr>
      <vt:lpstr>Communication Bottleneck </vt:lpstr>
      <vt:lpstr>Our solution: MegaScale-MoE</vt:lpstr>
      <vt:lpstr>Our solution: MegaScale-MoE</vt:lpstr>
      <vt:lpstr>Communication-Efficient Parallelism</vt:lpstr>
      <vt:lpstr>Sequence Parallelism for Attention</vt:lpstr>
      <vt:lpstr>Expert Parallelism for FFNs</vt:lpstr>
      <vt:lpstr>Our solution: MegaScale-MoE</vt:lpstr>
      <vt:lpstr>Communication-Computation Overlap</vt:lpstr>
      <vt:lpstr>Inter-operator overlap</vt:lpstr>
      <vt:lpstr>Intra-operator overlap</vt:lpstr>
      <vt:lpstr>Our solution: MegaScale-MoE</vt:lpstr>
      <vt:lpstr>Evaluation</vt:lpstr>
      <vt:lpstr>Training performance</vt:lpstr>
      <vt:lpstr>Performance breakdown</vt:lpstr>
      <vt:lpstr>Deployment Experience</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超 金</dc:creator>
  <cp:lastModifiedBy>超 金</cp:lastModifiedBy>
  <cp:revision>108</cp:revision>
  <dcterms:created xsi:type="dcterms:W3CDTF">2026-04-24T03:36:29Z</dcterms:created>
  <dcterms:modified xsi:type="dcterms:W3CDTF">2026-05-06T09:44:47Z</dcterms:modified>
</cp:coreProperties>
</file>